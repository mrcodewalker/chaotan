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bài giảng: Báo cáo chuyên đề cung cấp bức tranh toàn cảnh và phân tích sâu về bản chất toán học của Trí tuệ nhân tạo (AI), cơ chế kiến trúc Transformer, các ranh giới năng lực thực tế, phương pháp ứng dụng trong kỹ thuật lập trình C++, toán học đại cương, khảo cứu tài liệu khoa học chuẩn mực quốc tế và các yêu cầu nghiêm ngặt về liêm chính học thuật.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kỹ thuật: Mô hình AI bản chất là một ánh xạ toán học từ không gian đầu vào X sang không gian đầu ra Y. Kiến thức toán học nền tảng (Đại số tuyến tính, Giải tích, Xác suất thống kê) là điều kiện tiên quyết để làm chủ và phát triển các hệ thống AI chuyên sâu.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học thuật: Cần phân định rạch ròi giữa AI cổ điển (dựa trên luật suy diễn logic) và AI hiện đại (dựa trên học sâu và dữ liệu lớn). Việc hiểu rõ ranh giới này giúp định vị chính xác bài toán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kỹ thuật: Trong an toàn thông tin, Học có giám sát được ứng dụng trực tiếp trong hệ thống phát hiện xâm nhập (IDS/IPS). Học không giám sát được dùng để phát hiện các cuộc tấn công Zero-day dựa trên dị thường thống kê.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sư phạm: Mọi hệ thống học sâu phức tạp đều được xây dựng từ các phép toán cơ bản này. Việc nắm vững quy tắc chuỗi và phép nhân ma trận là cơ sở để sinh viên hiểu sâu kiến trúc các mô hình thị giác máy tính và xử lý ngôn ngữ tự nhiên.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kỹ thuật: Hệ số chia √dₖ có vai trò cốt lõi trong việc kiểm soát độ lớn của tích vô hướng, tránh hiện tượng gradient rơi vào vùng bão hòa của hàm softmax khi số chiều d_model lớn.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chuyên sâu: Quá trình Tokenization giải thích nguyên nhân các LLM thường gặp khó khăn với các bài toán đếm ký tự đơn lẻ hoặc xử lý chuỗi nghịch đảo, do mô hình chỉ tiếp nhận các khối token nguyên vẹn.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học thuật: Cần phân biệt rõ giữa tính 'trôi chảy' (fluency) và tính 'chính xác' (factual accuracy). Một câu văn có xác suất điều kiện cao nhất hoàn toàn có thể là một mệnh đề sai lệch nếu dữ liệu huấn luyện chứa các định kiến hoặc sai số phổ biến.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chuẩn thực nghiệm: Trong các bài toán kỹ thuật, lập trình và nghiên cứu khoa học, tham số Temperature luôn được cấu hình cố định ở mức T = 0.0 đến 0.2 nhằm đảm bảo tính xác định và khả năng tái lập (Reproducibility) của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học thuật: Cần làm rõ rằng khái niệm 'ảo giác' trong AI là một thuật ngữ kỹ thuật chỉ việc sinh ra các thông tin không có trong dữ liệu nguồn hoặc mâu thuẫn với sự thật khách quan. Hiện tượng này không thể triệt tiêu hoàn toàn chỉ bằng việc tăng kích thước mô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số liệu: Báo cáo của Đại học Stanford (2024) chỉ ra rằng trong lĩnh vực pháp lý và trích dẫn khoa học, tỷ lệ ảo giác của các mô hình thương mại dao động từ 18% đến trên 30%. Đây là bằng chứng thực nghiệm rõ ràng bác bỏ việc sử dụng LLMs làm công cụ tra cứu nguồn học thuật trực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sư phạm: Rèn luyện cho sinh viên tư duy độc lập trong thiết kế giải thuật. Mọi công cụ tự động hóa chỉ có giá trị khi người kỹ sư hiểu thấu đáo kiến trúc bên dưới.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thực tiễn: 4 nhóm tác vụ này phản ánh chính xác các khó khăn hàng ngày của sinh viên: áp lực đọc tài liệu mùa thi, bế tắc khi gặp lỗi compiler lúc nửa đêm, thiếu môi trường luyện phỏng vấn kỹ thuật và rào cản tiếng Anh chuyên ngành. AI giải quyết triệt để các rào cản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điệp then chốt: Đây là hồi chuông cảnh tỉnh nghiêm khắc dành cho sinh viên. Rất nhiều sinh viên đạt điểm bài tập về nhà tối đa nhờ dùng AI, nhưng khi bước vào phòng thi ngắt mạng hoặc phòng bảo vệ vấn đáp thì hoàn toàn sụp đổ vì không có kiến thức thực chất.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thực tế: Rất nhiều sinh viên có thói quen trước ngày thi nhờ AI tóm tắt rồi đọc lướt qua một lượt và tự tin đi thi. Khi gặp bài toán đòi hỏi tính toán chi tiết, sinh viên sẽ quên ngay công thức. Hãy rèn luyện thói quen dùng AI để đặt câu hỏi chất vấn thay vì đọc tóm tắt sẵn.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Kinh nghiệm giảng đường: Rất nhiều sinh viên năm nhất bị điểm 0 môn Kỹ thuật lập trình vì nộp code do AI sinh ra. Code AI chạy thử trên máy cá nhân có vẻ đúng với 1-2 test case nhỏ, nhưng khi đưa lên máy chủ chấm thi với hàng nghìn test case lớn thì lập tức bị tràn bộ nhớ hoặc chạy quá thời gian quy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khuyên cho sinh viên: Hãy tận dụng AI làm công cụ luyện phỏng vấn kỹ thuật hàng tuần ngay từ năm thứ nhất. Bằng cách yêu cầu AI chất vấn các câu hỏi khó, sinh viên sẽ không bị bỡ ngỡ khi bước vào các kỳ phỏng vấn thực tập sinh hoặc bảo vệ đồ án trước hội đồng các thầy cô.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học thuật: Môn Toán đại cương không phải là tập hợp các công thức tính toán cơ học. AI là công cụ hỗ trợ trực quan hóa hữu hiệu giúp sinh viên liên kết các khái niệm toán học trừu tượng với các bài toán kỹ thuật cụ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kỹ thuật: Mô hình suy luận như DeepSeek-R1 tối ưu hóa hàm thưởng dựa trên độ chính xác của kết quả cuối cùng trong quá trình học tăng cường (RL), giúp mô hình tự hình thành chiến lược suy nghĩ nhiều bước tương tự tư duy con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phương pháp: Khung CLEAR chuyển đổi việc tương tác với AI từ các câu hỏi tự nhiên mơ hồ thành một bản đặc tả yêu cầu kỹ thuật. Khi kết hợp với phương pháp Socratic, AI trở thành người thầy phản biện kiên nhẫn nhất, dẫn dắt sinh viên tự tìm ra đáp án thay vì nhận câu trả lời thụ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thực nghiệm: Sự khác biệt giữa 2 cách tiếp cận chứng minh rằng khả năng khai thác AI của kỹ sư phụ thuộc vào năng lực mô tả bài toán và thiết lập ràng buộc kỹ thuật.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phương pháp luận: Kỹ thuật Feynman kết hợp với AI đảo ngược hoàn toàn dòng chảy thụ động truyền thống. Người học chuyển từ vị thế người tiếp nhận sang vị thế người phân tích và bảo vệ luận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kỹ thuật: Giao thức bắt tay 3 bước TCP là ví dụ hoàn hảo về sự liên kết giữa lý thuyết mạng máy tính và an toàn thông tin. Việc phân tích cơ chế này làm rõ nguyên lý của các cuộc tấn công DDoS và cơ chế phòng thủ SYN Cookies.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khoa học nhận thức: Nghiên cứu thực nghiệm chứng minh rằng bộ não con người đào thải thông tin theo hàm mũ nếu không có các mốc củng cố ngắt quãng. Công cụ AI giúp giải phóng thời gian soạn thảo câu hỏi để tập trung vào việc ghi nhớ có chủ đích.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năng lực nghề nghiệp: Sinh viên không thể trông chờ vào các tài liệu dịch lại vốn có độ trễ từ 1 đến 3 năm so với thế giới. Việc luyện tập tiếng Anh chuyên ngành hàng ngày với trợ lý AI là phương pháp hiệu quả nhất để xây dựng phản xạ học thuật quốc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bài giảng: Nghiên cứu khoa học ở bậc đại học đòi hỏi tính chính xác, tính mới và phương pháp luận chặt chẽ. AI đóng vai trò công cụ hỗ trợ tăng tốc việc khảo cứu và định dạng văn bản, nhưng không thể thay thế năng lực tư duy sáng tạo của nhà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quy trình: Sinh viên cần nắm vững quy trình 5 bước để không bị nhầm lẫn giữa việc 'sử dụng công cụ' và 'thực hiện nghiên cứu'. Một công trình khoa học có giá trị cốt lõi ở Giai đoạn 1 (Bài toán có ý nghĩa) và Giai đoạn 4 (Thực nghiệm trung thực).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thực nghiệm: Báo cáo của Đại học Stanford chứng minh rằng các LLM thương mại có xu hướng bịa đặt trích dẫn một cách rất tinh vi. Sinh viên bắt buộc phải sử dụng Semantic Scholar hoặc Google Scholar để đối soát bài báo gốc.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phương pháp luận: Connected Papers và Litmaps là công cụ đắc lực giúp sinh viên thực hiện phần Tổng quan tình hình nghiên cứu (Related Work) một cách có hệ thống, tránh việc bỏ sót các công trình quan trọng của các tác giả đầu ngành.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sư phạm: Sinh viên thường bị ngợp trước các phương trình toán học phức tạp trong bài báo IEEE. Việc sử dụng NotebookLM giúp bóc tách cấu trúc bài toán trước khi đi sâu vào chi tiết giải tích.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pháp lý học thuật: Trong các hội đồng đánh giá đồ án hoặc nghiệm thu đề tài, giảng viên sẽ kiểm tra ngẫu nhiên mã DOI của các tài liệu tham khảo. Việc phát hiện tài liệu ma sẽ dẫn đến việc đình chỉ đánh giá công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kỹ thuật: Các hội thảo quốc tế từ chối bài báo có biểu đồ mờ hoặc chụp màn hình Excel. Việc sử dụng script Python Matplotlib có cấu hình font chữ học thuật và xuất file PDF vector là tiêu chuẩn bắt buộc.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công cụ: Soạn thảo bằng Microsoft Word thường gặp lỗi nhảy định dạng khi bài báo có nhiều công thức toán phức tạp. Hệ thống LaTeX kết hợp Overleaf đảm bảo tính chuẩn hóa 100% theo mẫu (template) của các hội thảo quốc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văn phong học thuật: Văn bản khoa học đòi hỏi tính khách quan (Objectivity) và tính định lượng (Quantification). AI là công cụ hỗ trợ đắc lực để biên tập câu chữ tiếng Anh, chuyển đổi các diễn đạt mang tính khẩu ngữ sang thể bị động hoặc cấu trúc học thuật chuẩn mực.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thực tiễn: Để một đề tài nghiên cứu sinh viên đạt giải cao, mã nguồn thực nghiệm bắt buộc phải đóng gói hoàn chỉnh trong container Docker, cho phép hội đồng chấm thi chạy lại và kiểm chứng kết quả trong 1 dòng lệnh.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pháp lý: Chính sách của IEEE (2023-2024) quy định rất rõ: AI không thể ký tên vào thỏa thuận bản quyền (Copyright Agreement) và không thể chịu trách nhiệm trước pháp luật khi xảy ra tranh chấp đạo văn. Do đó, người nghiên cứu phải chịu trách nhiệm hoàn toàn.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kỹ thuật: Nghiên cứu của Đại học Stanford chỉ ra rằng các công cụ AI Detector có tỷ lệ báo oan đáng kể đối với các bài báo của tác giả quốc tế. Do đó, các trường đại học uy tín không bao giờ sử dụng điểm số AI Detector làm căn cứ kỷ luật duy nhất mà luôn yêu cầu hội đồng phỏng vấn trực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an ninh: Bài học từ các vụ rò rỉ mã nguồn của tập đoàn công nghệ lớn là lời cảnh tỉnh rõ ràng. Đối với các đề tài mật mã và an toàn thông tin tại KMA, việc sử dụng mô hình local là giải pháp kỹ thuật bắt buộc.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Hướng dẫn điều phối: Giảng viên khởi động đồng hồ đếm ngược 20 phút. Yêu cầu các nhóm tập trung vào việc tìm ra các điểm hạn chế hoặc sai sót trong câu trả lời của AI đối với bài toán được giao.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hướng chuyên môn: Nhóm chọn Đề 1 cần chú ý kiểm tra xem mã thay thế của AI có xử lý triệt để ký tự xuống dòng và hiện tượng tràn số nguyên (Integer Overflow) khi kiểm tra độ dài chuỗi hay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hướng chuyên môn: Nhóm chọn Đề 2 cần chỉ ra mối quan hệ giữa kích thước khóa và năng lượng tiêu thụ trên các thiết bị IoT bị hạn chế tài nguyên.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hướng chuyên môn: Cây Đỏ-Đen là cấu trúc dữ liệu nền tảng của `std::map` trong C++. Nhóm cần tập trung vào việc bắt lỗi AI khi xử lý trường hợp nút chú (Uncle) có màu đen đòi hỏi xoay kép.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Hướng dẫn điều phối: Giảng viên điều phối thời gian 60 giây cho mỗi nhóm. Tập trung nhận xét vào các phát hiện phản biện của sinh viên đối với các câu trả lời do máy sinh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định hướng nghề nghiệp: Sự khác biệt giữa hai nhóm không nằm ở việc 'có dùng AI hay không', mà nằm ở vị thế làm chủ: Người kỹ sư làm chủ công cụ và chịu trách nhiệm về hệ thống, khác với người dùng bị phụ thuộc vào công cụ.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công cụ: Đây là bộ công cụ học thuật đã được chuẩn hóa. Mỗi công cụ giải quyết một bài toán riêng biệt trong chuỗi giá trị từ học tập, lập trình đến nghiên cứu và công bố khoa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chiến lược đào tạo: Sinh viên cần phân bổ năng lượng hợp lý. Việc nóng vội ứng dụng các công nghệ thời thượng ở tầng ứng dụng mà bỏ qua nền tảng giải thuật và toán học ở năm 1-2 sẽ tạo ra lỗ hổng kiến thức không thể bù đắp.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nguyên tắc: 8 quy tắc này là khung tiêu chuẩn đạo đức và phương pháp luận khoa học xuyên suốt 4 năm học tập và nghiên cứu tại Khoa Công nghệ Thông tin - KMA.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bài giảng: Phương án B là thông điệp khoa học cốt lõi của toàn bộ chuyên đề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Hướng dẫn thực hiện: Kế hoạch 7 ngày giúp sinh viên chuyển hóa các nguyên tắc phương pháp luận được trình bày trong bài giảng thành thói quen kỹ thuật cụ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kết bế mạc: Trân trọng cảm ơn quý thầy cô và các bạn sinh viên đã tham dự buổi báo cáo chuyên đề học thuật. Kính chúc các bạn sinh viên một khóa học nhiều thành công, giữ vững bản lĩnh và tinh thần học thuật chân chính.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548640"/>
            <a:ext cx="6217920" cy="457200"/>
          </a:xfrm>
          <a:prstGeom prst="roundRect">
            <a:avLst>
              <a:gd name="adj" fmla="val 20000"/>
            </a:avLst>
          </a:prstGeom>
          <a:solidFill>
            <a:srgbClr val="111C33"/>
          </a:solidFill>
          <a:ln w="12700">
            <a:solidFill>
              <a:srgbClr val="38BDF8"/>
            </a:solidFill>
            <a:prstDash val="solid"/>
          </a:ln>
        </p:spPr>
      </p:sp>
      <p:sp>
        <p:nvSpPr>
          <p:cNvPr id="3" name="Text 1"/>
          <p:cNvSpPr/>
          <p:nvPr/>
        </p:nvSpPr>
        <p:spPr>
          <a:xfrm>
            <a:off x="914400" y="548640"/>
            <a:ext cx="5852160" cy="4572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 HỌC VIỆN KỸ THUẬT MẬT MÃ • KHOA CÔNG NGHỆ THÔNG TIN</a:t>
            </a:r>
            <a:endParaRPr lang="en-US" sz="1000" dirty="0"/>
          </a:p>
        </p:txBody>
      </p:sp>
      <p:sp>
        <p:nvSpPr>
          <p:cNvPr id="4" name="Text 2"/>
          <p:cNvSpPr/>
          <p:nvPr/>
        </p:nvSpPr>
        <p:spPr>
          <a:xfrm>
            <a:off x="731520" y="1188720"/>
            <a:ext cx="6217920" cy="2011680"/>
          </a:xfrm>
          <a:prstGeom prst="rect">
            <a:avLst/>
          </a:prstGeom>
          <a:noFill/>
          <a:ln/>
        </p:spPr>
        <p:txBody>
          <a:bodyPr wrap="square" rtlCol="0" anchor="t"/>
          <a:lstStyle/>
          <a:p>
            <a:pPr indent="0" marL="0">
              <a:buNone/>
            </a:pPr>
            <a:r>
              <a:rPr lang="en-US" sz="2700" b="1" dirty="0">
                <a:solidFill>
                  <a:srgbClr val="FFFFFF"/>
                </a:solidFill>
                <a:latin typeface="Arial" pitchFamily="34" charset="0"/>
                <a:ea typeface="Arial" pitchFamily="34" charset="-122"/>
                <a:cs typeface="Arial" pitchFamily="34" charset="-120"/>
              </a:rPr>
              <a:t>ỨNG DỤNG TRÍ TUỆ NHÂN TẠO TRONG HỌC TẬP VÀ NGHIÊN CỨU KHOA HỌC</a:t>
            </a:r>
            <a:endParaRPr lang="en-US" sz="2700" dirty="0"/>
          </a:p>
        </p:txBody>
      </p:sp>
      <p:sp>
        <p:nvSpPr>
          <p:cNvPr id="5" name="Text 3"/>
          <p:cNvSpPr/>
          <p:nvPr/>
        </p:nvSpPr>
        <p:spPr>
          <a:xfrm>
            <a:off x="731520" y="3291840"/>
            <a:ext cx="6217920" cy="914400"/>
          </a:xfrm>
          <a:prstGeom prst="rect">
            <a:avLst/>
          </a:prstGeom>
          <a:noFill/>
          <a:ln/>
        </p:spPr>
        <p:txBody>
          <a:bodyPr wrap="square" rtlCol="0" anchor="t"/>
          <a:lstStyle/>
          <a:p>
            <a:pPr indent="0" marL="0">
              <a:buNone/>
            </a:pPr>
            <a:r>
              <a:rPr lang="en-US" sz="1300" dirty="0">
                <a:solidFill>
                  <a:srgbClr val="94A3B8"/>
                </a:solidFill>
                <a:latin typeface="Calibri" pitchFamily="34" charset="0"/>
                <a:ea typeface="Calibri" pitchFamily="34" charset="-122"/>
                <a:cs typeface="Calibri" pitchFamily="34" charset="-120"/>
              </a:rPr>
              <a:t>Phân tích bản chất toán học, kiến trúc mô hình, ranh giới năng lực và phương pháp luận ứng dụng chuẩn mực</a:t>
            </a:r>
            <a:endParaRPr lang="en-US" sz="1300" dirty="0"/>
          </a:p>
        </p:txBody>
      </p:sp>
      <p:sp>
        <p:nvSpPr>
          <p:cNvPr id="6" name="Shape 4"/>
          <p:cNvSpPr/>
          <p:nvPr/>
        </p:nvSpPr>
        <p:spPr>
          <a:xfrm>
            <a:off x="731520" y="4389120"/>
            <a:ext cx="6217920" cy="1737360"/>
          </a:xfrm>
          <a:prstGeom prst="roundRect">
            <a:avLst>
              <a:gd name="adj" fmla="val 7895"/>
            </a:avLst>
          </a:prstGeom>
          <a:solidFill>
            <a:srgbClr val="161F33"/>
          </a:solidFill>
          <a:ln w="12700">
            <a:solidFill>
              <a:srgbClr val="2A374F"/>
            </a:solidFill>
            <a:prstDash val="solid"/>
          </a:ln>
        </p:spPr>
      </p:sp>
      <p:sp>
        <p:nvSpPr>
          <p:cNvPr id="7" name="Text 5"/>
          <p:cNvSpPr/>
          <p:nvPr/>
        </p:nvSpPr>
        <p:spPr>
          <a:xfrm>
            <a:off x="914400" y="4480560"/>
            <a:ext cx="5852160" cy="1554480"/>
          </a:xfrm>
          <a:prstGeom prst="rect">
            <a:avLst/>
          </a:prstGeom>
          <a:noFill/>
          <a:ln/>
        </p:spPr>
        <p:txBody>
          <a:bodyPr wrap="square" rtlCol="0" anchor="ctr"/>
          <a:lstStyle/>
          <a:p>
            <a:pPr indent="0" marL="0">
              <a:buNone/>
            </a:pPr>
            <a:r>
              <a:rPr lang="en-US" sz="1300" b="1" dirty="0">
                <a:solidFill>
                  <a:srgbClr val="38BDF8"/>
                </a:solidFill>
                <a:latin typeface="Calibri" pitchFamily="34" charset="0"/>
                <a:ea typeface="Calibri" pitchFamily="34" charset="-122"/>
                <a:cs typeface="Calibri" pitchFamily="34" charset="-120"/>
              </a:rPr>
              <a:t>Báo cáo viên: TS. Lê Đức Thuận
</a:t>
            </a:r>
            <a:pPr indent="0" marL="0">
              <a:buNone/>
            </a:pPr>
            <a:r>
              <a:rPr lang="en-US" sz="1050" dirty="0">
                <a:solidFill>
                  <a:srgbClr val="FFFFFF"/>
                </a:solidFill>
                <a:latin typeface="Calibri" pitchFamily="34" charset="0"/>
                <a:ea typeface="Calibri" pitchFamily="34" charset="-122"/>
                <a:cs typeface="Calibri" pitchFamily="34" charset="-120"/>
              </a:rPr>
              <a:t>Đơn vị: Khoa Công Nghệ Thông Tin • Học Viện Kỹ Thuật Mật Mã
</a:t>
            </a:r>
            <a:pPr indent="0" marL="0">
              <a:buNone/>
            </a:pPr>
            <a:r>
              <a:rPr lang="en-US" sz="1000" dirty="0">
                <a:solidFill>
                  <a:srgbClr val="94A3B8"/>
                </a:solidFill>
                <a:latin typeface="Calibri" pitchFamily="34" charset="0"/>
                <a:ea typeface="Calibri" pitchFamily="34" charset="-122"/>
                <a:cs typeface="Calibri" pitchFamily="34" charset="-120"/>
              </a:rPr>
              <a:t>Đối tượng: Tân Sinh Viên — Chuyên ngành Công nghệ Thông tin &amp; An toàn Thông tin
</a:t>
            </a:r>
            <a:pPr indent="0" marL="0">
              <a:buNone/>
            </a:pPr>
            <a:r>
              <a:rPr lang="en-US" sz="1000" dirty="0">
                <a:solidFill>
                  <a:srgbClr val="F59E0B"/>
                </a:solidFill>
                <a:latin typeface="Calibri" pitchFamily="34" charset="0"/>
                <a:ea typeface="Calibri" pitchFamily="34" charset="-122"/>
                <a:cs typeface="Calibri" pitchFamily="34" charset="-120"/>
              </a:rPr>
              <a:t>Thời lượng: Thời lượng: 90 - 120 phút • 50 Chuyên đề học thuật</a:t>
            </a:r>
            <a:endParaRPr lang="en-US" sz="1300" dirty="0"/>
          </a:p>
        </p:txBody>
      </p:sp>
      <p:pic>
        <p:nvPicPr>
          <p:cNvPr id="8" name="Image 0" descr="D:\Linh tinh\web_thay_thuan\assets\images\slide-01-cover.jpg">    </p:cNvPr>
          <p:cNvPicPr>
            <a:picLocks noChangeAspect="1"/>
          </p:cNvPicPr>
          <p:nvPr/>
        </p:nvPicPr>
        <p:blipFill>
          <a:blip r:embed="rId1"/>
          <a:srcRect l="0" r="0" t="0" b="0"/>
          <a:stretch/>
        </p:blipFill>
        <p:spPr>
          <a:xfrm>
            <a:off x="7315200" y="731520"/>
            <a:ext cx="4114800" cy="5394960"/>
          </a:xfrm>
          <a:prstGeom prst="rect">
            <a:avLst/>
          </a:prstGeom>
        </p:spPr>
      </p:pic>
      <p:sp>
        <p:nvSpPr>
          <p:cNvPr id="9" name="Shape 6"/>
          <p:cNvSpPr/>
          <p:nvPr/>
        </p:nvSpPr>
        <p:spPr>
          <a:xfrm>
            <a:off x="731520" y="6400800"/>
            <a:ext cx="10698480" cy="0"/>
          </a:xfrm>
          <a:prstGeom prst="line">
            <a:avLst/>
          </a:prstGeom>
          <a:noFill/>
          <a:ln w="12700">
            <a:solidFill>
              <a:srgbClr val="2A374F"/>
            </a:solidFill>
            <a:prstDash val="solid"/>
          </a:ln>
        </p:spPr>
      </p:sp>
      <p:sp>
        <p:nvSpPr>
          <p:cNvPr id="10" name="Text 7"/>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1" name="Text 8"/>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2" name="Text 9"/>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1 / 50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02 • Chương 1: Bản Chất Kỹ Thuật Của AI</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Bản Chất Toán Học: AI Là Bài Toán Tối Ưu Hóa Hàm Số</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Xấp xỉ hàm số mục tiêu f(X; W) ≈ Y thông qua tối ưu hóa vi tích phân và đại số tuyến tính</a:t>
            </a:r>
            <a:endParaRPr lang="en-US" sz="1150" dirty="0"/>
          </a:p>
        </p:txBody>
      </p:sp>
      <p:sp>
        <p:nvSpPr>
          <p:cNvPr id="6" name="Shape 4"/>
          <p:cNvSpPr/>
          <p:nvPr/>
        </p:nvSpPr>
        <p:spPr>
          <a:xfrm>
            <a:off x="731520" y="1828800"/>
            <a:ext cx="2072640" cy="1051560"/>
          </a:xfrm>
          <a:prstGeom prst="roundRect">
            <a:avLst>
              <a:gd name="adj" fmla="val 8696"/>
            </a:avLst>
          </a:prstGeom>
          <a:solidFill>
            <a:srgbClr val="161F33"/>
          </a:solidFill>
          <a:ln w="12700">
            <a:solidFill>
              <a:srgbClr val="2A374F"/>
            </a:solidFill>
            <a:prstDash val="solid"/>
          </a:ln>
        </p:spPr>
      </p:sp>
      <p:sp>
        <p:nvSpPr>
          <p:cNvPr id="7" name="Text 5"/>
          <p:cNvSpPr/>
          <p:nvPr/>
        </p:nvSpPr>
        <p:spPr>
          <a:xfrm>
            <a:off x="822960" y="1920240"/>
            <a:ext cx="1889760" cy="457200"/>
          </a:xfrm>
          <a:prstGeom prst="rect">
            <a:avLst/>
          </a:prstGeom>
          <a:noFill/>
          <a:ln/>
        </p:spPr>
        <p:txBody>
          <a:bodyPr wrap="square" rtlCol="0" anchor="ctr"/>
          <a:lstStyle/>
          <a:p>
            <a:pPr algn="ctr" indent="0" marL="0">
              <a:buNone/>
            </a:pPr>
            <a:r>
              <a:rPr lang="en-US" sz="1800" b="1" dirty="0">
                <a:solidFill>
                  <a:srgbClr val="38BDF8"/>
                </a:solidFill>
                <a:latin typeface="Arial" pitchFamily="34" charset="0"/>
                <a:ea typeface="Arial" pitchFamily="34" charset="-122"/>
                <a:cs typeface="Arial" pitchFamily="34" charset="-120"/>
              </a:rPr>
              <a:t>10¹¹+</a:t>
            </a:r>
            <a:endParaRPr lang="en-US" sz="1800" dirty="0"/>
          </a:p>
        </p:txBody>
      </p:sp>
      <p:sp>
        <p:nvSpPr>
          <p:cNvPr id="8" name="Text 6"/>
          <p:cNvSpPr/>
          <p:nvPr/>
        </p:nvSpPr>
        <p:spPr>
          <a:xfrm>
            <a:off x="82296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Tham số trọng số (Weights)</a:t>
            </a:r>
            <a:endParaRPr lang="en-US" sz="950" dirty="0"/>
          </a:p>
        </p:txBody>
      </p:sp>
      <p:sp>
        <p:nvSpPr>
          <p:cNvPr id="9" name="Shape 7"/>
          <p:cNvSpPr/>
          <p:nvPr/>
        </p:nvSpPr>
        <p:spPr>
          <a:xfrm>
            <a:off x="2987040" y="1828800"/>
            <a:ext cx="2072640" cy="1051560"/>
          </a:xfrm>
          <a:prstGeom prst="roundRect">
            <a:avLst>
              <a:gd name="adj" fmla="val 8696"/>
            </a:avLst>
          </a:prstGeom>
          <a:solidFill>
            <a:srgbClr val="161F33"/>
          </a:solidFill>
          <a:ln w="12700">
            <a:solidFill>
              <a:srgbClr val="2A374F"/>
            </a:solidFill>
            <a:prstDash val="solid"/>
          </a:ln>
        </p:spPr>
      </p:sp>
      <p:sp>
        <p:nvSpPr>
          <p:cNvPr id="10" name="Text 8"/>
          <p:cNvSpPr/>
          <p:nvPr/>
        </p:nvSpPr>
        <p:spPr>
          <a:xfrm>
            <a:off x="3078480" y="1920240"/>
            <a:ext cx="1889760" cy="457200"/>
          </a:xfrm>
          <a:prstGeom prst="rect">
            <a:avLst/>
          </a:prstGeom>
          <a:noFill/>
          <a:ln/>
        </p:spPr>
        <p:txBody>
          <a:bodyPr wrap="square" rtlCol="0" anchor="ctr"/>
          <a:lstStyle/>
          <a:p>
            <a:pPr algn="ctr" indent="0" marL="0">
              <a:buNone/>
            </a:pPr>
            <a:r>
              <a:rPr lang="en-US" sz="1800" b="1" dirty="0">
                <a:solidFill>
                  <a:srgbClr val="F59E0B"/>
                </a:solidFill>
                <a:latin typeface="Arial" pitchFamily="34" charset="0"/>
                <a:ea typeface="Arial" pitchFamily="34" charset="-122"/>
                <a:cs typeface="Arial" pitchFamily="34" charset="-120"/>
              </a:rPr>
              <a:t>0%</a:t>
            </a:r>
            <a:endParaRPr lang="en-US" sz="1800" dirty="0"/>
          </a:p>
        </p:txBody>
      </p:sp>
      <p:sp>
        <p:nvSpPr>
          <p:cNvPr id="11" name="Text 9"/>
          <p:cNvSpPr/>
          <p:nvPr/>
        </p:nvSpPr>
        <p:spPr>
          <a:xfrm>
            <a:off x="307848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Ý thức hoặc tư duy độc lập</a:t>
            </a:r>
            <a:endParaRPr lang="en-US" sz="950" dirty="0"/>
          </a:p>
        </p:txBody>
      </p:sp>
      <p:sp>
        <p:nvSpPr>
          <p:cNvPr id="12" name="Shape 10"/>
          <p:cNvSpPr/>
          <p:nvPr/>
        </p:nvSpPr>
        <p:spPr>
          <a:xfrm>
            <a:off x="5242560" y="1828800"/>
            <a:ext cx="2072640" cy="1051560"/>
          </a:xfrm>
          <a:prstGeom prst="roundRect">
            <a:avLst>
              <a:gd name="adj" fmla="val 8696"/>
            </a:avLst>
          </a:prstGeom>
          <a:solidFill>
            <a:srgbClr val="161F33"/>
          </a:solidFill>
          <a:ln w="12700">
            <a:solidFill>
              <a:srgbClr val="2A374F"/>
            </a:solidFill>
            <a:prstDash val="solid"/>
          </a:ln>
        </p:spPr>
      </p:sp>
      <p:sp>
        <p:nvSpPr>
          <p:cNvPr id="13" name="Text 11"/>
          <p:cNvSpPr/>
          <p:nvPr/>
        </p:nvSpPr>
        <p:spPr>
          <a:xfrm>
            <a:off x="5334000" y="1920240"/>
            <a:ext cx="1889760" cy="457200"/>
          </a:xfrm>
          <a:prstGeom prst="rect">
            <a:avLst/>
          </a:prstGeom>
          <a:noFill/>
          <a:ln/>
        </p:spPr>
        <p:txBody>
          <a:bodyPr wrap="square" rtlCol="0" anchor="ctr"/>
          <a:lstStyle/>
          <a:p>
            <a:pPr algn="ctr" indent="0" marL="0">
              <a:buNone/>
            </a:pPr>
            <a:r>
              <a:rPr lang="en-US" sz="1800" b="1" dirty="0">
                <a:solidFill>
                  <a:srgbClr val="10B981"/>
                </a:solidFill>
                <a:latin typeface="Arial" pitchFamily="34" charset="0"/>
                <a:ea typeface="Arial" pitchFamily="34" charset="-122"/>
                <a:cs typeface="Arial" pitchFamily="34" charset="-120"/>
              </a:rPr>
              <a:t>100%</a:t>
            </a:r>
            <a:endParaRPr lang="en-US" sz="1800" dirty="0"/>
          </a:p>
        </p:txBody>
      </p:sp>
      <p:sp>
        <p:nvSpPr>
          <p:cNvPr id="14" name="Text 12"/>
          <p:cNvSpPr/>
          <p:nvPr/>
        </p:nvSpPr>
        <p:spPr>
          <a:xfrm>
            <a:off x="533400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Tính toán đại số &amp; xác suất</a:t>
            </a:r>
            <a:endParaRPr lang="en-US" sz="950" dirty="0"/>
          </a:p>
        </p:txBody>
      </p:sp>
      <p:sp>
        <p:nvSpPr>
          <p:cNvPr id="15" name="Shape 13"/>
          <p:cNvSpPr/>
          <p:nvPr/>
        </p:nvSpPr>
        <p:spPr>
          <a:xfrm>
            <a:off x="731520" y="3063240"/>
            <a:ext cx="6583680" cy="746760"/>
          </a:xfrm>
          <a:prstGeom prst="roundRect">
            <a:avLst>
              <a:gd name="adj" fmla="val 12245"/>
            </a:avLst>
          </a:prstGeom>
          <a:solidFill>
            <a:srgbClr val="161F33"/>
          </a:solidFill>
          <a:ln w="12700">
            <a:solidFill>
              <a:srgbClr val="2A374F"/>
            </a:solidFill>
            <a:prstDash val="solid"/>
          </a:ln>
        </p:spPr>
      </p:sp>
      <p:sp>
        <p:nvSpPr>
          <p:cNvPr id="16" name="Text 14"/>
          <p:cNvSpPr/>
          <p:nvPr/>
        </p:nvSpPr>
        <p:spPr>
          <a:xfrm>
            <a:off x="914400" y="31363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Nền tảng: Đại số tuyến tính và Giải tích đa biến
</a:t>
            </a:r>
            <a:pPr indent="0" marL="0">
              <a:buNone/>
            </a:pPr>
            <a:r>
              <a:rPr lang="en-US" sz="1000" dirty="0">
                <a:solidFill>
                  <a:srgbClr val="FFFFFF"/>
                </a:solidFill>
                <a:latin typeface="Calibri" pitchFamily="34" charset="0"/>
                <a:ea typeface="Calibri" pitchFamily="34" charset="-122"/>
                <a:cs typeface="Calibri" pitchFamily="34" charset="-120"/>
              </a:rPr>
              <a:t>Mọi mô hình học máy hiện đại đều vận hành trên nền tảng phép nhân ma trận đa chiều và giải tích đạo hàm riêng (Gradient Descent) nhằm cực tiểu hóa hàm mất mát (Loss Function).</a:t>
            </a:r>
            <a:endParaRPr lang="en-US" sz="1100" dirty="0"/>
          </a:p>
        </p:txBody>
      </p:sp>
      <p:sp>
        <p:nvSpPr>
          <p:cNvPr id="17" name="Shape 15"/>
          <p:cNvSpPr/>
          <p:nvPr/>
        </p:nvSpPr>
        <p:spPr>
          <a:xfrm>
            <a:off x="731520" y="3901440"/>
            <a:ext cx="6583680" cy="746760"/>
          </a:xfrm>
          <a:prstGeom prst="roundRect">
            <a:avLst>
              <a:gd name="adj" fmla="val 12245"/>
            </a:avLst>
          </a:prstGeom>
          <a:solidFill>
            <a:srgbClr val="161F33"/>
          </a:solidFill>
          <a:ln w="12700">
            <a:solidFill>
              <a:srgbClr val="2A374F"/>
            </a:solidFill>
            <a:prstDash val="solid"/>
          </a:ln>
        </p:spPr>
      </p:sp>
      <p:sp>
        <p:nvSpPr>
          <p:cNvPr id="18" name="Text 16"/>
          <p:cNvSpPr/>
          <p:nvPr/>
        </p:nvSpPr>
        <p:spPr>
          <a:xfrm>
            <a:off x="914400" y="39745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Định lý xấp xỉ phổ quát (Universal Approximation Theorem)
</a:t>
            </a:r>
            <a:pPr indent="0" marL="0">
              <a:buNone/>
            </a:pPr>
            <a:r>
              <a:rPr lang="en-US" sz="1000" dirty="0">
                <a:solidFill>
                  <a:srgbClr val="FFFFFF"/>
                </a:solidFill>
                <a:latin typeface="Calibri" pitchFamily="34" charset="0"/>
                <a:ea typeface="Calibri" pitchFamily="34" charset="-122"/>
                <a:cs typeface="Calibri" pitchFamily="34" charset="-120"/>
              </a:rPr>
              <a:t>Mạng nơ-ron sâu có khả năng xấp xỉ bất kỳ hàm số liên tục nào với độ chính xác tùy ý, với điều kiện kiến trúc mạng đủ lớn và dữ liệu huấn luyện đủ bao quát.</a:t>
            </a:r>
            <a:endParaRPr lang="en-US" sz="1100" dirty="0"/>
          </a:p>
        </p:txBody>
      </p:sp>
      <p:sp>
        <p:nvSpPr>
          <p:cNvPr id="19" name="Shape 17"/>
          <p:cNvSpPr/>
          <p:nvPr/>
        </p:nvSpPr>
        <p:spPr>
          <a:xfrm>
            <a:off x="731520" y="4739640"/>
            <a:ext cx="6583680" cy="746760"/>
          </a:xfrm>
          <a:prstGeom prst="roundRect">
            <a:avLst>
              <a:gd name="adj" fmla="val 12245"/>
            </a:avLst>
          </a:prstGeom>
          <a:solidFill>
            <a:srgbClr val="161F33"/>
          </a:solidFill>
          <a:ln w="12700">
            <a:solidFill>
              <a:srgbClr val="2A374F"/>
            </a:solidFill>
            <a:prstDash val="solid"/>
          </a:ln>
        </p:spPr>
      </p:sp>
      <p:sp>
        <p:nvSpPr>
          <p:cNvPr id="20" name="Text 18"/>
          <p:cNvSpPr/>
          <p:nvPr/>
        </p:nvSpPr>
        <p:spPr>
          <a:xfrm>
            <a:off x="914400" y="48127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Giới hạn: Không có cơ chế suy luận nhân quả (No Causal Inference)
</a:t>
            </a:r>
            <a:pPr indent="0" marL="0">
              <a:buNone/>
            </a:pPr>
            <a:r>
              <a:rPr lang="en-US" sz="1000" dirty="0">
                <a:solidFill>
                  <a:srgbClr val="FFFFFF"/>
                </a:solidFill>
                <a:latin typeface="Calibri" pitchFamily="34" charset="0"/>
                <a:ea typeface="Calibri" pitchFamily="34" charset="-122"/>
                <a:cs typeface="Calibri" pitchFamily="34" charset="-120"/>
              </a:rPr>
              <a:t>Hệ thống AI chỉ nhận diện tương quan thống kê (Statistical Correlation) trong kho ngữ liệu, hoàn toàn không có khả năng nắm bắt quy luật nhân quả thực tế.</a:t>
            </a:r>
            <a:endParaRPr lang="en-US" sz="1100" dirty="0"/>
          </a:p>
        </p:txBody>
      </p:sp>
      <p:sp>
        <p:nvSpPr>
          <p:cNvPr id="21" name="Shape 19"/>
          <p:cNvSpPr/>
          <p:nvPr/>
        </p:nvSpPr>
        <p:spPr>
          <a:xfrm>
            <a:off x="731520" y="5623560"/>
            <a:ext cx="6583680" cy="594360"/>
          </a:xfrm>
          <a:prstGeom prst="roundRect">
            <a:avLst>
              <a:gd name="adj" fmla="val 12308"/>
            </a:avLst>
          </a:prstGeom>
          <a:solidFill>
            <a:srgbClr val="111F38"/>
          </a:solidFill>
          <a:ln w="12700">
            <a:solidFill>
              <a:srgbClr val="38BDF8"/>
            </a:solidFill>
            <a:prstDash val="solid"/>
          </a:ln>
        </p:spPr>
      </p:sp>
      <p:sp>
        <p:nvSpPr>
          <p:cNvPr id="22" name="Text 20"/>
          <p:cNvSpPr/>
          <p:nvPr/>
        </p:nvSpPr>
        <p:spPr>
          <a:xfrm>
            <a:off x="868680" y="5623560"/>
            <a:ext cx="6309360" cy="594360"/>
          </a:xfrm>
          <a:prstGeom prst="rect">
            <a:avLst/>
          </a:prstGeom>
          <a:noFill/>
          <a:ln/>
        </p:spPr>
        <p:txBody>
          <a:bodyPr wrap="square" rtlCol="0" anchor="ctr"/>
          <a:lstStyle/>
          <a:p>
            <a:pPr indent="0" marL="0">
              <a:buNone/>
            </a:pPr>
            <a:r>
              <a:rPr lang="en-US" sz="950" i="1" dirty="0">
                <a:solidFill>
                  <a:srgbClr val="38BDF8"/>
                </a:solidFill>
                <a:latin typeface="Calibri" pitchFamily="34" charset="0"/>
                <a:ea typeface="Calibri" pitchFamily="34" charset="-122"/>
                <a:cs typeface="Calibri" pitchFamily="34" charset="-120"/>
              </a:rPr>
              <a:t>💡 Điểm cốt lõi: Hiểu rõ AI là một hệ phương trình toán học tối ưu giúp người học loại bỏ sự ngộ nhận hoặc kỳ vọng phi thực tế về năng lực nhận thức của cỗ máy.</a:t>
            </a:r>
            <a:endParaRPr lang="en-US" sz="950" dirty="0"/>
          </a:p>
        </p:txBody>
      </p:sp>
      <p:pic>
        <p:nvPicPr>
          <p:cNvPr id="23" name="Image 0" descr="D:\Linh tinh\web_thay_thuan\assets\images\slide-06-what-is-ai.jpg">    </p:cNvPr>
          <p:cNvPicPr>
            <a:picLocks noChangeAspect="1"/>
          </p:cNvPicPr>
          <p:nvPr/>
        </p:nvPicPr>
        <p:blipFill>
          <a:blip r:embed="rId1"/>
          <a:srcRect l="0" r="0" t="0" b="0"/>
          <a:stretch/>
        </p:blipFill>
        <p:spPr>
          <a:xfrm>
            <a:off x="7589520" y="1737360"/>
            <a:ext cx="3840480" cy="4389120"/>
          </a:xfrm>
          <a:prstGeom prst="rect">
            <a:avLst/>
          </a:prstGeom>
        </p:spPr>
      </p:pic>
      <p:sp>
        <p:nvSpPr>
          <p:cNvPr id="24" name="Text 21"/>
          <p:cNvSpPr/>
          <p:nvPr/>
        </p:nvSpPr>
        <p:spPr>
          <a:xfrm>
            <a:off x="7589520" y="5897880"/>
            <a:ext cx="3840480" cy="320040"/>
          </a:xfrm>
          <a:prstGeom prst="rect">
            <a:avLst/>
          </a:prstGeom>
          <a:noFill/>
          <a:ln/>
        </p:spPr>
        <p:txBody>
          <a:bodyPr wrap="square"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Toán học và thống kê đằng sau các mô hình trí tuệ nhân tạo</a:t>
            </a:r>
            <a:endParaRPr lang="en-US" sz="800" dirty="0"/>
          </a:p>
        </p:txBody>
      </p:sp>
      <p:sp>
        <p:nvSpPr>
          <p:cNvPr id="25" name="Shape 22"/>
          <p:cNvSpPr/>
          <p:nvPr/>
        </p:nvSpPr>
        <p:spPr>
          <a:xfrm>
            <a:off x="731520" y="6400800"/>
            <a:ext cx="10698480" cy="0"/>
          </a:xfrm>
          <a:prstGeom prst="line">
            <a:avLst/>
          </a:prstGeom>
          <a:noFill/>
          <a:ln w="12700">
            <a:solidFill>
              <a:srgbClr val="2A374F"/>
            </a:solidFill>
            <a:prstDash val="solid"/>
          </a:ln>
        </p:spPr>
      </p:sp>
      <p:sp>
        <p:nvSpPr>
          <p:cNvPr id="26" name="Text 23"/>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27" name="Text 24"/>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28" name="Text 2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2 / 50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03 • Chương 1: Bản Chất Kỹ Thuật Của AI</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Hệ Thống Phân Tầng: AI ⊃ Machine Learning ⊃ Deep Learning ⊃ GenAI</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Cấu trúc phân cấp chuẩn mực trong khoa học máy tính từ tổng thể đến các mô hình tạo sinh</a:t>
            </a:r>
            <a:endParaRPr lang="en-US" sz="1150" dirty="0"/>
          </a:p>
        </p:txBody>
      </p:sp>
      <p:sp>
        <p:nvSpPr>
          <p:cNvPr id="6" name="Shape 4"/>
          <p:cNvSpPr/>
          <p:nvPr/>
        </p:nvSpPr>
        <p:spPr>
          <a:xfrm>
            <a:off x="731520" y="1828800"/>
            <a:ext cx="2537460" cy="4206240"/>
          </a:xfrm>
          <a:prstGeom prst="roundRect">
            <a:avLst>
              <a:gd name="adj" fmla="val 4324"/>
            </a:avLst>
          </a:prstGeom>
          <a:solidFill>
            <a:srgbClr val="161F33"/>
          </a:solidFill>
          <a:ln w="12700">
            <a:solidFill>
              <a:srgbClr val="2A374F"/>
            </a:solidFill>
            <a:prstDash val="solid"/>
          </a:ln>
        </p:spPr>
      </p:sp>
      <p:sp>
        <p:nvSpPr>
          <p:cNvPr id="7" name="Text 5"/>
          <p:cNvSpPr/>
          <p:nvPr/>
        </p:nvSpPr>
        <p:spPr>
          <a:xfrm>
            <a:off x="868680" y="1965960"/>
            <a:ext cx="2263140" cy="274320"/>
          </a:xfrm>
          <a:prstGeom prst="rect">
            <a:avLst/>
          </a:prstGeom>
          <a:noFill/>
          <a:ln/>
        </p:spPr>
        <p:txBody>
          <a:bodyPr wrap="square" rtlCol="0" anchor="ctr"/>
          <a:lstStyle/>
          <a:p>
            <a:pPr indent="0" marL="0">
              <a:buNone/>
            </a:pPr>
            <a:r>
              <a:rPr lang="en-US" sz="850" b="1" dirty="0">
                <a:solidFill>
                  <a:srgbClr val="38BDF8"/>
                </a:solidFill>
                <a:latin typeface="Arial" pitchFamily="34" charset="0"/>
                <a:ea typeface="Arial" pitchFamily="34" charset="-122"/>
                <a:cs typeface="Arial" pitchFamily="34" charset="-120"/>
              </a:rPr>
              <a:t>TẦNG 1: TỔNG QUAN</a:t>
            </a:r>
            <a:endParaRPr lang="en-US" sz="850" dirty="0"/>
          </a:p>
        </p:txBody>
      </p:sp>
      <p:sp>
        <p:nvSpPr>
          <p:cNvPr id="8" name="Text 6"/>
          <p:cNvSpPr/>
          <p:nvPr/>
        </p:nvSpPr>
        <p:spPr>
          <a:xfrm>
            <a:off x="868680" y="2240280"/>
            <a:ext cx="2263140" cy="5029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Trí Tuệ Nhân Tạo (AI)</a:t>
            </a:r>
            <a:endParaRPr lang="en-US" sz="1300" dirty="0"/>
          </a:p>
        </p:txBody>
      </p:sp>
      <p:sp>
        <p:nvSpPr>
          <p:cNvPr id="9" name="Text 7"/>
          <p:cNvSpPr/>
          <p:nvPr/>
        </p:nvSpPr>
        <p:spPr>
          <a:xfrm>
            <a:off x="868680" y="2834640"/>
            <a:ext cx="2263140" cy="12801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Lĩnh vực khoa học máy tính nghiên cứu việc xây dựng các hệ thống có khả năng thực hiện tác vụ đòi hỏi trí tuệ con người.</a:t>
            </a:r>
            <a:endParaRPr lang="en-US" sz="950" dirty="0"/>
          </a:p>
        </p:txBody>
      </p:sp>
      <p:sp>
        <p:nvSpPr>
          <p:cNvPr id="10" name="Text 8"/>
          <p:cNvSpPr/>
          <p:nvPr/>
        </p:nvSpPr>
        <p:spPr>
          <a:xfrm>
            <a:off x="868680" y="4160520"/>
            <a:ext cx="2263140" cy="173736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Cơ chế hoạt động:
</a:t>
            </a:r>
            <a:pPr indent="0" marL="0">
              <a:buNone/>
            </a:pPr>
            <a:r>
              <a:rPr lang="en-US" sz="850" dirty="0">
                <a:solidFill>
                  <a:srgbClr val="FFFFFF"/>
                </a:solidFill>
                <a:latin typeface="Calibri" pitchFamily="34" charset="0"/>
                <a:ea typeface="Calibri" pitchFamily="34" charset="-122"/>
                <a:cs typeface="Calibri" pitchFamily="34" charset="-120"/>
              </a:rPr>
              <a:t>Hệ chuyên gia (Expert Systems), Logic mờ (Fuzzy Logic), Tìm kiếm đồ thị (Graph Search A*).
</a:t>
            </a:r>
            <a:pPr indent="0" marL="0">
              <a:buNone/>
            </a:pPr>
            <a:r>
              <a:rPr lang="en-US" sz="900" b="1" dirty="0">
                <a:solidFill>
                  <a:srgbClr val="10B981"/>
                </a:solidFill>
                <a:latin typeface="Calibri" pitchFamily="34" charset="0"/>
                <a:ea typeface="Calibri" pitchFamily="34" charset="-122"/>
                <a:cs typeface="Calibri" pitchFamily="34" charset="-120"/>
              </a:rPr>
              <a:t>Ví dụ thực tế:
</a:t>
            </a:r>
            <a:pPr indent="0" marL="0">
              <a:buNone/>
            </a:pPr>
            <a:r>
              <a:rPr lang="en-US" sz="850" dirty="0">
                <a:solidFill>
                  <a:srgbClr val="94A3B8"/>
                </a:solidFill>
                <a:latin typeface="Calibri" pitchFamily="34" charset="0"/>
                <a:ea typeface="Calibri" pitchFamily="34" charset="-122"/>
                <a:cs typeface="Calibri" pitchFamily="34" charset="-120"/>
              </a:rPr>
              <a:t>Hệ thống chơi cờ Deep Blue, định tuyến tối ưu mạng truyền thông.</a:t>
            </a:r>
            <a:endParaRPr lang="en-US" sz="900" dirty="0"/>
          </a:p>
        </p:txBody>
      </p:sp>
      <p:sp>
        <p:nvSpPr>
          <p:cNvPr id="11" name="Shape 9"/>
          <p:cNvSpPr/>
          <p:nvPr/>
        </p:nvSpPr>
        <p:spPr>
          <a:xfrm>
            <a:off x="3451860" y="1828800"/>
            <a:ext cx="2537460" cy="4206240"/>
          </a:xfrm>
          <a:prstGeom prst="roundRect">
            <a:avLst>
              <a:gd name="adj" fmla="val 4324"/>
            </a:avLst>
          </a:prstGeom>
          <a:solidFill>
            <a:srgbClr val="161F33"/>
          </a:solidFill>
          <a:ln w="12700">
            <a:solidFill>
              <a:srgbClr val="2A374F"/>
            </a:solidFill>
            <a:prstDash val="solid"/>
          </a:ln>
        </p:spPr>
      </p:sp>
      <p:sp>
        <p:nvSpPr>
          <p:cNvPr id="12" name="Text 10"/>
          <p:cNvSpPr/>
          <p:nvPr/>
        </p:nvSpPr>
        <p:spPr>
          <a:xfrm>
            <a:off x="3589020" y="1965960"/>
            <a:ext cx="2263140" cy="274320"/>
          </a:xfrm>
          <a:prstGeom prst="rect">
            <a:avLst/>
          </a:prstGeom>
          <a:noFill/>
          <a:ln/>
        </p:spPr>
        <p:txBody>
          <a:bodyPr wrap="square" rtlCol="0" anchor="ctr"/>
          <a:lstStyle/>
          <a:p>
            <a:pPr indent="0" marL="0">
              <a:buNone/>
            </a:pPr>
            <a:r>
              <a:rPr lang="en-US" sz="850" b="1" dirty="0">
                <a:solidFill>
                  <a:srgbClr val="38BDF8"/>
                </a:solidFill>
                <a:latin typeface="Arial" pitchFamily="34" charset="0"/>
                <a:ea typeface="Arial" pitchFamily="34" charset="-122"/>
                <a:cs typeface="Arial" pitchFamily="34" charset="-120"/>
              </a:rPr>
              <a:t>TẦNG 2: HỌC TỪ DỮ LIỆU</a:t>
            </a:r>
            <a:endParaRPr lang="en-US" sz="850" dirty="0"/>
          </a:p>
        </p:txBody>
      </p:sp>
      <p:sp>
        <p:nvSpPr>
          <p:cNvPr id="13" name="Text 11"/>
          <p:cNvSpPr/>
          <p:nvPr/>
        </p:nvSpPr>
        <p:spPr>
          <a:xfrm>
            <a:off x="3589020" y="2240280"/>
            <a:ext cx="2263140" cy="5029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Học Máy (Machine Learning)</a:t>
            </a:r>
            <a:endParaRPr lang="en-US" sz="1300" dirty="0"/>
          </a:p>
        </p:txBody>
      </p:sp>
      <p:sp>
        <p:nvSpPr>
          <p:cNvPr id="14" name="Text 12"/>
          <p:cNvSpPr/>
          <p:nvPr/>
        </p:nvSpPr>
        <p:spPr>
          <a:xfrm>
            <a:off x="3589020" y="2834640"/>
            <a:ext cx="2263140" cy="12801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Tập hợp các thuật toán cho phép hệ thống tự hoàn thiện năng lực xử lý từ dữ liệu thực nghiệm mà không cần lập trình luật tường minh.</a:t>
            </a:r>
            <a:endParaRPr lang="en-US" sz="950" dirty="0"/>
          </a:p>
        </p:txBody>
      </p:sp>
      <p:sp>
        <p:nvSpPr>
          <p:cNvPr id="15" name="Text 13"/>
          <p:cNvSpPr/>
          <p:nvPr/>
        </p:nvSpPr>
        <p:spPr>
          <a:xfrm>
            <a:off x="3589020" y="4160520"/>
            <a:ext cx="2263140" cy="173736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Cơ chế hoạt động:
</a:t>
            </a:r>
            <a:pPr indent="0" marL="0">
              <a:buNone/>
            </a:pPr>
            <a:r>
              <a:rPr lang="en-US" sz="850" dirty="0">
                <a:solidFill>
                  <a:srgbClr val="FFFFFF"/>
                </a:solidFill>
                <a:latin typeface="Calibri" pitchFamily="34" charset="0"/>
                <a:ea typeface="Calibri" pitchFamily="34" charset="-122"/>
                <a:cs typeface="Calibri" pitchFamily="34" charset="-120"/>
              </a:rPr>
              <a:t>Hồi quy tuyến tính, Cây quyết định (Decision Tree), SVM, K-Means.
</a:t>
            </a:r>
            <a:pPr indent="0" marL="0">
              <a:buNone/>
            </a:pPr>
            <a:r>
              <a:rPr lang="en-US" sz="900" b="1" dirty="0">
                <a:solidFill>
                  <a:srgbClr val="10B981"/>
                </a:solidFill>
                <a:latin typeface="Calibri" pitchFamily="34" charset="0"/>
                <a:ea typeface="Calibri" pitchFamily="34" charset="-122"/>
                <a:cs typeface="Calibri" pitchFamily="34" charset="-120"/>
              </a:rPr>
              <a:t>Ví dụ thực tế:
</a:t>
            </a:r>
            <a:pPr indent="0" marL="0">
              <a:buNone/>
            </a:pPr>
            <a:r>
              <a:rPr lang="en-US" sz="850" dirty="0">
                <a:solidFill>
                  <a:srgbClr val="94A3B8"/>
                </a:solidFill>
                <a:latin typeface="Calibri" pitchFamily="34" charset="0"/>
                <a:ea typeface="Calibri" pitchFamily="34" charset="-122"/>
                <a:cs typeface="Calibri" pitchFamily="34" charset="-120"/>
              </a:rPr>
              <a:t>Bộ lọc thư rác, phân loại giao dịch tài chính, phát hiện mã độc.</a:t>
            </a:r>
            <a:endParaRPr lang="en-US" sz="900" dirty="0"/>
          </a:p>
        </p:txBody>
      </p:sp>
      <p:sp>
        <p:nvSpPr>
          <p:cNvPr id="16" name="Shape 14"/>
          <p:cNvSpPr/>
          <p:nvPr/>
        </p:nvSpPr>
        <p:spPr>
          <a:xfrm>
            <a:off x="6172200" y="1828800"/>
            <a:ext cx="2537460" cy="4206240"/>
          </a:xfrm>
          <a:prstGeom prst="roundRect">
            <a:avLst>
              <a:gd name="adj" fmla="val 4324"/>
            </a:avLst>
          </a:prstGeom>
          <a:solidFill>
            <a:srgbClr val="161F33"/>
          </a:solidFill>
          <a:ln w="12700">
            <a:solidFill>
              <a:srgbClr val="2A374F"/>
            </a:solidFill>
            <a:prstDash val="solid"/>
          </a:ln>
        </p:spPr>
      </p:sp>
      <p:sp>
        <p:nvSpPr>
          <p:cNvPr id="17" name="Text 15"/>
          <p:cNvSpPr/>
          <p:nvPr/>
        </p:nvSpPr>
        <p:spPr>
          <a:xfrm>
            <a:off x="6309360" y="1965960"/>
            <a:ext cx="2263140" cy="274320"/>
          </a:xfrm>
          <a:prstGeom prst="rect">
            <a:avLst/>
          </a:prstGeom>
          <a:noFill/>
          <a:ln/>
        </p:spPr>
        <p:txBody>
          <a:bodyPr wrap="square" rtlCol="0" anchor="ctr"/>
          <a:lstStyle/>
          <a:p>
            <a:pPr indent="0" marL="0">
              <a:buNone/>
            </a:pPr>
            <a:r>
              <a:rPr lang="en-US" sz="850" b="1" dirty="0">
                <a:solidFill>
                  <a:srgbClr val="38BDF8"/>
                </a:solidFill>
                <a:latin typeface="Arial" pitchFamily="34" charset="0"/>
                <a:ea typeface="Arial" pitchFamily="34" charset="-122"/>
                <a:cs typeface="Arial" pitchFamily="34" charset="-120"/>
              </a:rPr>
              <a:t>TẦNG 3: MẠNG NƠ-RON SÂU</a:t>
            </a:r>
            <a:endParaRPr lang="en-US" sz="850" dirty="0"/>
          </a:p>
        </p:txBody>
      </p:sp>
      <p:sp>
        <p:nvSpPr>
          <p:cNvPr id="18" name="Text 16"/>
          <p:cNvSpPr/>
          <p:nvPr/>
        </p:nvSpPr>
        <p:spPr>
          <a:xfrm>
            <a:off x="6309360" y="2240280"/>
            <a:ext cx="2263140" cy="5029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Học Sâu (Deep Learning)</a:t>
            </a:r>
            <a:endParaRPr lang="en-US" sz="1300" dirty="0"/>
          </a:p>
        </p:txBody>
      </p:sp>
      <p:sp>
        <p:nvSpPr>
          <p:cNvPr id="19" name="Text 17"/>
          <p:cNvSpPr/>
          <p:nvPr/>
        </p:nvSpPr>
        <p:spPr>
          <a:xfrm>
            <a:off x="6309360" y="2834640"/>
            <a:ext cx="2263140" cy="12801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Phân ngành học máy sử dụng mạng nơ-ron nhân tạo nhiều tầng ẩn (Deep Neural Networks) để tự động trích xuất đặc trưng bậc cao.</a:t>
            </a:r>
            <a:endParaRPr lang="en-US" sz="950" dirty="0"/>
          </a:p>
        </p:txBody>
      </p:sp>
      <p:sp>
        <p:nvSpPr>
          <p:cNvPr id="20" name="Text 18"/>
          <p:cNvSpPr/>
          <p:nvPr/>
        </p:nvSpPr>
        <p:spPr>
          <a:xfrm>
            <a:off x="6309360" y="4160520"/>
            <a:ext cx="2263140" cy="173736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Cơ chế hoạt động:
</a:t>
            </a:r>
            <a:pPr indent="0" marL="0">
              <a:buNone/>
            </a:pPr>
            <a:r>
              <a:rPr lang="en-US" sz="850" dirty="0">
                <a:solidFill>
                  <a:srgbClr val="FFFFFF"/>
                </a:solidFill>
                <a:latin typeface="Calibri" pitchFamily="34" charset="0"/>
                <a:ea typeface="Calibri" pitchFamily="34" charset="-122"/>
                <a:cs typeface="Calibri" pitchFamily="34" charset="-120"/>
              </a:rPr>
              <a:t>Backpropagation, Hàm kích hoạt phi tuyến (ReLU), CNN, RNN, LSTM.
</a:t>
            </a:r>
            <a:pPr indent="0" marL="0">
              <a:buNone/>
            </a:pPr>
            <a:r>
              <a:rPr lang="en-US" sz="900" b="1" dirty="0">
                <a:solidFill>
                  <a:srgbClr val="10B981"/>
                </a:solidFill>
                <a:latin typeface="Calibri" pitchFamily="34" charset="0"/>
                <a:ea typeface="Calibri" pitchFamily="34" charset="-122"/>
                <a:cs typeface="Calibri" pitchFamily="34" charset="-120"/>
              </a:rPr>
              <a:t>Ví dụ thực tế:
</a:t>
            </a:r>
            <a:pPr indent="0" marL="0">
              <a:buNone/>
            </a:pPr>
            <a:r>
              <a:rPr lang="en-US" sz="850" dirty="0">
                <a:solidFill>
                  <a:srgbClr val="94A3B8"/>
                </a:solidFill>
                <a:latin typeface="Calibri" pitchFamily="34" charset="0"/>
                <a:ea typeface="Calibri" pitchFamily="34" charset="-122"/>
                <a:cs typeface="Calibri" pitchFamily="34" charset="-120"/>
              </a:rPr>
              <a:t>Thị giác máy tính, nhận dạng tiếng nói, phân tích tín hiệu âm thanh.</a:t>
            </a:r>
            <a:endParaRPr lang="en-US" sz="900" dirty="0"/>
          </a:p>
        </p:txBody>
      </p:sp>
      <p:sp>
        <p:nvSpPr>
          <p:cNvPr id="21" name="Shape 19"/>
          <p:cNvSpPr/>
          <p:nvPr/>
        </p:nvSpPr>
        <p:spPr>
          <a:xfrm>
            <a:off x="8892540" y="1828800"/>
            <a:ext cx="2537460" cy="4206240"/>
          </a:xfrm>
          <a:prstGeom prst="roundRect">
            <a:avLst>
              <a:gd name="adj" fmla="val 4324"/>
            </a:avLst>
          </a:prstGeom>
          <a:solidFill>
            <a:srgbClr val="161F33"/>
          </a:solidFill>
          <a:ln w="12700">
            <a:solidFill>
              <a:srgbClr val="2A374F"/>
            </a:solidFill>
            <a:prstDash val="solid"/>
          </a:ln>
        </p:spPr>
      </p:sp>
      <p:sp>
        <p:nvSpPr>
          <p:cNvPr id="22" name="Text 20"/>
          <p:cNvSpPr/>
          <p:nvPr/>
        </p:nvSpPr>
        <p:spPr>
          <a:xfrm>
            <a:off x="9029700" y="1965960"/>
            <a:ext cx="2263140" cy="274320"/>
          </a:xfrm>
          <a:prstGeom prst="rect">
            <a:avLst/>
          </a:prstGeom>
          <a:noFill/>
          <a:ln/>
        </p:spPr>
        <p:txBody>
          <a:bodyPr wrap="square" rtlCol="0" anchor="ctr"/>
          <a:lstStyle/>
          <a:p>
            <a:pPr indent="0" marL="0">
              <a:buNone/>
            </a:pPr>
            <a:r>
              <a:rPr lang="en-US" sz="850" b="1" dirty="0">
                <a:solidFill>
                  <a:srgbClr val="38BDF8"/>
                </a:solidFill>
                <a:latin typeface="Arial" pitchFamily="34" charset="0"/>
                <a:ea typeface="Arial" pitchFamily="34" charset="-122"/>
                <a:cs typeface="Arial" pitchFamily="34" charset="-120"/>
              </a:rPr>
              <a:t>TẦNG 4: MÔ HÌNH TẠO SINH</a:t>
            </a:r>
            <a:endParaRPr lang="en-US" sz="850" dirty="0"/>
          </a:p>
        </p:txBody>
      </p:sp>
      <p:sp>
        <p:nvSpPr>
          <p:cNvPr id="23" name="Text 21"/>
          <p:cNvSpPr/>
          <p:nvPr/>
        </p:nvSpPr>
        <p:spPr>
          <a:xfrm>
            <a:off x="9029700" y="2240280"/>
            <a:ext cx="2263140" cy="5029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AI Tạo Sinh &amp; LLMs</a:t>
            </a:r>
            <a:endParaRPr lang="en-US" sz="1300" dirty="0"/>
          </a:p>
        </p:txBody>
      </p:sp>
      <p:sp>
        <p:nvSpPr>
          <p:cNvPr id="24" name="Text 22"/>
          <p:cNvSpPr/>
          <p:nvPr/>
        </p:nvSpPr>
        <p:spPr>
          <a:xfrm>
            <a:off x="9029700" y="2834640"/>
            <a:ext cx="2263140" cy="12801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Mô hình học phân phối xác suất P(X) để sinh dữ liệu mới (văn bản, mã nguồn, hình ảnh) tương tự phân phối của dữ liệu huấn luyện.</a:t>
            </a:r>
            <a:endParaRPr lang="en-US" sz="950" dirty="0"/>
          </a:p>
        </p:txBody>
      </p:sp>
      <p:sp>
        <p:nvSpPr>
          <p:cNvPr id="25" name="Text 23"/>
          <p:cNvSpPr/>
          <p:nvPr/>
        </p:nvSpPr>
        <p:spPr>
          <a:xfrm>
            <a:off x="9029700" y="4160520"/>
            <a:ext cx="2263140" cy="173736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Cơ chế hoạt động:
</a:t>
            </a:r>
            <a:pPr indent="0" marL="0">
              <a:buNone/>
            </a:pPr>
            <a:r>
              <a:rPr lang="en-US" sz="850" dirty="0">
                <a:solidFill>
                  <a:srgbClr val="FFFFFF"/>
                </a:solidFill>
                <a:latin typeface="Calibri" pitchFamily="34" charset="0"/>
                <a:ea typeface="Calibri" pitchFamily="34" charset="-122"/>
                <a:cs typeface="Calibri" pitchFamily="34" charset="-120"/>
              </a:rPr>
              <a:t>Kiến trúc Transformer, Self-Attention, Diffusion Models, VAE.
</a:t>
            </a:r>
            <a:pPr indent="0" marL="0">
              <a:buNone/>
            </a:pPr>
            <a:r>
              <a:rPr lang="en-US" sz="900" b="1" dirty="0">
                <a:solidFill>
                  <a:srgbClr val="10B981"/>
                </a:solidFill>
                <a:latin typeface="Calibri" pitchFamily="34" charset="0"/>
                <a:ea typeface="Calibri" pitchFamily="34" charset="-122"/>
                <a:cs typeface="Calibri" pitchFamily="34" charset="-120"/>
              </a:rPr>
              <a:t>Ví dụ thực tế:
</a:t>
            </a:r>
            <a:pPr indent="0" marL="0">
              <a:buNone/>
            </a:pPr>
            <a:r>
              <a:rPr lang="en-US" sz="850" dirty="0">
                <a:solidFill>
                  <a:srgbClr val="94A3B8"/>
                </a:solidFill>
                <a:latin typeface="Calibri" pitchFamily="34" charset="0"/>
                <a:ea typeface="Calibri" pitchFamily="34" charset="-122"/>
                <a:cs typeface="Calibri" pitchFamily="34" charset="-120"/>
              </a:rPr>
              <a:t>Claude 3.5, DeepSeek-R1, GPT-4o, GitHub Copilot.</a:t>
            </a:r>
            <a:endParaRPr lang="en-US" sz="900" dirty="0"/>
          </a:p>
        </p:txBody>
      </p:sp>
      <p:sp>
        <p:nvSpPr>
          <p:cNvPr id="26" name="Shape 24"/>
          <p:cNvSpPr/>
          <p:nvPr/>
        </p:nvSpPr>
        <p:spPr>
          <a:xfrm>
            <a:off x="731520" y="6400800"/>
            <a:ext cx="10698480" cy="0"/>
          </a:xfrm>
          <a:prstGeom prst="line">
            <a:avLst/>
          </a:prstGeom>
          <a:noFill/>
          <a:ln w="12700">
            <a:solidFill>
              <a:srgbClr val="2A374F"/>
            </a:solidFill>
            <a:prstDash val="solid"/>
          </a:ln>
        </p:spPr>
      </p:sp>
      <p:sp>
        <p:nvSpPr>
          <p:cNvPr id="27" name="Text 25"/>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28" name="Text 26"/>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29" name="Text 27"/>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3 / 50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04 • Chương 1: Bản Chất Kỹ Thuật Của AI</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Phân Loại Học Máy: Có Giám Sát, Không Giám Sát &amp; Học Tăng Cường</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Ba phương pháp luận học tập cốt lõi quyết định cấu trúc dữ liệu và giải thuật huấn luyện</a:t>
            </a:r>
            <a:endParaRPr lang="en-US" sz="1150" dirty="0"/>
          </a:p>
        </p:txBody>
      </p:sp>
      <p:sp>
        <p:nvSpPr>
          <p:cNvPr id="6" name="Shape 4"/>
          <p:cNvSpPr/>
          <p:nvPr/>
        </p:nvSpPr>
        <p:spPr>
          <a:xfrm>
            <a:off x="731520" y="1828800"/>
            <a:ext cx="2537460" cy="4206240"/>
          </a:xfrm>
          <a:prstGeom prst="roundRect">
            <a:avLst>
              <a:gd name="adj" fmla="val 4324"/>
            </a:avLst>
          </a:prstGeom>
          <a:solidFill>
            <a:srgbClr val="161F33"/>
          </a:solidFill>
          <a:ln w="12700">
            <a:solidFill>
              <a:srgbClr val="2A374F"/>
            </a:solidFill>
            <a:prstDash val="solid"/>
          </a:ln>
        </p:spPr>
      </p:sp>
      <p:sp>
        <p:nvSpPr>
          <p:cNvPr id="7" name="Text 5"/>
          <p:cNvSpPr/>
          <p:nvPr/>
        </p:nvSpPr>
        <p:spPr>
          <a:xfrm>
            <a:off x="868680" y="1965960"/>
            <a:ext cx="2263140" cy="274320"/>
          </a:xfrm>
          <a:prstGeom prst="rect">
            <a:avLst/>
          </a:prstGeom>
          <a:noFill/>
          <a:ln/>
        </p:spPr>
        <p:txBody>
          <a:bodyPr wrap="square" rtlCol="0" anchor="ctr"/>
          <a:lstStyle/>
          <a:p>
            <a:pPr indent="0" marL="0">
              <a:buNone/>
            </a:pPr>
            <a:r>
              <a:rPr lang="en-US" sz="850" b="1" dirty="0">
                <a:solidFill>
                  <a:srgbClr val="38BDF8"/>
                </a:solidFill>
                <a:latin typeface="Arial" pitchFamily="34" charset="0"/>
                <a:ea typeface="Arial" pitchFamily="34" charset="-122"/>
                <a:cs typeface="Arial" pitchFamily="34" charset="-120"/>
              </a:rPr>
              <a:t>PHƯƠNG PHÁP 1</a:t>
            </a:r>
            <a:endParaRPr lang="en-US" sz="850" dirty="0"/>
          </a:p>
        </p:txBody>
      </p:sp>
      <p:sp>
        <p:nvSpPr>
          <p:cNvPr id="8" name="Text 6"/>
          <p:cNvSpPr/>
          <p:nvPr/>
        </p:nvSpPr>
        <p:spPr>
          <a:xfrm>
            <a:off x="868680" y="2240280"/>
            <a:ext cx="2263140" cy="5029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Học Có Giám Sát (Supervised Learning)</a:t>
            </a:r>
            <a:endParaRPr lang="en-US" sz="1300" dirty="0"/>
          </a:p>
        </p:txBody>
      </p:sp>
      <p:sp>
        <p:nvSpPr>
          <p:cNvPr id="9" name="Text 7"/>
          <p:cNvSpPr/>
          <p:nvPr/>
        </p:nvSpPr>
        <p:spPr>
          <a:xfrm>
            <a:off x="868680" y="2834640"/>
            <a:ext cx="2263140" cy="12801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Mô hình học hàm ánh xạ từ không gian đầu vào X sang không gian nhãn Y. Gồm hai bài toán chuẩn: Phân loại (Classification) và Hồi quy (Regression).</a:t>
            </a:r>
            <a:endParaRPr lang="en-US" sz="950" dirty="0"/>
          </a:p>
        </p:txBody>
      </p:sp>
      <p:sp>
        <p:nvSpPr>
          <p:cNvPr id="10" name="Text 8"/>
          <p:cNvSpPr/>
          <p:nvPr/>
        </p:nvSpPr>
        <p:spPr>
          <a:xfrm>
            <a:off x="868680" y="4160520"/>
            <a:ext cx="2263140" cy="173736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Cơ chế hoạt động:
</a:t>
            </a:r>
            <a:pPr indent="0" marL="0">
              <a:buNone/>
            </a:pPr>
            <a:r>
              <a:rPr lang="en-US" sz="850" dirty="0">
                <a:solidFill>
                  <a:srgbClr val="FFFFFF"/>
                </a:solidFill>
                <a:latin typeface="Calibri" pitchFamily="34" charset="0"/>
                <a:ea typeface="Calibri" pitchFamily="34" charset="-122"/>
                <a:cs typeface="Calibri" pitchFamily="34" charset="-120"/>
              </a:rPr>
              <a:t>Tối ưu hóa hàm mất mát (Mean Squared Error, Cross-Entropy).
</a:t>
            </a:r>
            <a:pPr indent="0" marL="0">
              <a:buNone/>
            </a:pPr>
            <a:r>
              <a:rPr lang="en-US" sz="900" b="1" dirty="0">
                <a:solidFill>
                  <a:srgbClr val="10B981"/>
                </a:solidFill>
                <a:latin typeface="Calibri" pitchFamily="34" charset="0"/>
                <a:ea typeface="Calibri" pitchFamily="34" charset="-122"/>
                <a:cs typeface="Calibri" pitchFamily="34" charset="-120"/>
              </a:rPr>
              <a:t>Ví dụ thực tế:
</a:t>
            </a:r>
            <a:pPr indent="0" marL="0">
              <a:buNone/>
            </a:pPr>
            <a:r>
              <a:rPr lang="en-US" sz="850" dirty="0">
                <a:solidFill>
                  <a:srgbClr val="94A3B8"/>
                </a:solidFill>
                <a:latin typeface="Calibri" pitchFamily="34" charset="0"/>
                <a:ea typeface="Calibri" pitchFamily="34" charset="-122"/>
                <a:cs typeface="Calibri" pitchFamily="34" charset="-120"/>
              </a:rPr>
              <a:t>Phát hiện mã độc (Độc hại / An toàn), dự báo tải lưu lượng mạng.</a:t>
            </a:r>
            <a:endParaRPr lang="en-US" sz="900" dirty="0"/>
          </a:p>
        </p:txBody>
      </p:sp>
      <p:sp>
        <p:nvSpPr>
          <p:cNvPr id="11" name="Shape 9"/>
          <p:cNvSpPr/>
          <p:nvPr/>
        </p:nvSpPr>
        <p:spPr>
          <a:xfrm>
            <a:off x="3451860" y="1828800"/>
            <a:ext cx="2537460" cy="4206240"/>
          </a:xfrm>
          <a:prstGeom prst="roundRect">
            <a:avLst>
              <a:gd name="adj" fmla="val 4324"/>
            </a:avLst>
          </a:prstGeom>
          <a:solidFill>
            <a:srgbClr val="161F33"/>
          </a:solidFill>
          <a:ln w="12700">
            <a:solidFill>
              <a:srgbClr val="2A374F"/>
            </a:solidFill>
            <a:prstDash val="solid"/>
          </a:ln>
        </p:spPr>
      </p:sp>
      <p:sp>
        <p:nvSpPr>
          <p:cNvPr id="12" name="Text 10"/>
          <p:cNvSpPr/>
          <p:nvPr/>
        </p:nvSpPr>
        <p:spPr>
          <a:xfrm>
            <a:off x="3589020" y="1965960"/>
            <a:ext cx="2263140" cy="274320"/>
          </a:xfrm>
          <a:prstGeom prst="rect">
            <a:avLst/>
          </a:prstGeom>
          <a:noFill/>
          <a:ln/>
        </p:spPr>
        <p:txBody>
          <a:bodyPr wrap="square" rtlCol="0" anchor="ctr"/>
          <a:lstStyle/>
          <a:p>
            <a:pPr indent="0" marL="0">
              <a:buNone/>
            </a:pPr>
            <a:r>
              <a:rPr lang="en-US" sz="850" b="1" dirty="0">
                <a:solidFill>
                  <a:srgbClr val="38BDF8"/>
                </a:solidFill>
                <a:latin typeface="Arial" pitchFamily="34" charset="0"/>
                <a:ea typeface="Arial" pitchFamily="34" charset="-122"/>
                <a:cs typeface="Arial" pitchFamily="34" charset="-120"/>
              </a:rPr>
              <a:t>PHƯƠNG PHÁP 2</a:t>
            </a:r>
            <a:endParaRPr lang="en-US" sz="850" dirty="0"/>
          </a:p>
        </p:txBody>
      </p:sp>
      <p:sp>
        <p:nvSpPr>
          <p:cNvPr id="13" name="Text 11"/>
          <p:cNvSpPr/>
          <p:nvPr/>
        </p:nvSpPr>
        <p:spPr>
          <a:xfrm>
            <a:off x="3589020" y="2240280"/>
            <a:ext cx="2263140" cy="5029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Học Không Giám Sát (Unsupervised Learning)</a:t>
            </a:r>
            <a:endParaRPr lang="en-US" sz="1300" dirty="0"/>
          </a:p>
        </p:txBody>
      </p:sp>
      <p:sp>
        <p:nvSpPr>
          <p:cNvPr id="14" name="Text 12"/>
          <p:cNvSpPr/>
          <p:nvPr/>
        </p:nvSpPr>
        <p:spPr>
          <a:xfrm>
            <a:off x="3589020" y="2834640"/>
            <a:ext cx="2263140" cy="12801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Mô hình tự động phân tích cấu trúc tiềm ẩn, mật độ xác suất hoặc tương quan hình học giữa các điểm dữ liệu trong không gian nhiều chiều.</a:t>
            </a:r>
            <a:endParaRPr lang="en-US" sz="950" dirty="0"/>
          </a:p>
        </p:txBody>
      </p:sp>
      <p:sp>
        <p:nvSpPr>
          <p:cNvPr id="15" name="Text 13"/>
          <p:cNvSpPr/>
          <p:nvPr/>
        </p:nvSpPr>
        <p:spPr>
          <a:xfrm>
            <a:off x="3589020" y="4160520"/>
            <a:ext cx="2263140" cy="173736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Cơ chế hoạt động:
</a:t>
            </a:r>
            <a:pPr indent="0" marL="0">
              <a:buNone/>
            </a:pPr>
            <a:r>
              <a:rPr lang="en-US" sz="850" dirty="0">
                <a:solidFill>
                  <a:srgbClr val="FFFFFF"/>
                </a:solidFill>
                <a:latin typeface="Calibri" pitchFamily="34" charset="0"/>
                <a:ea typeface="Calibri" pitchFamily="34" charset="-122"/>
                <a:cs typeface="Calibri" pitchFamily="34" charset="-120"/>
              </a:rPr>
              <a:t>Khoảng cách Euclidean/Cosine, Phân cụm K-Means, Giảm chiều dữ liệu PCA/t-SNE.
</a:t>
            </a:r>
            <a:pPr indent="0" marL="0">
              <a:buNone/>
            </a:pPr>
            <a:r>
              <a:rPr lang="en-US" sz="900" b="1" dirty="0">
                <a:solidFill>
                  <a:srgbClr val="10B981"/>
                </a:solidFill>
                <a:latin typeface="Calibri" pitchFamily="34" charset="0"/>
                <a:ea typeface="Calibri" pitchFamily="34" charset="-122"/>
                <a:cs typeface="Calibri" pitchFamily="34" charset="-120"/>
              </a:rPr>
              <a:t>Ví dụ thực tế:
</a:t>
            </a:r>
            <a:pPr indent="0" marL="0">
              <a:buNone/>
            </a:pPr>
            <a:r>
              <a:rPr lang="en-US" sz="850" dirty="0">
                <a:solidFill>
                  <a:srgbClr val="94A3B8"/>
                </a:solidFill>
                <a:latin typeface="Calibri" pitchFamily="34" charset="0"/>
                <a:ea typeface="Calibri" pitchFamily="34" charset="-122"/>
                <a:cs typeface="Calibri" pitchFamily="34" charset="-120"/>
              </a:rPr>
              <a:t>Phát hiện hành vi bất thường trong lưu lượng mạng, phân nhóm người dùng.</a:t>
            </a:r>
            <a:endParaRPr lang="en-US" sz="900" dirty="0"/>
          </a:p>
        </p:txBody>
      </p:sp>
      <p:sp>
        <p:nvSpPr>
          <p:cNvPr id="16" name="Shape 14"/>
          <p:cNvSpPr/>
          <p:nvPr/>
        </p:nvSpPr>
        <p:spPr>
          <a:xfrm>
            <a:off x="6172200" y="1828800"/>
            <a:ext cx="2537460" cy="4206240"/>
          </a:xfrm>
          <a:prstGeom prst="roundRect">
            <a:avLst>
              <a:gd name="adj" fmla="val 4324"/>
            </a:avLst>
          </a:prstGeom>
          <a:solidFill>
            <a:srgbClr val="161F33"/>
          </a:solidFill>
          <a:ln w="12700">
            <a:solidFill>
              <a:srgbClr val="2A374F"/>
            </a:solidFill>
            <a:prstDash val="solid"/>
          </a:ln>
        </p:spPr>
      </p:sp>
      <p:sp>
        <p:nvSpPr>
          <p:cNvPr id="17" name="Text 15"/>
          <p:cNvSpPr/>
          <p:nvPr/>
        </p:nvSpPr>
        <p:spPr>
          <a:xfrm>
            <a:off x="6309360" y="1965960"/>
            <a:ext cx="2263140" cy="274320"/>
          </a:xfrm>
          <a:prstGeom prst="rect">
            <a:avLst/>
          </a:prstGeom>
          <a:noFill/>
          <a:ln/>
        </p:spPr>
        <p:txBody>
          <a:bodyPr wrap="square" rtlCol="0" anchor="ctr"/>
          <a:lstStyle/>
          <a:p>
            <a:pPr indent="0" marL="0">
              <a:buNone/>
            </a:pPr>
            <a:r>
              <a:rPr lang="en-US" sz="850" b="1" dirty="0">
                <a:solidFill>
                  <a:srgbClr val="38BDF8"/>
                </a:solidFill>
                <a:latin typeface="Arial" pitchFamily="34" charset="0"/>
                <a:ea typeface="Arial" pitchFamily="34" charset="-122"/>
                <a:cs typeface="Arial" pitchFamily="34" charset="-120"/>
              </a:rPr>
              <a:t>PHƯƠNG PHÁP 3</a:t>
            </a:r>
            <a:endParaRPr lang="en-US" sz="850" dirty="0"/>
          </a:p>
        </p:txBody>
      </p:sp>
      <p:sp>
        <p:nvSpPr>
          <p:cNvPr id="18" name="Text 16"/>
          <p:cNvSpPr/>
          <p:nvPr/>
        </p:nvSpPr>
        <p:spPr>
          <a:xfrm>
            <a:off x="6309360" y="2240280"/>
            <a:ext cx="2263140" cy="5029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Học Tăng Cường (Reinforcement Learning)</a:t>
            </a:r>
            <a:endParaRPr lang="en-US" sz="1300" dirty="0"/>
          </a:p>
        </p:txBody>
      </p:sp>
      <p:sp>
        <p:nvSpPr>
          <p:cNvPr id="19" name="Text 17"/>
          <p:cNvSpPr/>
          <p:nvPr/>
        </p:nvSpPr>
        <p:spPr>
          <a:xfrm>
            <a:off x="6309360" y="2834640"/>
            <a:ext cx="2263140" cy="12801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Tác tử (Agent) tối ưu hóa chiến lược hành động π(a|s) thông qua tương tác với môi trường để tối đa hóa phần thưởng kỳ vọng tích lũy.</a:t>
            </a:r>
            <a:endParaRPr lang="en-US" sz="950" dirty="0"/>
          </a:p>
        </p:txBody>
      </p:sp>
      <p:sp>
        <p:nvSpPr>
          <p:cNvPr id="20" name="Text 18"/>
          <p:cNvSpPr/>
          <p:nvPr/>
        </p:nvSpPr>
        <p:spPr>
          <a:xfrm>
            <a:off x="6309360" y="4160520"/>
            <a:ext cx="2263140" cy="173736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Cơ chế hoạt động:
</a:t>
            </a:r>
            <a:pPr indent="0" marL="0">
              <a:buNone/>
            </a:pPr>
            <a:r>
              <a:rPr lang="en-US" sz="850" dirty="0">
                <a:solidFill>
                  <a:srgbClr val="FFFFFF"/>
                </a:solidFill>
                <a:latin typeface="Calibri" pitchFamily="34" charset="0"/>
                <a:ea typeface="Calibri" pitchFamily="34" charset="-122"/>
                <a:cs typeface="Calibri" pitchFamily="34" charset="-120"/>
              </a:rPr>
              <a:t>Markov Decision Process (MDP), Bellman Equation, Q-Learning, Policy Gradient.
</a:t>
            </a:r>
            <a:pPr indent="0" marL="0">
              <a:buNone/>
            </a:pPr>
            <a:r>
              <a:rPr lang="en-US" sz="900" b="1" dirty="0">
                <a:solidFill>
                  <a:srgbClr val="10B981"/>
                </a:solidFill>
                <a:latin typeface="Calibri" pitchFamily="34" charset="0"/>
                <a:ea typeface="Calibri" pitchFamily="34" charset="-122"/>
                <a:cs typeface="Calibri" pitchFamily="34" charset="-120"/>
              </a:rPr>
              <a:t>Ví dụ thực tế:
</a:t>
            </a:r>
            <a:pPr indent="0" marL="0">
              <a:buNone/>
            </a:pPr>
            <a:r>
              <a:rPr lang="en-US" sz="850" dirty="0">
                <a:solidFill>
                  <a:srgbClr val="94A3B8"/>
                </a:solidFill>
                <a:latin typeface="Calibri" pitchFamily="34" charset="0"/>
                <a:ea typeface="Calibri" pitchFamily="34" charset="-122"/>
                <a:cs typeface="Calibri" pitchFamily="34" charset="-120"/>
              </a:rPr>
              <a:t>Điều khiển robot tự hành, tối ưu hóa định tuyến động trong mạng viễn thông.</a:t>
            </a:r>
            <a:endParaRPr lang="en-US" sz="900" dirty="0"/>
          </a:p>
        </p:txBody>
      </p:sp>
      <p:sp>
        <p:nvSpPr>
          <p:cNvPr id="21" name="Shape 19"/>
          <p:cNvSpPr/>
          <p:nvPr/>
        </p:nvSpPr>
        <p:spPr>
          <a:xfrm>
            <a:off x="8892540" y="1828800"/>
            <a:ext cx="2537460" cy="4206240"/>
          </a:xfrm>
          <a:prstGeom prst="roundRect">
            <a:avLst>
              <a:gd name="adj" fmla="val 4324"/>
            </a:avLst>
          </a:prstGeom>
          <a:solidFill>
            <a:srgbClr val="161F33"/>
          </a:solidFill>
          <a:ln w="12700">
            <a:solidFill>
              <a:srgbClr val="2A374F"/>
            </a:solidFill>
            <a:prstDash val="solid"/>
          </a:ln>
        </p:spPr>
      </p:sp>
      <p:sp>
        <p:nvSpPr>
          <p:cNvPr id="22" name="Text 20"/>
          <p:cNvSpPr/>
          <p:nvPr/>
        </p:nvSpPr>
        <p:spPr>
          <a:xfrm>
            <a:off x="9029700" y="1965960"/>
            <a:ext cx="2263140" cy="274320"/>
          </a:xfrm>
          <a:prstGeom prst="rect">
            <a:avLst/>
          </a:prstGeom>
          <a:noFill/>
          <a:ln/>
        </p:spPr>
        <p:txBody>
          <a:bodyPr wrap="square" rtlCol="0" anchor="ctr"/>
          <a:lstStyle/>
          <a:p>
            <a:pPr indent="0" marL="0">
              <a:buNone/>
            </a:pPr>
            <a:r>
              <a:rPr lang="en-US" sz="850" b="1" dirty="0">
                <a:solidFill>
                  <a:srgbClr val="38BDF8"/>
                </a:solidFill>
                <a:latin typeface="Arial" pitchFamily="34" charset="0"/>
                <a:ea typeface="Arial" pitchFamily="34" charset="-122"/>
                <a:cs typeface="Arial" pitchFamily="34" charset="-120"/>
              </a:rPr>
              <a:t>KỸ THUẬT QUAN TRỌNG</a:t>
            </a:r>
            <a:endParaRPr lang="en-US" sz="850" dirty="0"/>
          </a:p>
        </p:txBody>
      </p:sp>
      <p:sp>
        <p:nvSpPr>
          <p:cNvPr id="23" name="Text 21"/>
          <p:cNvSpPr/>
          <p:nvPr/>
        </p:nvSpPr>
        <p:spPr>
          <a:xfrm>
            <a:off x="9029700" y="2240280"/>
            <a:ext cx="2263140" cy="5029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RLHF: Tinh Chỉnh Mô Hình Ngôn Ngữ</a:t>
            </a:r>
            <a:endParaRPr lang="en-US" sz="1300" dirty="0"/>
          </a:p>
        </p:txBody>
      </p:sp>
      <p:sp>
        <p:nvSpPr>
          <p:cNvPr id="24" name="Text 22"/>
          <p:cNvSpPr/>
          <p:nvPr/>
        </p:nvSpPr>
        <p:spPr>
          <a:xfrm>
            <a:off x="9029700" y="2834640"/>
            <a:ext cx="2263140" cy="12801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Kỹ thuật sử dụng mô hình chấm điểm (Reward Model) dựa trên đánh giá của con người để định hướng hành vi mô hình ngôn ngữ lớn.</a:t>
            </a:r>
            <a:endParaRPr lang="en-US" sz="950" dirty="0"/>
          </a:p>
        </p:txBody>
      </p:sp>
      <p:sp>
        <p:nvSpPr>
          <p:cNvPr id="25" name="Text 23"/>
          <p:cNvSpPr/>
          <p:nvPr/>
        </p:nvSpPr>
        <p:spPr>
          <a:xfrm>
            <a:off x="9029700" y="4160520"/>
            <a:ext cx="2263140" cy="173736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Cơ chế hoạt động:
</a:t>
            </a:r>
            <a:pPr indent="0" marL="0">
              <a:buNone/>
            </a:pPr>
            <a:r>
              <a:rPr lang="en-US" sz="850" dirty="0">
                <a:solidFill>
                  <a:srgbClr val="FFFFFF"/>
                </a:solidFill>
                <a:latin typeface="Calibri" pitchFamily="34" charset="0"/>
                <a:ea typeface="Calibri" pitchFamily="34" charset="-122"/>
                <a:cs typeface="Calibri" pitchFamily="34" charset="-120"/>
              </a:rPr>
              <a:t>Thuật toán tối ưu chính sách PPO (Proximal Policy Optimization).
</a:t>
            </a:r>
            <a:pPr indent="0" marL="0">
              <a:buNone/>
            </a:pPr>
            <a:r>
              <a:rPr lang="en-US" sz="900" b="1" dirty="0">
                <a:solidFill>
                  <a:srgbClr val="10B981"/>
                </a:solidFill>
                <a:latin typeface="Calibri" pitchFamily="34" charset="0"/>
                <a:ea typeface="Calibri" pitchFamily="34" charset="-122"/>
                <a:cs typeface="Calibri" pitchFamily="34" charset="-120"/>
              </a:rPr>
              <a:t>Ví dụ thực tế:
</a:t>
            </a:r>
            <a:pPr indent="0" marL="0">
              <a:buNone/>
            </a:pPr>
            <a:r>
              <a:rPr lang="en-US" sz="850" dirty="0">
                <a:solidFill>
                  <a:srgbClr val="94A3B8"/>
                </a:solidFill>
                <a:latin typeface="Calibri" pitchFamily="34" charset="0"/>
                <a:ea typeface="Calibri" pitchFamily="34" charset="-122"/>
                <a:cs typeface="Calibri" pitchFamily="34" charset="-120"/>
              </a:rPr>
              <a:t>Định hình tính chính xác, tính an toàn và giảm thiểu độc hại trong các LLM hiện đại.</a:t>
            </a:r>
            <a:endParaRPr lang="en-US" sz="900" dirty="0"/>
          </a:p>
        </p:txBody>
      </p:sp>
      <p:sp>
        <p:nvSpPr>
          <p:cNvPr id="26" name="Shape 24"/>
          <p:cNvSpPr/>
          <p:nvPr/>
        </p:nvSpPr>
        <p:spPr>
          <a:xfrm>
            <a:off x="731520" y="6400800"/>
            <a:ext cx="10698480" cy="0"/>
          </a:xfrm>
          <a:prstGeom prst="line">
            <a:avLst/>
          </a:prstGeom>
          <a:noFill/>
          <a:ln w="12700">
            <a:solidFill>
              <a:srgbClr val="2A374F"/>
            </a:solidFill>
            <a:prstDash val="solid"/>
          </a:ln>
        </p:spPr>
      </p:sp>
      <p:sp>
        <p:nvSpPr>
          <p:cNvPr id="27" name="Text 25"/>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28" name="Text 26"/>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29" name="Text 27"/>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4 / 50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05 • Chương 1: Bản Chất Kỹ Thuật Của AI</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Deep Learning: Cấu Trúc Nơ-ron Nhân Tạo &amp; Thuật Toán Lan Truyền Ngược</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Cơ chế toán học cơ bản: Phép nhân ma trận, hàm kích hoạt phi tuyến và đạo hàm theo quy tắc chuỗi</a:t>
            </a:r>
            <a:endParaRPr lang="en-US" sz="1150" dirty="0"/>
          </a:p>
        </p:txBody>
      </p:sp>
      <p:sp>
        <p:nvSpPr>
          <p:cNvPr id="6" name="Shape 4"/>
          <p:cNvSpPr/>
          <p:nvPr/>
        </p:nvSpPr>
        <p:spPr>
          <a:xfrm>
            <a:off x="731520" y="1828800"/>
            <a:ext cx="2537460" cy="3474720"/>
          </a:xfrm>
          <a:prstGeom prst="roundRect">
            <a:avLst>
              <a:gd name="adj" fmla="val 3604"/>
            </a:avLst>
          </a:prstGeom>
          <a:solidFill>
            <a:srgbClr val="161F33"/>
          </a:solidFill>
          <a:ln w="12700">
            <a:solidFill>
              <a:srgbClr val="2A374F"/>
            </a:solidFill>
            <a:prstDash val="solid"/>
          </a:ln>
        </p:spPr>
      </p:sp>
      <p:sp>
        <p:nvSpPr>
          <p:cNvPr id="7" name="Text 5"/>
          <p:cNvSpPr/>
          <p:nvPr/>
        </p:nvSpPr>
        <p:spPr>
          <a:xfrm>
            <a:off x="868680" y="2011680"/>
            <a:ext cx="226314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Bước undefined</a:t>
            </a:r>
            <a:endParaRPr lang="en-US" sz="1000" dirty="0"/>
          </a:p>
        </p:txBody>
      </p:sp>
      <p:sp>
        <p:nvSpPr>
          <p:cNvPr id="8" name="Text 6"/>
          <p:cNvSpPr/>
          <p:nvPr/>
        </p:nvSpPr>
        <p:spPr>
          <a:xfrm>
            <a:off x="868680" y="2377440"/>
            <a:ext cx="2263140" cy="5943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1. Véc-tơ đầu vào và Ma trận trọng số (W · X)</a:t>
            </a:r>
            <a:endParaRPr lang="en-US" sz="1200" dirty="0"/>
          </a:p>
        </p:txBody>
      </p:sp>
      <p:sp>
        <p:nvSpPr>
          <p:cNvPr id="9" name="Text 7"/>
          <p:cNvSpPr/>
          <p:nvPr/>
        </p:nvSpPr>
        <p:spPr>
          <a:xfrm>
            <a:off x="868680" y="3017520"/>
            <a:ext cx="2263140" cy="20116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Nơ-ron nhận véc-tơ X ∈ ℝⁿ, thực hiện phép nhân với ma trận trọng số W và cộng thêm véc-tơ độ chệch b: z = W · X + b.</a:t>
            </a:r>
            <a:endParaRPr lang="en-US" sz="950" dirty="0"/>
          </a:p>
        </p:txBody>
      </p:sp>
      <p:sp>
        <p:nvSpPr>
          <p:cNvPr id="10" name="Shape 8"/>
          <p:cNvSpPr/>
          <p:nvPr/>
        </p:nvSpPr>
        <p:spPr>
          <a:xfrm>
            <a:off x="3451860" y="1828800"/>
            <a:ext cx="2537460" cy="3474720"/>
          </a:xfrm>
          <a:prstGeom prst="roundRect">
            <a:avLst>
              <a:gd name="adj" fmla="val 3604"/>
            </a:avLst>
          </a:prstGeom>
          <a:solidFill>
            <a:srgbClr val="161F33"/>
          </a:solidFill>
          <a:ln w="12700">
            <a:solidFill>
              <a:srgbClr val="2A374F"/>
            </a:solidFill>
            <a:prstDash val="solid"/>
          </a:ln>
        </p:spPr>
      </p:sp>
      <p:sp>
        <p:nvSpPr>
          <p:cNvPr id="11" name="Text 9"/>
          <p:cNvSpPr/>
          <p:nvPr/>
        </p:nvSpPr>
        <p:spPr>
          <a:xfrm>
            <a:off x="3589020" y="2011680"/>
            <a:ext cx="226314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Bước undefined</a:t>
            </a:r>
            <a:endParaRPr lang="en-US" sz="1000" dirty="0"/>
          </a:p>
        </p:txBody>
      </p:sp>
      <p:sp>
        <p:nvSpPr>
          <p:cNvPr id="12" name="Text 10"/>
          <p:cNvSpPr/>
          <p:nvPr/>
        </p:nvSpPr>
        <p:spPr>
          <a:xfrm>
            <a:off x="3589020" y="2377440"/>
            <a:ext cx="2263140" cy="5943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2. Hàm kích hoạt phi tuyến (Activation Function)</a:t>
            </a:r>
            <a:endParaRPr lang="en-US" sz="1200" dirty="0"/>
          </a:p>
        </p:txBody>
      </p:sp>
      <p:sp>
        <p:nvSpPr>
          <p:cNvPr id="13" name="Text 11"/>
          <p:cNvSpPr/>
          <p:nvPr/>
        </p:nvSpPr>
        <p:spPr>
          <a:xfrm>
            <a:off x="3589020" y="3017520"/>
            <a:ext cx="2263140" cy="20116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Giá trị z được đưa qua hàm kích hoạt σ(z) như ReLU(z) = max(0, z) nhằm đưa tính phi tuyến vào mạng, cho phép mô hình học các ranh giới quyết định phức tạp.</a:t>
            </a:r>
            <a:endParaRPr lang="en-US" sz="950" dirty="0"/>
          </a:p>
        </p:txBody>
      </p:sp>
      <p:sp>
        <p:nvSpPr>
          <p:cNvPr id="14" name="Shape 12"/>
          <p:cNvSpPr/>
          <p:nvPr/>
        </p:nvSpPr>
        <p:spPr>
          <a:xfrm>
            <a:off x="6172200" y="1828800"/>
            <a:ext cx="2537460" cy="3474720"/>
          </a:xfrm>
          <a:prstGeom prst="roundRect">
            <a:avLst>
              <a:gd name="adj" fmla="val 3604"/>
            </a:avLst>
          </a:prstGeom>
          <a:solidFill>
            <a:srgbClr val="161F33"/>
          </a:solidFill>
          <a:ln w="12700">
            <a:solidFill>
              <a:srgbClr val="2A374F"/>
            </a:solidFill>
            <a:prstDash val="solid"/>
          </a:ln>
        </p:spPr>
      </p:sp>
      <p:sp>
        <p:nvSpPr>
          <p:cNvPr id="15" name="Text 13"/>
          <p:cNvSpPr/>
          <p:nvPr/>
        </p:nvSpPr>
        <p:spPr>
          <a:xfrm>
            <a:off x="6309360" y="2011680"/>
            <a:ext cx="226314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Bước undefined</a:t>
            </a:r>
            <a:endParaRPr lang="en-US" sz="1000" dirty="0"/>
          </a:p>
        </p:txBody>
      </p:sp>
      <p:sp>
        <p:nvSpPr>
          <p:cNvPr id="16" name="Text 14"/>
          <p:cNvSpPr/>
          <p:nvPr/>
        </p:nvSpPr>
        <p:spPr>
          <a:xfrm>
            <a:off x="6309360" y="2377440"/>
            <a:ext cx="2263140" cy="5943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3. Đánh giá hàm mất mát (Loss Function Evaluation)</a:t>
            </a:r>
            <a:endParaRPr lang="en-US" sz="1200" dirty="0"/>
          </a:p>
        </p:txBody>
      </p:sp>
      <p:sp>
        <p:nvSpPr>
          <p:cNvPr id="17" name="Text 15"/>
          <p:cNvSpPr/>
          <p:nvPr/>
        </p:nvSpPr>
        <p:spPr>
          <a:xfrm>
            <a:off x="6309360" y="3017520"/>
            <a:ext cx="2263140" cy="20116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Hàm mất mát L(ŷ, y) đo lường sai số giữa đầu ra dự đoán ŷ và nhãn thực tế y (ví dụ: Binary Cross-Entropy trong bài toán phân loại).</a:t>
            </a:r>
            <a:endParaRPr lang="en-US" sz="950" dirty="0"/>
          </a:p>
        </p:txBody>
      </p:sp>
      <p:sp>
        <p:nvSpPr>
          <p:cNvPr id="18" name="Shape 16"/>
          <p:cNvSpPr/>
          <p:nvPr/>
        </p:nvSpPr>
        <p:spPr>
          <a:xfrm>
            <a:off x="8892540" y="1828800"/>
            <a:ext cx="2537460" cy="3474720"/>
          </a:xfrm>
          <a:prstGeom prst="roundRect">
            <a:avLst>
              <a:gd name="adj" fmla="val 3604"/>
            </a:avLst>
          </a:prstGeom>
          <a:solidFill>
            <a:srgbClr val="161F33"/>
          </a:solidFill>
          <a:ln w="12700">
            <a:solidFill>
              <a:srgbClr val="2A374F"/>
            </a:solidFill>
            <a:prstDash val="solid"/>
          </a:ln>
        </p:spPr>
      </p:sp>
      <p:sp>
        <p:nvSpPr>
          <p:cNvPr id="19" name="Text 17"/>
          <p:cNvSpPr/>
          <p:nvPr/>
        </p:nvSpPr>
        <p:spPr>
          <a:xfrm>
            <a:off x="9029700" y="2011680"/>
            <a:ext cx="226314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Bước undefined</a:t>
            </a:r>
            <a:endParaRPr lang="en-US" sz="1000" dirty="0"/>
          </a:p>
        </p:txBody>
      </p:sp>
      <p:sp>
        <p:nvSpPr>
          <p:cNvPr id="20" name="Text 18"/>
          <p:cNvSpPr/>
          <p:nvPr/>
        </p:nvSpPr>
        <p:spPr>
          <a:xfrm>
            <a:off x="9029700" y="2377440"/>
            <a:ext cx="2263140" cy="5943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4. Thuật toán Lan truyền ngược (Backpropagation)</a:t>
            </a:r>
            <a:endParaRPr lang="en-US" sz="1200" dirty="0"/>
          </a:p>
        </p:txBody>
      </p:sp>
      <p:sp>
        <p:nvSpPr>
          <p:cNvPr id="21" name="Text 19"/>
          <p:cNvSpPr/>
          <p:nvPr/>
        </p:nvSpPr>
        <p:spPr>
          <a:xfrm>
            <a:off x="9029700" y="3017520"/>
            <a:ext cx="2263140" cy="20116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Tính toán gradient sai số ∂L/∂W bằng quy tắc chuỗi (Chain Rule) từ tầng đầu ra ngược về tầng đầu vào để cập nhật trọng số: W ← W - η · ∇W.</a:t>
            </a:r>
            <a:endParaRPr lang="en-US" sz="950" dirty="0"/>
          </a:p>
        </p:txBody>
      </p:sp>
      <p:sp>
        <p:nvSpPr>
          <p:cNvPr id="22" name="Shape 20"/>
          <p:cNvSpPr/>
          <p:nvPr/>
        </p:nvSpPr>
        <p:spPr>
          <a:xfrm>
            <a:off x="731520" y="5486400"/>
            <a:ext cx="10698480" cy="640080"/>
          </a:xfrm>
          <a:prstGeom prst="roundRect">
            <a:avLst>
              <a:gd name="adj" fmla="val 11429"/>
            </a:avLst>
          </a:prstGeom>
          <a:solidFill>
            <a:srgbClr val="111F38"/>
          </a:solidFill>
          <a:ln w="12700">
            <a:solidFill>
              <a:srgbClr val="38BDF8"/>
            </a:solidFill>
            <a:prstDash val="solid"/>
          </a:ln>
        </p:spPr>
      </p:sp>
      <p:sp>
        <p:nvSpPr>
          <p:cNvPr id="23" name="Text 21"/>
          <p:cNvSpPr/>
          <p:nvPr/>
        </p:nvSpPr>
        <p:spPr>
          <a:xfrm>
            <a:off x="914400" y="5486400"/>
            <a:ext cx="10332720" cy="640080"/>
          </a:xfrm>
          <a:prstGeom prst="rect">
            <a:avLst/>
          </a:prstGeom>
          <a:noFill/>
          <a:ln/>
        </p:spPr>
        <p:txBody>
          <a:bodyPr wrap="square" rtlCol="0" anchor="ctr"/>
          <a:lstStyle/>
          <a:p>
            <a:pPr indent="0" marL="0">
              <a:buNone/>
            </a:pPr>
            <a:r>
              <a:rPr lang="en-US" sz="1000" i="1" dirty="0">
                <a:solidFill>
                  <a:srgbClr val="38BDF8"/>
                </a:solidFill>
                <a:latin typeface="Calibri" pitchFamily="34" charset="0"/>
                <a:ea typeface="Calibri" pitchFamily="34" charset="-122"/>
                <a:cs typeface="Calibri" pitchFamily="34" charset="-120"/>
              </a:rPr>
              <a:t>📌 Kết luận kiến trúc: Công thức nơ-ron tổng quát: ŷ = σ(W · X + b). Thuật toán Backpropagation bản chất là ứng dụng trực tiếp của phép tính vi phân đa biến trong giải tích toán học.</a:t>
            </a:r>
            <a:endParaRPr lang="en-US" sz="1000" dirty="0"/>
          </a:p>
        </p:txBody>
      </p:sp>
      <p:sp>
        <p:nvSpPr>
          <p:cNvPr id="24" name="Shape 22"/>
          <p:cNvSpPr/>
          <p:nvPr/>
        </p:nvSpPr>
        <p:spPr>
          <a:xfrm>
            <a:off x="731520" y="6400800"/>
            <a:ext cx="10698480" cy="0"/>
          </a:xfrm>
          <a:prstGeom prst="line">
            <a:avLst/>
          </a:prstGeom>
          <a:noFill/>
          <a:ln w="12700">
            <a:solidFill>
              <a:srgbClr val="2A374F"/>
            </a:solidFill>
            <a:prstDash val="solid"/>
          </a:ln>
        </p:spPr>
      </p:sp>
      <p:sp>
        <p:nvSpPr>
          <p:cNvPr id="25" name="Text 23"/>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26" name="Text 24"/>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27" name="Text 2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5 / 50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06 • Chương 1: Bản Chất Kỹ Thuật Của AI</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Kiến Trúc Transformer: Cơ Chế Tự Chú Ý (Self-Attention Mechanism)</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Đột phá thay thế hoàn toàn mạng tuần tự (RNN/LSTM), cho phép tính toán song song hóa trên quy mô lớn</a:t>
            </a:r>
            <a:endParaRPr lang="en-US" sz="1150" dirty="0"/>
          </a:p>
        </p:txBody>
      </p:sp>
      <p:sp>
        <p:nvSpPr>
          <p:cNvPr id="6" name="Shape 4"/>
          <p:cNvSpPr/>
          <p:nvPr/>
        </p:nvSpPr>
        <p:spPr>
          <a:xfrm>
            <a:off x="731520" y="1828800"/>
            <a:ext cx="2537460" cy="3474720"/>
          </a:xfrm>
          <a:prstGeom prst="roundRect">
            <a:avLst>
              <a:gd name="adj" fmla="val 3604"/>
            </a:avLst>
          </a:prstGeom>
          <a:solidFill>
            <a:srgbClr val="161F33"/>
          </a:solidFill>
          <a:ln w="12700">
            <a:solidFill>
              <a:srgbClr val="2A374F"/>
            </a:solidFill>
            <a:prstDash val="solid"/>
          </a:ln>
        </p:spPr>
      </p:sp>
      <p:sp>
        <p:nvSpPr>
          <p:cNvPr id="7" name="Text 5"/>
          <p:cNvSpPr/>
          <p:nvPr/>
        </p:nvSpPr>
        <p:spPr>
          <a:xfrm>
            <a:off x="868680" y="2011680"/>
            <a:ext cx="226314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Bước undefined</a:t>
            </a:r>
            <a:endParaRPr lang="en-US" sz="1000" dirty="0"/>
          </a:p>
        </p:txBody>
      </p:sp>
      <p:sp>
        <p:nvSpPr>
          <p:cNvPr id="8" name="Text 6"/>
          <p:cNvSpPr/>
          <p:nvPr/>
        </p:nvSpPr>
        <p:spPr>
          <a:xfrm>
            <a:off x="868680" y="2377440"/>
            <a:ext cx="2263140" cy="5943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1. Hạn chế của kiến trúc tuần tự cổ điển (RNN/LSTM)</a:t>
            </a:r>
            <a:endParaRPr lang="en-US" sz="1200" dirty="0"/>
          </a:p>
        </p:txBody>
      </p:sp>
      <p:sp>
        <p:nvSpPr>
          <p:cNvPr id="9" name="Text 7"/>
          <p:cNvSpPr/>
          <p:nvPr/>
        </p:nvSpPr>
        <p:spPr>
          <a:xfrm>
            <a:off x="868680" y="3017520"/>
            <a:ext cx="2263140" cy="20116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Xử lý dữ liệu tuần tự từng bước thời gian O(T), không thể song song hóa trên phần cứng GPU và gặp hiện tượng tiêu biến gradient (Vanishing Gradient) trên chuỗi dài.</a:t>
            </a:r>
            <a:endParaRPr lang="en-US" sz="950" dirty="0"/>
          </a:p>
        </p:txBody>
      </p:sp>
      <p:sp>
        <p:nvSpPr>
          <p:cNvPr id="10" name="Shape 8"/>
          <p:cNvSpPr/>
          <p:nvPr/>
        </p:nvSpPr>
        <p:spPr>
          <a:xfrm>
            <a:off x="3451860" y="1828800"/>
            <a:ext cx="2537460" cy="3474720"/>
          </a:xfrm>
          <a:prstGeom prst="roundRect">
            <a:avLst>
              <a:gd name="adj" fmla="val 3604"/>
            </a:avLst>
          </a:prstGeom>
          <a:solidFill>
            <a:srgbClr val="161F33"/>
          </a:solidFill>
          <a:ln w="12700">
            <a:solidFill>
              <a:srgbClr val="2A374F"/>
            </a:solidFill>
            <a:prstDash val="solid"/>
          </a:ln>
        </p:spPr>
      </p:sp>
      <p:sp>
        <p:nvSpPr>
          <p:cNvPr id="11" name="Text 9"/>
          <p:cNvSpPr/>
          <p:nvPr/>
        </p:nvSpPr>
        <p:spPr>
          <a:xfrm>
            <a:off x="3589020" y="2011680"/>
            <a:ext cx="226314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Bước undefined</a:t>
            </a:r>
            <a:endParaRPr lang="en-US" sz="1000" dirty="0"/>
          </a:p>
        </p:txBody>
      </p:sp>
      <p:sp>
        <p:nvSpPr>
          <p:cNvPr id="12" name="Text 10"/>
          <p:cNvSpPr/>
          <p:nvPr/>
        </p:nvSpPr>
        <p:spPr>
          <a:xfrm>
            <a:off x="3589020" y="2377440"/>
            <a:ext cx="2263140" cy="5943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2. Nguyên lý Self-Attention (Vaswani et al., 2017)</a:t>
            </a:r>
            <a:endParaRPr lang="en-US" sz="1200" dirty="0"/>
          </a:p>
        </p:txBody>
      </p:sp>
      <p:sp>
        <p:nvSpPr>
          <p:cNvPr id="13" name="Text 11"/>
          <p:cNvSpPr/>
          <p:nvPr/>
        </p:nvSpPr>
        <p:spPr>
          <a:xfrm>
            <a:off x="3589020" y="3017520"/>
            <a:ext cx="2263140" cy="20116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Cho phép mọi token trong chuỗi tương tác trực tiếp với nhau bất kể khoảng cách vị trí thông qua phép nhân tích vô hướng có tỷ lệ.</a:t>
            </a:r>
            <a:endParaRPr lang="en-US" sz="950" dirty="0"/>
          </a:p>
        </p:txBody>
      </p:sp>
      <p:sp>
        <p:nvSpPr>
          <p:cNvPr id="14" name="Shape 12"/>
          <p:cNvSpPr/>
          <p:nvPr/>
        </p:nvSpPr>
        <p:spPr>
          <a:xfrm>
            <a:off x="6172200" y="1828800"/>
            <a:ext cx="2537460" cy="3474720"/>
          </a:xfrm>
          <a:prstGeom prst="roundRect">
            <a:avLst>
              <a:gd name="adj" fmla="val 3604"/>
            </a:avLst>
          </a:prstGeom>
          <a:solidFill>
            <a:srgbClr val="161F33"/>
          </a:solidFill>
          <a:ln w="12700">
            <a:solidFill>
              <a:srgbClr val="2A374F"/>
            </a:solidFill>
            <a:prstDash val="solid"/>
          </a:ln>
        </p:spPr>
      </p:sp>
      <p:sp>
        <p:nvSpPr>
          <p:cNvPr id="15" name="Text 13"/>
          <p:cNvSpPr/>
          <p:nvPr/>
        </p:nvSpPr>
        <p:spPr>
          <a:xfrm>
            <a:off x="6309360" y="2011680"/>
            <a:ext cx="226314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Bước undefined</a:t>
            </a:r>
            <a:endParaRPr lang="en-US" sz="1000" dirty="0"/>
          </a:p>
        </p:txBody>
      </p:sp>
      <p:sp>
        <p:nvSpPr>
          <p:cNvPr id="16" name="Text 14"/>
          <p:cNvSpPr/>
          <p:nvPr/>
        </p:nvSpPr>
        <p:spPr>
          <a:xfrm>
            <a:off x="6309360" y="2377440"/>
            <a:ext cx="2263140" cy="5943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3. Ba ma trận không gian: Query, Key, Value (Q, K, V)</a:t>
            </a:r>
            <a:endParaRPr lang="en-US" sz="1200" dirty="0"/>
          </a:p>
        </p:txBody>
      </p:sp>
      <p:sp>
        <p:nvSpPr>
          <p:cNvPr id="17" name="Text 15"/>
          <p:cNvSpPr/>
          <p:nvPr/>
        </p:nvSpPr>
        <p:spPr>
          <a:xfrm>
            <a:off x="6309360" y="3017520"/>
            <a:ext cx="2263140" cy="20116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Mỗi token được ánh xạ thành 3 véc-tơ đại diện: Query (yêu cầu tra cứu), Key (chỉ mục đối chiếu), Value (nội dung thông tin ngữ nghĩa).</a:t>
            </a:r>
            <a:endParaRPr lang="en-US" sz="950" dirty="0"/>
          </a:p>
        </p:txBody>
      </p:sp>
      <p:sp>
        <p:nvSpPr>
          <p:cNvPr id="18" name="Shape 16"/>
          <p:cNvSpPr/>
          <p:nvPr/>
        </p:nvSpPr>
        <p:spPr>
          <a:xfrm>
            <a:off x="8892540" y="1828800"/>
            <a:ext cx="2537460" cy="3474720"/>
          </a:xfrm>
          <a:prstGeom prst="roundRect">
            <a:avLst>
              <a:gd name="adj" fmla="val 3604"/>
            </a:avLst>
          </a:prstGeom>
          <a:solidFill>
            <a:srgbClr val="161F33"/>
          </a:solidFill>
          <a:ln w="12700">
            <a:solidFill>
              <a:srgbClr val="2A374F"/>
            </a:solidFill>
            <a:prstDash val="solid"/>
          </a:ln>
        </p:spPr>
      </p:sp>
      <p:sp>
        <p:nvSpPr>
          <p:cNvPr id="19" name="Text 17"/>
          <p:cNvSpPr/>
          <p:nvPr/>
        </p:nvSpPr>
        <p:spPr>
          <a:xfrm>
            <a:off x="9029700" y="2011680"/>
            <a:ext cx="226314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Bước undefined</a:t>
            </a:r>
            <a:endParaRPr lang="en-US" sz="1000" dirty="0"/>
          </a:p>
        </p:txBody>
      </p:sp>
      <p:sp>
        <p:nvSpPr>
          <p:cNvPr id="20" name="Text 18"/>
          <p:cNvSpPr/>
          <p:nvPr/>
        </p:nvSpPr>
        <p:spPr>
          <a:xfrm>
            <a:off x="9029700" y="2377440"/>
            <a:ext cx="2263140" cy="5943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4. Cơ chế Đa đầu chú ý (Multi-Head Attention)</a:t>
            </a:r>
            <a:endParaRPr lang="en-US" sz="1200" dirty="0"/>
          </a:p>
        </p:txBody>
      </p:sp>
      <p:sp>
        <p:nvSpPr>
          <p:cNvPr id="21" name="Text 19"/>
          <p:cNvSpPr/>
          <p:nvPr/>
        </p:nvSpPr>
        <p:spPr>
          <a:xfrm>
            <a:off x="9029700" y="3017520"/>
            <a:ext cx="2263140" cy="20116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Thực hiện phép tính Self-Attention đồng thời trên h không gian con độc lập để nắm bắt đồng thời các mối quan hệ cú pháp và ngữ nghĩa khác nhau.</a:t>
            </a:r>
            <a:endParaRPr lang="en-US" sz="950" dirty="0"/>
          </a:p>
        </p:txBody>
      </p:sp>
      <p:sp>
        <p:nvSpPr>
          <p:cNvPr id="22" name="Shape 20"/>
          <p:cNvSpPr/>
          <p:nvPr/>
        </p:nvSpPr>
        <p:spPr>
          <a:xfrm>
            <a:off x="731520" y="5486400"/>
            <a:ext cx="10698480" cy="640080"/>
          </a:xfrm>
          <a:prstGeom prst="roundRect">
            <a:avLst>
              <a:gd name="adj" fmla="val 11429"/>
            </a:avLst>
          </a:prstGeom>
          <a:solidFill>
            <a:srgbClr val="111F38"/>
          </a:solidFill>
          <a:ln w="12700">
            <a:solidFill>
              <a:srgbClr val="38BDF8"/>
            </a:solidFill>
            <a:prstDash val="solid"/>
          </a:ln>
        </p:spPr>
      </p:sp>
      <p:sp>
        <p:nvSpPr>
          <p:cNvPr id="23" name="Text 21"/>
          <p:cNvSpPr/>
          <p:nvPr/>
        </p:nvSpPr>
        <p:spPr>
          <a:xfrm>
            <a:off x="914400" y="5486400"/>
            <a:ext cx="10332720" cy="640080"/>
          </a:xfrm>
          <a:prstGeom prst="rect">
            <a:avLst/>
          </a:prstGeom>
          <a:noFill/>
          <a:ln/>
        </p:spPr>
        <p:txBody>
          <a:bodyPr wrap="square" rtlCol="0" anchor="ctr"/>
          <a:lstStyle/>
          <a:p>
            <a:pPr indent="0" marL="0">
              <a:buNone/>
            </a:pPr>
            <a:r>
              <a:rPr lang="en-US" sz="1000" i="1" dirty="0">
                <a:solidFill>
                  <a:srgbClr val="38BDF8"/>
                </a:solidFill>
                <a:latin typeface="Calibri" pitchFamily="34" charset="0"/>
                <a:ea typeface="Calibri" pitchFamily="34" charset="-122"/>
                <a:cs typeface="Calibri" pitchFamily="34" charset="-120"/>
              </a:rPr>
              <a:t>📌 Kết luận kiến trúc: Công thức toán học Self-Attention: Attention(Q, K, V) = softmax( (Q · Kᵀ) / √dₖ ) · V. Đây là phương trình nền tảng của toàn bộ các LLM hiện đại.</a:t>
            </a:r>
            <a:endParaRPr lang="en-US" sz="1000" dirty="0"/>
          </a:p>
        </p:txBody>
      </p:sp>
      <p:sp>
        <p:nvSpPr>
          <p:cNvPr id="24" name="Shape 22"/>
          <p:cNvSpPr/>
          <p:nvPr/>
        </p:nvSpPr>
        <p:spPr>
          <a:xfrm>
            <a:off x="731520" y="6400800"/>
            <a:ext cx="10698480" cy="0"/>
          </a:xfrm>
          <a:prstGeom prst="line">
            <a:avLst/>
          </a:prstGeom>
          <a:noFill/>
          <a:ln w="12700">
            <a:solidFill>
              <a:srgbClr val="2A374F"/>
            </a:solidFill>
            <a:prstDash val="solid"/>
          </a:ln>
        </p:spPr>
      </p:sp>
      <p:sp>
        <p:nvSpPr>
          <p:cNvPr id="25" name="Text 23"/>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26" name="Text 24"/>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27" name="Text 2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6 / 50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07 • Chương 1: Bản Chất Kỹ Thuật Của AI</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Mô Hình Ngôn Ngữ Lớn: Tokenization &amp; Không Gian Véc-Tơ Tiềm Ẩn</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Cơ chế rời rạc hóa văn bản và biểu diễn ngữ nghĩa hình học trong không gian nhiều chiều</a:t>
            </a:r>
            <a:endParaRPr lang="en-US" sz="1150" dirty="0"/>
          </a:p>
        </p:txBody>
      </p:sp>
      <p:sp>
        <p:nvSpPr>
          <p:cNvPr id="6" name="Shape 4"/>
          <p:cNvSpPr/>
          <p:nvPr/>
        </p:nvSpPr>
        <p:spPr>
          <a:xfrm>
            <a:off x="731520" y="1828800"/>
            <a:ext cx="2072640" cy="1051560"/>
          </a:xfrm>
          <a:prstGeom prst="roundRect">
            <a:avLst>
              <a:gd name="adj" fmla="val 8696"/>
            </a:avLst>
          </a:prstGeom>
          <a:solidFill>
            <a:srgbClr val="161F33"/>
          </a:solidFill>
          <a:ln w="12700">
            <a:solidFill>
              <a:srgbClr val="2A374F"/>
            </a:solidFill>
            <a:prstDash val="solid"/>
          </a:ln>
        </p:spPr>
      </p:sp>
      <p:sp>
        <p:nvSpPr>
          <p:cNvPr id="7" name="Text 5"/>
          <p:cNvSpPr/>
          <p:nvPr/>
        </p:nvSpPr>
        <p:spPr>
          <a:xfrm>
            <a:off x="822960" y="1920240"/>
            <a:ext cx="1889760" cy="457200"/>
          </a:xfrm>
          <a:prstGeom prst="rect">
            <a:avLst/>
          </a:prstGeom>
          <a:noFill/>
          <a:ln/>
        </p:spPr>
        <p:txBody>
          <a:bodyPr wrap="square" rtlCol="0" anchor="ctr"/>
          <a:lstStyle/>
          <a:p>
            <a:pPr algn="ctr" indent="0" marL="0">
              <a:buNone/>
            </a:pPr>
            <a:r>
              <a:rPr lang="en-US" sz="1800" b="1" dirty="0">
                <a:solidFill>
                  <a:srgbClr val="38BDF8"/>
                </a:solidFill>
                <a:latin typeface="Arial" pitchFamily="34" charset="0"/>
                <a:ea typeface="Arial" pitchFamily="34" charset="-122"/>
                <a:cs typeface="Arial" pitchFamily="34" charset="-120"/>
              </a:rPr>
              <a:t>BPE</a:t>
            </a:r>
            <a:endParaRPr lang="en-US" sz="1800" dirty="0"/>
          </a:p>
        </p:txBody>
      </p:sp>
      <p:sp>
        <p:nvSpPr>
          <p:cNvPr id="8" name="Text 6"/>
          <p:cNvSpPr/>
          <p:nvPr/>
        </p:nvSpPr>
        <p:spPr>
          <a:xfrm>
            <a:off x="82296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Thuật toán: Byte-Pair Encoding</a:t>
            </a:r>
            <a:endParaRPr lang="en-US" sz="950" dirty="0"/>
          </a:p>
        </p:txBody>
      </p:sp>
      <p:sp>
        <p:nvSpPr>
          <p:cNvPr id="9" name="Shape 7"/>
          <p:cNvSpPr/>
          <p:nvPr/>
        </p:nvSpPr>
        <p:spPr>
          <a:xfrm>
            <a:off x="2987040" y="1828800"/>
            <a:ext cx="2072640" cy="1051560"/>
          </a:xfrm>
          <a:prstGeom prst="roundRect">
            <a:avLst>
              <a:gd name="adj" fmla="val 8696"/>
            </a:avLst>
          </a:prstGeom>
          <a:solidFill>
            <a:srgbClr val="161F33"/>
          </a:solidFill>
          <a:ln w="12700">
            <a:solidFill>
              <a:srgbClr val="2A374F"/>
            </a:solidFill>
            <a:prstDash val="solid"/>
          </a:ln>
        </p:spPr>
      </p:sp>
      <p:sp>
        <p:nvSpPr>
          <p:cNvPr id="10" name="Text 8"/>
          <p:cNvSpPr/>
          <p:nvPr/>
        </p:nvSpPr>
        <p:spPr>
          <a:xfrm>
            <a:off x="3078480" y="1920240"/>
            <a:ext cx="1889760" cy="457200"/>
          </a:xfrm>
          <a:prstGeom prst="rect">
            <a:avLst/>
          </a:prstGeom>
          <a:noFill/>
          <a:ln/>
        </p:spPr>
        <p:txBody>
          <a:bodyPr wrap="square" rtlCol="0" anchor="ctr"/>
          <a:lstStyle/>
          <a:p>
            <a:pPr algn="ctr" indent="0" marL="0">
              <a:buNone/>
            </a:pPr>
            <a:r>
              <a:rPr lang="en-US" sz="1800" b="1" dirty="0">
                <a:solidFill>
                  <a:srgbClr val="10B981"/>
                </a:solidFill>
                <a:latin typeface="Arial" pitchFamily="34" charset="0"/>
                <a:ea typeface="Arial" pitchFamily="34" charset="-122"/>
                <a:cs typeface="Arial" pitchFamily="34" charset="-120"/>
              </a:rPr>
              <a:t>4096+</a:t>
            </a:r>
            <a:endParaRPr lang="en-US" sz="1800" dirty="0"/>
          </a:p>
        </p:txBody>
      </p:sp>
      <p:sp>
        <p:nvSpPr>
          <p:cNvPr id="11" name="Text 9"/>
          <p:cNvSpPr/>
          <p:nvPr/>
        </p:nvSpPr>
        <p:spPr>
          <a:xfrm>
            <a:off x="307848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Số chiều không gian tiềm ẩn (d_model)</a:t>
            </a:r>
            <a:endParaRPr lang="en-US" sz="950" dirty="0"/>
          </a:p>
        </p:txBody>
      </p:sp>
      <p:sp>
        <p:nvSpPr>
          <p:cNvPr id="12" name="Shape 10"/>
          <p:cNvSpPr/>
          <p:nvPr/>
        </p:nvSpPr>
        <p:spPr>
          <a:xfrm>
            <a:off x="5242560" y="1828800"/>
            <a:ext cx="2072640" cy="1051560"/>
          </a:xfrm>
          <a:prstGeom prst="roundRect">
            <a:avLst>
              <a:gd name="adj" fmla="val 8696"/>
            </a:avLst>
          </a:prstGeom>
          <a:solidFill>
            <a:srgbClr val="161F33"/>
          </a:solidFill>
          <a:ln w="12700">
            <a:solidFill>
              <a:srgbClr val="2A374F"/>
            </a:solidFill>
            <a:prstDash val="solid"/>
          </a:ln>
        </p:spPr>
      </p:sp>
      <p:sp>
        <p:nvSpPr>
          <p:cNvPr id="13" name="Text 11"/>
          <p:cNvSpPr/>
          <p:nvPr/>
        </p:nvSpPr>
        <p:spPr>
          <a:xfrm>
            <a:off x="5334000" y="1920240"/>
            <a:ext cx="1889760" cy="457200"/>
          </a:xfrm>
          <a:prstGeom prst="rect">
            <a:avLst/>
          </a:prstGeom>
          <a:noFill/>
          <a:ln/>
        </p:spPr>
        <p:txBody>
          <a:bodyPr wrap="square" rtlCol="0" anchor="ctr"/>
          <a:lstStyle/>
          <a:p>
            <a:pPr algn="ctr" indent="0" marL="0">
              <a:buNone/>
            </a:pPr>
            <a:r>
              <a:rPr lang="en-US" sz="1800" b="1" dirty="0">
                <a:solidFill>
                  <a:srgbClr val="38BDF8"/>
                </a:solidFill>
                <a:latin typeface="Arial" pitchFamily="34" charset="0"/>
                <a:ea typeface="Arial" pitchFamily="34" charset="-122"/>
                <a:cs typeface="Arial" pitchFamily="34" charset="-120"/>
              </a:rPr>
              <a:t>Cosine</a:t>
            </a:r>
            <a:endParaRPr lang="en-US" sz="1800" dirty="0"/>
          </a:p>
        </p:txBody>
      </p:sp>
      <p:sp>
        <p:nvSpPr>
          <p:cNvPr id="14" name="Text 12"/>
          <p:cNvSpPr/>
          <p:nvPr/>
        </p:nvSpPr>
        <p:spPr>
          <a:xfrm>
            <a:off x="533400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Độ đo tương đồng ngữ nghĩa: cos(u, v)</a:t>
            </a:r>
            <a:endParaRPr lang="en-US" sz="950" dirty="0"/>
          </a:p>
        </p:txBody>
      </p:sp>
      <p:sp>
        <p:nvSpPr>
          <p:cNvPr id="15" name="Shape 13"/>
          <p:cNvSpPr/>
          <p:nvPr/>
        </p:nvSpPr>
        <p:spPr>
          <a:xfrm>
            <a:off x="731520" y="3063240"/>
            <a:ext cx="6583680" cy="746760"/>
          </a:xfrm>
          <a:prstGeom prst="roundRect">
            <a:avLst>
              <a:gd name="adj" fmla="val 12245"/>
            </a:avLst>
          </a:prstGeom>
          <a:solidFill>
            <a:srgbClr val="161F33"/>
          </a:solidFill>
          <a:ln w="12700">
            <a:solidFill>
              <a:srgbClr val="2A374F"/>
            </a:solidFill>
            <a:prstDash val="solid"/>
          </a:ln>
        </p:spPr>
      </p:sp>
      <p:sp>
        <p:nvSpPr>
          <p:cNvPr id="16" name="Text 14"/>
          <p:cNvSpPr/>
          <p:nvPr/>
        </p:nvSpPr>
        <p:spPr>
          <a:xfrm>
            <a:off x="914400" y="31363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Kỹ thuật băm chuỗi (Byte-Pair Encoding - BPE)
</a:t>
            </a:r>
            <a:pPr indent="0" marL="0">
              <a:buNone/>
            </a:pPr>
            <a:r>
              <a:rPr lang="en-US" sz="1000" dirty="0">
                <a:solidFill>
                  <a:srgbClr val="FFFFFF"/>
                </a:solidFill>
                <a:latin typeface="Calibri" pitchFamily="34" charset="0"/>
                <a:ea typeface="Calibri" pitchFamily="34" charset="-122"/>
                <a:cs typeface="Calibri" pitchFamily="34" charset="-120"/>
              </a:rPr>
              <a:t>Văn bản được phân rã thành các đơn vị token dựa trên tần suất xuất hiện thống kê của các chuỗi con. Tiếng Việt có tỷ lệ nén token trung bình 1.5 - 2.2 token/từ.</a:t>
            </a:r>
            <a:endParaRPr lang="en-US" sz="1100" dirty="0"/>
          </a:p>
        </p:txBody>
      </p:sp>
      <p:sp>
        <p:nvSpPr>
          <p:cNvPr id="17" name="Shape 15"/>
          <p:cNvSpPr/>
          <p:nvPr/>
        </p:nvSpPr>
        <p:spPr>
          <a:xfrm>
            <a:off x="731520" y="3901440"/>
            <a:ext cx="6583680" cy="746760"/>
          </a:xfrm>
          <a:prstGeom prst="roundRect">
            <a:avLst>
              <a:gd name="adj" fmla="val 12245"/>
            </a:avLst>
          </a:prstGeom>
          <a:solidFill>
            <a:srgbClr val="161F33"/>
          </a:solidFill>
          <a:ln w="12700">
            <a:solidFill>
              <a:srgbClr val="2A374F"/>
            </a:solidFill>
            <a:prstDash val="solid"/>
          </a:ln>
        </p:spPr>
      </p:sp>
      <p:sp>
        <p:nvSpPr>
          <p:cNvPr id="18" name="Text 16"/>
          <p:cNvSpPr/>
          <p:nvPr/>
        </p:nvSpPr>
        <p:spPr>
          <a:xfrm>
            <a:off x="914400" y="39745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Không gian tiềm ẩn (Latent Embedding Space)
</a:t>
            </a:r>
            <a:pPr indent="0" marL="0">
              <a:buNone/>
            </a:pPr>
            <a:r>
              <a:rPr lang="en-US" sz="1000" dirty="0">
                <a:solidFill>
                  <a:srgbClr val="FFFFFF"/>
                </a:solidFill>
                <a:latin typeface="Calibri" pitchFamily="34" charset="0"/>
                <a:ea typeface="Calibri" pitchFamily="34" charset="-122"/>
                <a:cs typeface="Calibri" pitchFamily="34" charset="-120"/>
              </a:rPr>
              <a:t>Mỗi token được ánh xạ thành một véc-tơ thực trong không gian ℝ⁴⁰⁹⁶. Các khái niệm có tương quan ngữ nghĩa cao sẽ có khoảng cách góc Cosine nhỏ.</a:t>
            </a:r>
            <a:endParaRPr lang="en-US" sz="1100" dirty="0"/>
          </a:p>
        </p:txBody>
      </p:sp>
      <p:sp>
        <p:nvSpPr>
          <p:cNvPr id="19" name="Shape 17"/>
          <p:cNvSpPr/>
          <p:nvPr/>
        </p:nvSpPr>
        <p:spPr>
          <a:xfrm>
            <a:off x="731520" y="4739640"/>
            <a:ext cx="6583680" cy="746760"/>
          </a:xfrm>
          <a:prstGeom prst="roundRect">
            <a:avLst>
              <a:gd name="adj" fmla="val 12245"/>
            </a:avLst>
          </a:prstGeom>
          <a:solidFill>
            <a:srgbClr val="161F33"/>
          </a:solidFill>
          <a:ln w="12700">
            <a:solidFill>
              <a:srgbClr val="2A374F"/>
            </a:solidFill>
            <a:prstDash val="solid"/>
          </a:ln>
        </p:spPr>
      </p:sp>
      <p:sp>
        <p:nvSpPr>
          <p:cNvPr id="20" name="Text 18"/>
          <p:cNvSpPr/>
          <p:nvPr/>
        </p:nvSpPr>
        <p:spPr>
          <a:xfrm>
            <a:off x="914400" y="48127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Đại số véc-tơ ngữ nghĩa
</a:t>
            </a:r>
            <a:pPr indent="0" marL="0">
              <a:buNone/>
            </a:pPr>
            <a:r>
              <a:rPr lang="en-US" sz="1000" dirty="0">
                <a:solidFill>
                  <a:srgbClr val="FFFFFF"/>
                </a:solidFill>
                <a:latin typeface="Calibri" pitchFamily="34" charset="0"/>
                <a:ea typeface="Calibri" pitchFamily="34" charset="-122"/>
                <a:cs typeface="Calibri" pitchFamily="34" charset="-120"/>
              </a:rPr>
              <a:t>Các mối quan hệ cú pháp và ngữ nghĩa được duy trì dưới dạng các phép tịnh tiến véc-tơ hình học: v(Paris) - v(Pháp) + v(Việt Nam) ≈ v(Hà Nội).</a:t>
            </a:r>
            <a:endParaRPr lang="en-US" sz="1100" dirty="0"/>
          </a:p>
        </p:txBody>
      </p:sp>
      <p:sp>
        <p:nvSpPr>
          <p:cNvPr id="21" name="Shape 19"/>
          <p:cNvSpPr/>
          <p:nvPr/>
        </p:nvSpPr>
        <p:spPr>
          <a:xfrm>
            <a:off x="731520" y="5623560"/>
            <a:ext cx="6583680" cy="594360"/>
          </a:xfrm>
          <a:prstGeom prst="roundRect">
            <a:avLst>
              <a:gd name="adj" fmla="val 12308"/>
            </a:avLst>
          </a:prstGeom>
          <a:solidFill>
            <a:srgbClr val="111F38"/>
          </a:solidFill>
          <a:ln w="12700">
            <a:solidFill>
              <a:srgbClr val="38BDF8"/>
            </a:solidFill>
            <a:prstDash val="solid"/>
          </a:ln>
        </p:spPr>
      </p:sp>
      <p:sp>
        <p:nvSpPr>
          <p:cNvPr id="22" name="Text 20"/>
          <p:cNvSpPr/>
          <p:nvPr/>
        </p:nvSpPr>
        <p:spPr>
          <a:xfrm>
            <a:off x="868680" y="5623560"/>
            <a:ext cx="6309360" cy="594360"/>
          </a:xfrm>
          <a:prstGeom prst="rect">
            <a:avLst/>
          </a:prstGeom>
          <a:noFill/>
          <a:ln/>
        </p:spPr>
        <p:txBody>
          <a:bodyPr wrap="square" rtlCol="0" anchor="ctr"/>
          <a:lstStyle/>
          <a:p>
            <a:pPr indent="0" marL="0">
              <a:buNone/>
            </a:pPr>
            <a:r>
              <a:rPr lang="en-US" sz="950" i="1" dirty="0">
                <a:solidFill>
                  <a:srgbClr val="38BDF8"/>
                </a:solidFill>
                <a:latin typeface="Calibri" pitchFamily="34" charset="0"/>
                <a:ea typeface="Calibri" pitchFamily="34" charset="-122"/>
                <a:cs typeface="Calibri" pitchFamily="34" charset="-120"/>
              </a:rPr>
              <a:t>💡 Điểm cốt lõi: Mô hình ngôn ngữ không làm việc trực tiếp với ký tự chữ cái mà thao tác thuần túy trên các chỉ số định danh (Token ID) và phép toán véc-tơ hình học.</a:t>
            </a:r>
            <a:endParaRPr lang="en-US" sz="950" dirty="0"/>
          </a:p>
        </p:txBody>
      </p:sp>
      <p:pic>
        <p:nvPicPr>
          <p:cNvPr id="23" name="Image 0" descr="D:\Linh tinh\web_thay_thuan\assets\images\slide-09-next-token.jpg">    </p:cNvPr>
          <p:cNvPicPr>
            <a:picLocks noChangeAspect="1"/>
          </p:cNvPicPr>
          <p:nvPr/>
        </p:nvPicPr>
        <p:blipFill>
          <a:blip r:embed="rId1"/>
          <a:srcRect l="0" r="0" t="0" b="0"/>
          <a:stretch/>
        </p:blipFill>
        <p:spPr>
          <a:xfrm>
            <a:off x="7589520" y="1737360"/>
            <a:ext cx="3840480" cy="4389120"/>
          </a:xfrm>
          <a:prstGeom prst="rect">
            <a:avLst/>
          </a:prstGeom>
        </p:spPr>
      </p:pic>
      <p:sp>
        <p:nvSpPr>
          <p:cNvPr id="24" name="Text 21"/>
          <p:cNvSpPr/>
          <p:nvPr/>
        </p:nvSpPr>
        <p:spPr>
          <a:xfrm>
            <a:off x="7589520" y="5897880"/>
            <a:ext cx="3840480" cy="320040"/>
          </a:xfrm>
          <a:prstGeom prst="rect">
            <a:avLst/>
          </a:prstGeom>
          <a:noFill/>
          <a:ln/>
        </p:spPr>
        <p:txBody>
          <a:bodyPr wrap="square"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Mỗi từ được biểu diễn thành một tọa độ véc-tơ trong không gian tiềm ẩn</a:t>
            </a:r>
            <a:endParaRPr lang="en-US" sz="800" dirty="0"/>
          </a:p>
        </p:txBody>
      </p:sp>
      <p:sp>
        <p:nvSpPr>
          <p:cNvPr id="25" name="Shape 22"/>
          <p:cNvSpPr/>
          <p:nvPr/>
        </p:nvSpPr>
        <p:spPr>
          <a:xfrm>
            <a:off x="731520" y="6400800"/>
            <a:ext cx="10698480" cy="0"/>
          </a:xfrm>
          <a:prstGeom prst="line">
            <a:avLst/>
          </a:prstGeom>
          <a:noFill/>
          <a:ln w="12700">
            <a:solidFill>
              <a:srgbClr val="2A374F"/>
            </a:solidFill>
            <a:prstDash val="solid"/>
          </a:ln>
        </p:spPr>
      </p:sp>
      <p:sp>
        <p:nvSpPr>
          <p:cNvPr id="26" name="Text 23"/>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27" name="Text 24"/>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28" name="Text 2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7 / 50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08 • Chương 1: Bản Chất Kỹ Thuật Của AI</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Cơ Chế Autoregressive: Dự Đoán Phân Phối Xác Suất Token Kế Tiếp</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Mô hình ngôn ngữ tự hồi quy ước lượng phân phối có điều kiện P(wᵢ | w₁, w₂, ..., wᵢ₋₁)</a:t>
            </a:r>
            <a:endParaRPr lang="en-US" sz="1150" dirty="0"/>
          </a:p>
        </p:txBody>
      </p:sp>
      <p:sp>
        <p:nvSpPr>
          <p:cNvPr id="6" name="Shape 4"/>
          <p:cNvSpPr/>
          <p:nvPr/>
        </p:nvSpPr>
        <p:spPr>
          <a:xfrm>
            <a:off x="731520" y="1828800"/>
            <a:ext cx="6583680" cy="1097280"/>
          </a:xfrm>
          <a:prstGeom prst="roundRect">
            <a:avLst>
              <a:gd name="adj" fmla="val 8333"/>
            </a:avLst>
          </a:prstGeom>
          <a:solidFill>
            <a:srgbClr val="161F33"/>
          </a:solidFill>
          <a:ln w="12700">
            <a:solidFill>
              <a:srgbClr val="2A374F"/>
            </a:solidFill>
            <a:prstDash val="solid"/>
          </a:ln>
        </p:spPr>
      </p:sp>
      <p:sp>
        <p:nvSpPr>
          <p:cNvPr id="7" name="Text 5"/>
          <p:cNvSpPr/>
          <p:nvPr/>
        </p:nvSpPr>
        <p:spPr>
          <a:xfrm>
            <a:off x="914400" y="190195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1  Tính chất tự hồi quy (Autoregressive Generation)
</a:t>
            </a:r>
            <a:pPr indent="0" marL="0">
              <a:buNone/>
            </a:pPr>
            <a:r>
              <a:rPr lang="en-US" sz="1000" dirty="0">
                <a:solidFill>
                  <a:srgbClr val="FFFFFF"/>
                </a:solidFill>
                <a:latin typeface="Calibri" pitchFamily="34" charset="0"/>
                <a:ea typeface="Calibri" pitchFamily="34" charset="-122"/>
                <a:cs typeface="Calibri" pitchFamily="34" charset="-120"/>
              </a:rPr>
              <a:t>Mô hình sinh tuần tự từng token một. Mỗi token mới sinh ra được nối tiếp vào ngữ cảnh đầu vào để tính toán phân phối cho token kế tiếp.</a:t>
            </a:r>
            <a:endParaRPr lang="en-US" sz="1100" dirty="0"/>
          </a:p>
        </p:txBody>
      </p:sp>
      <p:sp>
        <p:nvSpPr>
          <p:cNvPr id="8" name="Shape 6"/>
          <p:cNvSpPr/>
          <p:nvPr/>
        </p:nvSpPr>
        <p:spPr>
          <a:xfrm>
            <a:off x="731520" y="3017520"/>
            <a:ext cx="6583680" cy="1097280"/>
          </a:xfrm>
          <a:prstGeom prst="roundRect">
            <a:avLst>
              <a:gd name="adj" fmla="val 8333"/>
            </a:avLst>
          </a:prstGeom>
          <a:solidFill>
            <a:srgbClr val="161F33"/>
          </a:solidFill>
          <a:ln w="12700">
            <a:solidFill>
              <a:srgbClr val="2A374F"/>
            </a:solidFill>
            <a:prstDash val="solid"/>
          </a:ln>
        </p:spPr>
      </p:sp>
      <p:sp>
        <p:nvSpPr>
          <p:cNvPr id="9" name="Text 7"/>
          <p:cNvSpPr/>
          <p:nvPr/>
        </p:nvSpPr>
        <p:spPr>
          <a:xfrm>
            <a:off x="914400" y="309067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2  Hàm Softmax chuyển đổi Logits thành Xác suất
</a:t>
            </a:r>
            <a:pPr indent="0" marL="0">
              <a:buNone/>
            </a:pPr>
            <a:r>
              <a:rPr lang="en-US" sz="1000" dirty="0">
                <a:solidFill>
                  <a:srgbClr val="FFFFFF"/>
                </a:solidFill>
                <a:latin typeface="Calibri" pitchFamily="34" charset="0"/>
                <a:ea typeface="Calibri" pitchFamily="34" charset="-122"/>
                <a:cs typeface="Calibri" pitchFamily="34" charset="-120"/>
              </a:rPr>
              <a:t>Công thức Softmax: P(wᵢ) = exp(zᵢ / T) / ∑ exp(zⱼ / T). Đảm bảo tổng xác suất trên toàn bộ tập từ vựng (Vocabulary V ~ 128.000 tokens) luôn chuẩn hóa bằng 1.</a:t>
            </a:r>
            <a:endParaRPr lang="en-US" sz="1100" dirty="0"/>
          </a:p>
        </p:txBody>
      </p:sp>
      <p:sp>
        <p:nvSpPr>
          <p:cNvPr id="10" name="Shape 8"/>
          <p:cNvSpPr/>
          <p:nvPr/>
        </p:nvSpPr>
        <p:spPr>
          <a:xfrm>
            <a:off x="731520" y="4206240"/>
            <a:ext cx="6583680" cy="1097280"/>
          </a:xfrm>
          <a:prstGeom prst="roundRect">
            <a:avLst>
              <a:gd name="adj" fmla="val 8333"/>
            </a:avLst>
          </a:prstGeom>
          <a:solidFill>
            <a:srgbClr val="161F33"/>
          </a:solidFill>
          <a:ln w="12700">
            <a:solidFill>
              <a:srgbClr val="2A374F"/>
            </a:solidFill>
            <a:prstDash val="solid"/>
          </a:ln>
        </p:spPr>
      </p:sp>
      <p:sp>
        <p:nvSpPr>
          <p:cNvPr id="11" name="Text 9"/>
          <p:cNvSpPr/>
          <p:nvPr/>
        </p:nvSpPr>
        <p:spPr>
          <a:xfrm>
            <a:off x="914400" y="427939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3  Hệ quả kỹ thuật: Xác suất thống kê cao nhất ≠ Chân lý khách quan
</a:t>
            </a:r>
            <a:pPr indent="0" marL="0">
              <a:buNone/>
            </a:pPr>
            <a:r>
              <a:rPr lang="en-US" sz="1000" dirty="0">
                <a:solidFill>
                  <a:srgbClr val="FFFFFF"/>
                </a:solidFill>
                <a:latin typeface="Calibri" pitchFamily="34" charset="0"/>
                <a:ea typeface="Calibri" pitchFamily="34" charset="-122"/>
                <a:cs typeface="Calibri" pitchFamily="34" charset="-120"/>
              </a:rPr>
              <a:t>Mô hình lựa chọn chuỗi ký hiệu có độ hợp lý cao nhất theo phân phối ngữ liệu huấn luyện, hoàn toàn không có cơ chế đối soát tính đúng đắn với thực tại khách quan.</a:t>
            </a:r>
            <a:endParaRPr lang="en-US" sz="1100" dirty="0"/>
          </a:p>
        </p:txBody>
      </p:sp>
      <p:sp>
        <p:nvSpPr>
          <p:cNvPr id="12" name="Shape 10"/>
          <p:cNvSpPr/>
          <p:nvPr/>
        </p:nvSpPr>
        <p:spPr>
          <a:xfrm>
            <a:off x="731520" y="5440680"/>
            <a:ext cx="6583680" cy="594360"/>
          </a:xfrm>
          <a:prstGeom prst="roundRect">
            <a:avLst>
              <a:gd name="adj" fmla="val 12308"/>
            </a:avLst>
          </a:prstGeom>
          <a:solidFill>
            <a:srgbClr val="111F38"/>
          </a:solidFill>
          <a:ln w="12700">
            <a:solidFill>
              <a:srgbClr val="38BDF8"/>
            </a:solidFill>
            <a:prstDash val="solid"/>
          </a:ln>
        </p:spPr>
      </p:sp>
      <p:sp>
        <p:nvSpPr>
          <p:cNvPr id="13" name="Text 11"/>
          <p:cNvSpPr/>
          <p:nvPr/>
        </p:nvSpPr>
        <p:spPr>
          <a:xfrm>
            <a:off x="868680" y="5440680"/>
            <a:ext cx="6309360" cy="594360"/>
          </a:xfrm>
          <a:prstGeom prst="rect">
            <a:avLst/>
          </a:prstGeom>
          <a:noFill/>
          <a:ln/>
        </p:spPr>
        <p:txBody>
          <a:bodyPr wrap="square" rtlCol="0" anchor="ctr"/>
          <a:lstStyle/>
          <a:p>
            <a:pPr indent="0" marL="0">
              <a:buNone/>
            </a:pPr>
            <a:r>
              <a:rPr lang="en-US" sz="950" i="1" dirty="0">
                <a:solidFill>
                  <a:srgbClr val="38BDF8"/>
                </a:solidFill>
                <a:latin typeface="Calibri" pitchFamily="34" charset="0"/>
                <a:ea typeface="Calibri" pitchFamily="34" charset="-122"/>
                <a:cs typeface="Calibri" pitchFamily="34" charset="-120"/>
              </a:rPr>
              <a:t>💡 Điểm cốt lõi: Bản chất toán học của mô hình LLM là bộ xấp xỉ phân phối xác suất thống kê chuỗi ký hiệu, không phải là hệ thống cơ sở tri thức xác định.</a:t>
            </a:r>
            <a:endParaRPr lang="en-US" sz="950" dirty="0"/>
          </a:p>
        </p:txBody>
      </p:sp>
      <p:pic>
        <p:nvPicPr>
          <p:cNvPr id="14" name="Image 0" descr="D:\Linh tinh\web_thay_thuan\assets\images\slide-08-llm-models.jpg">    </p:cNvPr>
          <p:cNvPicPr>
            <a:picLocks noChangeAspect="1"/>
          </p:cNvPicPr>
          <p:nvPr/>
        </p:nvPicPr>
        <p:blipFill>
          <a:blip r:embed="rId1"/>
          <a:srcRect l="0" r="0" t="0" b="0"/>
          <a:stretch/>
        </p:blipFill>
        <p:spPr>
          <a:xfrm>
            <a:off x="7589520" y="1737360"/>
            <a:ext cx="3840480" cy="4389120"/>
          </a:xfrm>
          <a:prstGeom prst="rect">
            <a:avLst/>
          </a:prstGeom>
        </p:spPr>
      </p:pic>
      <p:sp>
        <p:nvSpPr>
          <p:cNvPr id="15" name="Shape 12"/>
          <p:cNvSpPr/>
          <p:nvPr/>
        </p:nvSpPr>
        <p:spPr>
          <a:xfrm>
            <a:off x="731520" y="6400800"/>
            <a:ext cx="10698480" cy="0"/>
          </a:xfrm>
          <a:prstGeom prst="line">
            <a:avLst/>
          </a:prstGeom>
          <a:noFill/>
          <a:ln w="12700">
            <a:solidFill>
              <a:srgbClr val="2A374F"/>
            </a:solidFill>
            <a:prstDash val="solid"/>
          </a:ln>
        </p:spPr>
      </p:sp>
      <p:sp>
        <p:nvSpPr>
          <p:cNvPr id="16" name="Text 13"/>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7" name="Text 14"/>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8" name="Text 1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8 / 50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09 • Chương 1: Bản Chất Kỹ Thuật Của AI</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Tham Số Suy Luận: Temperature &amp; Sampling Strategy</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Tác động toán học của Temperature và Top-p (Nucleus Sampling) đến tính ngẫu nhiên của đầu ra</a:t>
            </a:r>
            <a:endParaRPr lang="en-US" sz="1150" dirty="0"/>
          </a:p>
        </p:txBody>
      </p:sp>
      <p:sp>
        <p:nvSpPr>
          <p:cNvPr id="6" name="Shape 4"/>
          <p:cNvSpPr/>
          <p:nvPr/>
        </p:nvSpPr>
        <p:spPr>
          <a:xfrm>
            <a:off x="731520" y="1828800"/>
            <a:ext cx="5212080" cy="4206240"/>
          </a:xfrm>
          <a:prstGeom prst="roundRect">
            <a:avLst>
              <a:gd name="adj" fmla="val 2609"/>
            </a:avLst>
          </a:prstGeom>
          <a:solidFill>
            <a:srgbClr val="1C1622"/>
          </a:solidFill>
          <a:ln w="12700">
            <a:solidFill>
              <a:srgbClr val="4B2635"/>
            </a:solidFill>
            <a:prstDash val="solid"/>
          </a:ln>
        </p:spPr>
      </p:sp>
      <p:sp>
        <p:nvSpPr>
          <p:cNvPr id="7" name="Text 5"/>
          <p:cNvSpPr/>
          <p:nvPr/>
        </p:nvSpPr>
        <p:spPr>
          <a:xfrm>
            <a:off x="914400" y="2011680"/>
            <a:ext cx="4846320" cy="457200"/>
          </a:xfrm>
          <a:prstGeom prst="rect">
            <a:avLst/>
          </a:prstGeom>
          <a:noFill/>
          <a:ln/>
        </p:spPr>
        <p:txBody>
          <a:bodyPr wrap="square" rtlCol="0" anchor="ctr"/>
          <a:lstStyle/>
          <a:p>
            <a:pPr indent="0" marL="0">
              <a:buNone/>
            </a:pPr>
            <a:r>
              <a:rPr lang="en-US" sz="1400" b="1" dirty="0">
                <a:solidFill>
                  <a:srgbClr val="F43F5E"/>
                </a:solidFill>
                <a:latin typeface="Arial" pitchFamily="34" charset="0"/>
                <a:ea typeface="Arial" pitchFamily="34" charset="-122"/>
                <a:cs typeface="Arial" pitchFamily="34" charset="-120"/>
              </a:rPr>
              <a:t>Truyền Thống</a:t>
            </a:r>
            <a:endParaRPr lang="en-US" sz="1400" dirty="0"/>
          </a:p>
        </p:txBody>
      </p:sp>
      <p:sp>
        <p:nvSpPr>
          <p:cNvPr id="8" name="Text 6"/>
          <p:cNvSpPr/>
          <p:nvPr/>
        </p:nvSpPr>
        <p:spPr>
          <a:xfrm>
            <a:off x="914400" y="2560320"/>
            <a:ext cx="4846320" cy="3200400"/>
          </a:xfrm>
          <a:prstGeom prst="rect">
            <a:avLst/>
          </a:prstGeom>
          <a:noFill/>
          <a:ln/>
        </p:spPr>
        <p:txBody>
          <a:bodyPr wrap="square" rtlCol="0" anchor="ctr"/>
          <a:lstStyle/>
          <a:p>
            <a:pPr indent="0" marL="0">
              <a:buNone/>
            </a:pPr>
            <a:endParaRPr lang="en-US" sz="1050" dirty="0"/>
          </a:p>
        </p:txBody>
      </p:sp>
      <p:sp>
        <p:nvSpPr>
          <p:cNvPr id="9" name="Shape 7"/>
          <p:cNvSpPr/>
          <p:nvPr/>
        </p:nvSpPr>
        <p:spPr>
          <a:xfrm>
            <a:off x="6217920" y="1828800"/>
            <a:ext cx="5212080" cy="4206240"/>
          </a:xfrm>
          <a:prstGeom prst="roundRect">
            <a:avLst>
              <a:gd name="adj" fmla="val 2609"/>
            </a:avLst>
          </a:prstGeom>
          <a:solidFill>
            <a:srgbClr val="122624"/>
          </a:solidFill>
          <a:ln w="12700">
            <a:solidFill>
              <a:srgbClr val="1C4C42"/>
            </a:solidFill>
            <a:prstDash val="solid"/>
          </a:ln>
        </p:spPr>
      </p:sp>
      <p:sp>
        <p:nvSpPr>
          <p:cNvPr id="10" name="Text 8"/>
          <p:cNvSpPr/>
          <p:nvPr/>
        </p:nvSpPr>
        <p:spPr>
          <a:xfrm>
            <a:off x="6400800" y="2011680"/>
            <a:ext cx="4846320" cy="457200"/>
          </a:xfrm>
          <a:prstGeom prst="rect">
            <a:avLst/>
          </a:prstGeom>
          <a:noFill/>
          <a:ln/>
        </p:spPr>
        <p:txBody>
          <a:bodyPr wrap="square" rtlCol="0" anchor="ctr"/>
          <a:lstStyle/>
          <a:p>
            <a:pPr indent="0" marL="0">
              <a:buNone/>
            </a:pPr>
            <a:r>
              <a:rPr lang="en-US" sz="1400" b="1" dirty="0">
                <a:solidFill>
                  <a:srgbClr val="10B981"/>
                </a:solidFill>
                <a:latin typeface="Arial" pitchFamily="34" charset="0"/>
                <a:ea typeface="Arial" pitchFamily="34" charset="-122"/>
                <a:cs typeface="Arial" pitchFamily="34" charset="-120"/>
              </a:rPr>
              <a:t>Ứng Dụng AI</a:t>
            </a:r>
            <a:endParaRPr lang="en-US" sz="1400" dirty="0"/>
          </a:p>
        </p:txBody>
      </p:sp>
      <p:sp>
        <p:nvSpPr>
          <p:cNvPr id="11" name="Text 9"/>
          <p:cNvSpPr/>
          <p:nvPr/>
        </p:nvSpPr>
        <p:spPr>
          <a:xfrm>
            <a:off x="6400800" y="2560320"/>
            <a:ext cx="4846320" cy="3200400"/>
          </a:xfrm>
          <a:prstGeom prst="rect">
            <a:avLst/>
          </a:prstGeom>
          <a:noFill/>
          <a:ln/>
        </p:spPr>
        <p:txBody>
          <a:bodyPr wrap="square" rtlCol="0" anchor="ctr"/>
          <a:lstStyle/>
          <a:p>
            <a:pPr indent="0" marL="0">
              <a:buNone/>
            </a:pPr>
            <a:endParaRPr lang="en-US" sz="1050" dirty="0"/>
          </a:p>
        </p:txBody>
      </p:sp>
      <p:sp>
        <p:nvSpPr>
          <p:cNvPr id="12" name="Shape 10"/>
          <p:cNvSpPr/>
          <p:nvPr/>
        </p:nvSpPr>
        <p:spPr>
          <a:xfrm>
            <a:off x="731520" y="6400800"/>
            <a:ext cx="10698480" cy="0"/>
          </a:xfrm>
          <a:prstGeom prst="line">
            <a:avLst/>
          </a:prstGeom>
          <a:noFill/>
          <a:ln w="12700">
            <a:solidFill>
              <a:srgbClr val="2A374F"/>
            </a:solidFill>
            <a:prstDash val="solid"/>
          </a:ln>
        </p:spPr>
      </p:sp>
      <p:sp>
        <p:nvSpPr>
          <p:cNvPr id="13" name="Text 11"/>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4" name="Text 12"/>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5" name="Text 13"/>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9 / 50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10 • Chương 1: Bản Chất Kỹ Thuật Của AI</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Bản Chất Của Ảo Giác (Hallucination): Góc Nhìn Hàm Mất Mát</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Nguyên nhân phát sinh sai lệch thông tin từ hàm mục tiêu Cross-Entropy Loss</a:t>
            </a:r>
            <a:endParaRPr lang="en-US" sz="1150" dirty="0"/>
          </a:p>
        </p:txBody>
      </p:sp>
      <p:sp>
        <p:nvSpPr>
          <p:cNvPr id="6" name="Shape 4"/>
          <p:cNvSpPr/>
          <p:nvPr/>
        </p:nvSpPr>
        <p:spPr>
          <a:xfrm>
            <a:off x="731520" y="1828800"/>
            <a:ext cx="2072640" cy="1051560"/>
          </a:xfrm>
          <a:prstGeom prst="roundRect">
            <a:avLst>
              <a:gd name="adj" fmla="val 8696"/>
            </a:avLst>
          </a:prstGeom>
          <a:solidFill>
            <a:srgbClr val="161F33"/>
          </a:solidFill>
          <a:ln w="12700">
            <a:solidFill>
              <a:srgbClr val="2A374F"/>
            </a:solidFill>
            <a:prstDash val="solid"/>
          </a:ln>
        </p:spPr>
      </p:sp>
      <p:sp>
        <p:nvSpPr>
          <p:cNvPr id="7" name="Text 5"/>
          <p:cNvSpPr/>
          <p:nvPr/>
        </p:nvSpPr>
        <p:spPr>
          <a:xfrm>
            <a:off x="822960" y="1920240"/>
            <a:ext cx="1889760" cy="457200"/>
          </a:xfrm>
          <a:prstGeom prst="rect">
            <a:avLst/>
          </a:prstGeom>
          <a:noFill/>
          <a:ln/>
        </p:spPr>
        <p:txBody>
          <a:bodyPr wrap="square" rtlCol="0" anchor="ctr"/>
          <a:lstStyle/>
          <a:p>
            <a:pPr algn="ctr" indent="0" marL="0">
              <a:buNone/>
            </a:pPr>
            <a:r>
              <a:rPr lang="en-US" sz="1800" b="1" dirty="0">
                <a:solidFill>
                  <a:srgbClr val="38BDF8"/>
                </a:solidFill>
                <a:latin typeface="Arial" pitchFamily="34" charset="0"/>
                <a:ea typeface="Arial" pitchFamily="34" charset="-122"/>
                <a:cs typeface="Arial" pitchFamily="34" charset="-120"/>
              </a:rPr>
              <a:t>Loss</a:t>
            </a:r>
            <a:endParaRPr lang="en-US" sz="1800" dirty="0"/>
          </a:p>
        </p:txBody>
      </p:sp>
      <p:sp>
        <p:nvSpPr>
          <p:cNvPr id="8" name="Text 6"/>
          <p:cNvSpPr/>
          <p:nvPr/>
        </p:nvSpPr>
        <p:spPr>
          <a:xfrm>
            <a:off x="82296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Hàm mất mát: Cross-Entropy = -∑ log P(wᵢ)</a:t>
            </a:r>
            <a:endParaRPr lang="en-US" sz="950" dirty="0"/>
          </a:p>
        </p:txBody>
      </p:sp>
      <p:sp>
        <p:nvSpPr>
          <p:cNvPr id="9" name="Shape 7"/>
          <p:cNvSpPr/>
          <p:nvPr/>
        </p:nvSpPr>
        <p:spPr>
          <a:xfrm>
            <a:off x="2987040" y="1828800"/>
            <a:ext cx="2072640" cy="1051560"/>
          </a:xfrm>
          <a:prstGeom prst="roundRect">
            <a:avLst>
              <a:gd name="adj" fmla="val 8696"/>
            </a:avLst>
          </a:prstGeom>
          <a:solidFill>
            <a:srgbClr val="161F33"/>
          </a:solidFill>
          <a:ln w="12700">
            <a:solidFill>
              <a:srgbClr val="2A374F"/>
            </a:solidFill>
            <a:prstDash val="solid"/>
          </a:ln>
        </p:spPr>
      </p:sp>
      <p:sp>
        <p:nvSpPr>
          <p:cNvPr id="10" name="Text 8"/>
          <p:cNvSpPr/>
          <p:nvPr/>
        </p:nvSpPr>
        <p:spPr>
          <a:xfrm>
            <a:off x="3078480" y="1920240"/>
            <a:ext cx="1889760" cy="457200"/>
          </a:xfrm>
          <a:prstGeom prst="rect">
            <a:avLst/>
          </a:prstGeom>
          <a:noFill/>
          <a:ln/>
        </p:spPr>
        <p:txBody>
          <a:bodyPr wrap="square" rtlCol="0" anchor="ctr"/>
          <a:lstStyle/>
          <a:p>
            <a:pPr algn="ctr" indent="0" marL="0">
              <a:buNone/>
            </a:pPr>
            <a:r>
              <a:rPr lang="en-US" sz="1800" b="1" dirty="0">
                <a:solidFill>
                  <a:srgbClr val="10B981"/>
                </a:solidFill>
                <a:latin typeface="Arial" pitchFamily="34" charset="0"/>
                <a:ea typeface="Arial" pitchFamily="34" charset="-122"/>
                <a:cs typeface="Arial" pitchFamily="34" charset="-120"/>
              </a:rPr>
              <a:t>Coherence</a:t>
            </a:r>
            <a:endParaRPr lang="en-US" sz="1800" dirty="0"/>
          </a:p>
        </p:txBody>
      </p:sp>
      <p:sp>
        <p:nvSpPr>
          <p:cNvPr id="11" name="Text 9"/>
          <p:cNvSpPr/>
          <p:nvPr/>
        </p:nvSpPr>
        <p:spPr>
          <a:xfrm>
            <a:off x="307848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Tối ưu hóa: Độ mạch lạc cú pháp</a:t>
            </a:r>
            <a:endParaRPr lang="en-US" sz="950" dirty="0"/>
          </a:p>
        </p:txBody>
      </p:sp>
      <p:sp>
        <p:nvSpPr>
          <p:cNvPr id="12" name="Shape 10"/>
          <p:cNvSpPr/>
          <p:nvPr/>
        </p:nvSpPr>
        <p:spPr>
          <a:xfrm>
            <a:off x="5242560" y="1828800"/>
            <a:ext cx="2072640" cy="1051560"/>
          </a:xfrm>
          <a:prstGeom prst="roundRect">
            <a:avLst>
              <a:gd name="adj" fmla="val 8696"/>
            </a:avLst>
          </a:prstGeom>
          <a:solidFill>
            <a:srgbClr val="161F33"/>
          </a:solidFill>
          <a:ln w="12700">
            <a:solidFill>
              <a:srgbClr val="2A374F"/>
            </a:solidFill>
            <a:prstDash val="solid"/>
          </a:ln>
        </p:spPr>
      </p:sp>
      <p:sp>
        <p:nvSpPr>
          <p:cNvPr id="13" name="Text 11"/>
          <p:cNvSpPr/>
          <p:nvPr/>
        </p:nvSpPr>
        <p:spPr>
          <a:xfrm>
            <a:off x="5334000" y="1920240"/>
            <a:ext cx="1889760" cy="457200"/>
          </a:xfrm>
          <a:prstGeom prst="rect">
            <a:avLst/>
          </a:prstGeom>
          <a:noFill/>
          <a:ln/>
        </p:spPr>
        <p:txBody>
          <a:bodyPr wrap="square" rtlCol="0" anchor="ctr"/>
          <a:lstStyle/>
          <a:p>
            <a:pPr algn="ctr" indent="0" marL="0">
              <a:buNone/>
            </a:pPr>
            <a:r>
              <a:rPr lang="en-US" sz="1800" b="1" dirty="0">
                <a:solidFill>
                  <a:srgbClr val="F59E0B"/>
                </a:solidFill>
                <a:latin typeface="Arial" pitchFamily="34" charset="0"/>
                <a:ea typeface="Arial" pitchFamily="34" charset="-122"/>
                <a:cs typeface="Arial" pitchFamily="34" charset="-120"/>
              </a:rPr>
              <a:t>Verification</a:t>
            </a:r>
            <a:endParaRPr lang="en-US" sz="1800" dirty="0"/>
          </a:p>
        </p:txBody>
      </p:sp>
      <p:sp>
        <p:nvSpPr>
          <p:cNvPr id="14" name="Text 12"/>
          <p:cNvSpPr/>
          <p:nvPr/>
        </p:nvSpPr>
        <p:spPr>
          <a:xfrm>
            <a:off x="533400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Cơ chế kiểm chứng thực tại: 0</a:t>
            </a:r>
            <a:endParaRPr lang="en-US" sz="950" dirty="0"/>
          </a:p>
        </p:txBody>
      </p:sp>
      <p:sp>
        <p:nvSpPr>
          <p:cNvPr id="15" name="Shape 13"/>
          <p:cNvSpPr/>
          <p:nvPr/>
        </p:nvSpPr>
        <p:spPr>
          <a:xfrm>
            <a:off x="731520" y="3063240"/>
            <a:ext cx="6583680" cy="746760"/>
          </a:xfrm>
          <a:prstGeom prst="roundRect">
            <a:avLst>
              <a:gd name="adj" fmla="val 12245"/>
            </a:avLst>
          </a:prstGeom>
          <a:solidFill>
            <a:srgbClr val="161F33"/>
          </a:solidFill>
          <a:ln w="12700">
            <a:solidFill>
              <a:srgbClr val="2A374F"/>
            </a:solidFill>
            <a:prstDash val="solid"/>
          </a:ln>
        </p:spPr>
      </p:sp>
      <p:sp>
        <p:nvSpPr>
          <p:cNvPr id="16" name="Text 14"/>
          <p:cNvSpPr/>
          <p:nvPr/>
        </p:nvSpPr>
        <p:spPr>
          <a:xfrm>
            <a:off x="914400" y="31363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Sự sai lệch giữa Mục tiêu huấn luyện và Chân lý khách quan
</a:t>
            </a:r>
            <a:pPr indent="0" marL="0">
              <a:buNone/>
            </a:pPr>
            <a:r>
              <a:rPr lang="en-US" sz="1000" dirty="0">
                <a:solidFill>
                  <a:srgbClr val="FFFFFF"/>
                </a:solidFill>
                <a:latin typeface="Calibri" pitchFamily="34" charset="0"/>
                <a:ea typeface="Calibri" pitchFamily="34" charset="-122"/>
                <a:cs typeface="Calibri" pitchFamily="34" charset="-120"/>
              </a:rPr>
              <a:t>Quá trình tiền huấn luyện (Pre-training) tối ưu hóa khả năng dự đoán từ tiếp theo trên văn bản tĩnh. Mô hình không được trang bị cơ chế kiểm tra tính xác thực đối với thế giới vật lý thực tế.</a:t>
            </a:r>
            <a:endParaRPr lang="en-US" sz="1100" dirty="0"/>
          </a:p>
        </p:txBody>
      </p:sp>
      <p:sp>
        <p:nvSpPr>
          <p:cNvPr id="17" name="Shape 15"/>
          <p:cNvSpPr/>
          <p:nvPr/>
        </p:nvSpPr>
        <p:spPr>
          <a:xfrm>
            <a:off x="731520" y="3901440"/>
            <a:ext cx="6583680" cy="746760"/>
          </a:xfrm>
          <a:prstGeom prst="roundRect">
            <a:avLst>
              <a:gd name="adj" fmla="val 12245"/>
            </a:avLst>
          </a:prstGeom>
          <a:solidFill>
            <a:srgbClr val="161F33"/>
          </a:solidFill>
          <a:ln w="12700">
            <a:solidFill>
              <a:srgbClr val="2A374F"/>
            </a:solidFill>
            <a:prstDash val="solid"/>
          </a:ln>
        </p:spPr>
      </p:sp>
      <p:sp>
        <p:nvSpPr>
          <p:cNvPr id="18" name="Text 16"/>
          <p:cNvSpPr/>
          <p:nvPr/>
        </p:nvSpPr>
        <p:spPr>
          <a:xfrm>
            <a:off x="914400" y="39745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Cơ chế nội suy trong vùng thưa dữ liệu (Data Sparsity)
</a:t>
            </a:r>
            <a:pPr indent="0" marL="0">
              <a:buNone/>
            </a:pPr>
            <a:r>
              <a:rPr lang="en-US" sz="1000" dirty="0">
                <a:solidFill>
                  <a:srgbClr val="FFFFFF"/>
                </a:solidFill>
                <a:latin typeface="Calibri" pitchFamily="34" charset="0"/>
                <a:ea typeface="Calibri" pitchFamily="34" charset="-122"/>
                <a:cs typeface="Calibri" pitchFamily="34" charset="-120"/>
              </a:rPr>
              <a:t>Khi người dùng truy vấn về các kiến thức chuyên sâu ít xuất hiện trong tập huấn luyện, mô hình tự động nội suy thống kê bằng cách ghép nối các véc-tơ có vẻ hợp lý nhất về mặt cú pháp.</a:t>
            </a:r>
            <a:endParaRPr lang="en-US" sz="1100" dirty="0"/>
          </a:p>
        </p:txBody>
      </p:sp>
      <p:sp>
        <p:nvSpPr>
          <p:cNvPr id="19" name="Shape 17"/>
          <p:cNvSpPr/>
          <p:nvPr/>
        </p:nvSpPr>
        <p:spPr>
          <a:xfrm>
            <a:off x="731520" y="4739640"/>
            <a:ext cx="6583680" cy="746760"/>
          </a:xfrm>
          <a:prstGeom prst="roundRect">
            <a:avLst>
              <a:gd name="adj" fmla="val 12245"/>
            </a:avLst>
          </a:prstGeom>
          <a:solidFill>
            <a:srgbClr val="161F33"/>
          </a:solidFill>
          <a:ln w="12700">
            <a:solidFill>
              <a:srgbClr val="2A374F"/>
            </a:solidFill>
            <a:prstDash val="solid"/>
          </a:ln>
        </p:spPr>
      </p:sp>
      <p:sp>
        <p:nvSpPr>
          <p:cNvPr id="20" name="Text 18"/>
          <p:cNvSpPr/>
          <p:nvPr/>
        </p:nvSpPr>
        <p:spPr>
          <a:xfrm>
            <a:off x="914400" y="48127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Hiện tượng tự tin thái quá (Overconfidence)
</a:t>
            </a:r>
            <a:pPr indent="0" marL="0">
              <a:buNone/>
            </a:pPr>
            <a:r>
              <a:rPr lang="en-US" sz="1000" dirty="0">
                <a:solidFill>
                  <a:srgbClr val="FFFFFF"/>
                </a:solidFill>
                <a:latin typeface="Calibri" pitchFamily="34" charset="0"/>
                <a:ea typeface="Calibri" pitchFamily="34" charset="-122"/>
                <a:cs typeface="Calibri" pitchFamily="34" charset="-120"/>
              </a:rPr>
              <a:t>Do phân phối Softmax được chuẩn hóa, mô hình luôn xuất ra chuỗi ký tự với độ mượt mà cao, tạo cảm giác thuyết phục ngay cả khi nội dung hoàn toàn sai lệch.</a:t>
            </a:r>
            <a:endParaRPr lang="en-US" sz="1100" dirty="0"/>
          </a:p>
        </p:txBody>
      </p:sp>
      <p:sp>
        <p:nvSpPr>
          <p:cNvPr id="21" name="Shape 19"/>
          <p:cNvSpPr/>
          <p:nvPr/>
        </p:nvSpPr>
        <p:spPr>
          <a:xfrm>
            <a:off x="731520" y="5623560"/>
            <a:ext cx="6583680" cy="594360"/>
          </a:xfrm>
          <a:prstGeom prst="roundRect">
            <a:avLst>
              <a:gd name="adj" fmla="val 12308"/>
            </a:avLst>
          </a:prstGeom>
          <a:solidFill>
            <a:srgbClr val="111F38"/>
          </a:solidFill>
          <a:ln w="12700">
            <a:solidFill>
              <a:srgbClr val="38BDF8"/>
            </a:solidFill>
            <a:prstDash val="solid"/>
          </a:ln>
        </p:spPr>
      </p:sp>
      <p:sp>
        <p:nvSpPr>
          <p:cNvPr id="22" name="Text 20"/>
          <p:cNvSpPr/>
          <p:nvPr/>
        </p:nvSpPr>
        <p:spPr>
          <a:xfrm>
            <a:off x="868680" y="5623560"/>
            <a:ext cx="6309360" cy="594360"/>
          </a:xfrm>
          <a:prstGeom prst="rect">
            <a:avLst/>
          </a:prstGeom>
          <a:noFill/>
          <a:ln/>
        </p:spPr>
        <p:txBody>
          <a:bodyPr wrap="square" rtlCol="0" anchor="ctr"/>
          <a:lstStyle/>
          <a:p>
            <a:pPr indent="0" marL="0">
              <a:buNone/>
            </a:pPr>
            <a:r>
              <a:rPr lang="en-US" sz="950" i="1" dirty="0">
                <a:solidFill>
                  <a:srgbClr val="38BDF8"/>
                </a:solidFill>
                <a:latin typeface="Calibri" pitchFamily="34" charset="0"/>
                <a:ea typeface="Calibri" pitchFamily="34" charset="-122"/>
                <a:cs typeface="Calibri" pitchFamily="34" charset="-120"/>
              </a:rPr>
              <a:t>💡 Điểm cốt lõi: Ảo giác không phải là một lỗi lập trình thông thường mà là hệ quả tất yếu từ bản chất xác suất thống kê của mô hình ngôn ngữ lớn.</a:t>
            </a:r>
            <a:endParaRPr lang="en-US" sz="950" dirty="0"/>
          </a:p>
        </p:txBody>
      </p:sp>
      <p:pic>
        <p:nvPicPr>
          <p:cNvPr id="23" name="Image 0" descr="D:\Linh tinh\web_thay_thuan\assets\images\slide-10-hallucination.jpg">    </p:cNvPr>
          <p:cNvPicPr>
            <a:picLocks noChangeAspect="1"/>
          </p:cNvPicPr>
          <p:nvPr/>
        </p:nvPicPr>
        <p:blipFill>
          <a:blip r:embed="rId1"/>
          <a:srcRect l="0" r="0" t="0" b="0"/>
          <a:stretch/>
        </p:blipFill>
        <p:spPr>
          <a:xfrm>
            <a:off x="7589520" y="1737360"/>
            <a:ext cx="3840480" cy="4389120"/>
          </a:xfrm>
          <a:prstGeom prst="rect">
            <a:avLst/>
          </a:prstGeom>
        </p:spPr>
      </p:pic>
      <p:sp>
        <p:nvSpPr>
          <p:cNvPr id="24" name="Text 21"/>
          <p:cNvSpPr/>
          <p:nvPr/>
        </p:nvSpPr>
        <p:spPr>
          <a:xfrm>
            <a:off x="7589520" y="5897880"/>
            <a:ext cx="3840480" cy="320040"/>
          </a:xfrm>
          <a:prstGeom prst="rect">
            <a:avLst/>
          </a:prstGeom>
          <a:noFill/>
          <a:ln/>
        </p:spPr>
        <p:txBody>
          <a:bodyPr wrap="square"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Ảo giác xuất phát từ bản chất tối ưu hóa độ trôi chảy ngôn ngữ thay vì kiểm chứng chân lý</a:t>
            </a:r>
            <a:endParaRPr lang="en-US" sz="800" dirty="0"/>
          </a:p>
        </p:txBody>
      </p:sp>
      <p:sp>
        <p:nvSpPr>
          <p:cNvPr id="25" name="Shape 22"/>
          <p:cNvSpPr/>
          <p:nvPr/>
        </p:nvSpPr>
        <p:spPr>
          <a:xfrm>
            <a:off x="731520" y="6400800"/>
            <a:ext cx="10698480" cy="0"/>
          </a:xfrm>
          <a:prstGeom prst="line">
            <a:avLst/>
          </a:prstGeom>
          <a:noFill/>
          <a:ln w="12700">
            <a:solidFill>
              <a:srgbClr val="2A374F"/>
            </a:solidFill>
            <a:prstDash val="solid"/>
          </a:ln>
        </p:spPr>
      </p:sp>
      <p:sp>
        <p:nvSpPr>
          <p:cNvPr id="26" name="Text 23"/>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27" name="Text 24"/>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28" name="Text 2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10 / 50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11 • Chương 1: Bản Chất Kỹ Thuật Của AI</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Dữ Liệu Thực Nghiệm: Đo Lường Ảo Giác &amp; Benchmark Năng Lực 2024-2025</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Số liệu đo kiểm chuẩn mực trên các tập dữ liệu HumanEval, GSM8K, SWE-bench và Stanford Study</a:t>
            </a:r>
            <a:endParaRPr lang="en-US" sz="1150" dirty="0"/>
          </a:p>
        </p:txBody>
      </p:sp>
      <p:sp>
        <p:nvSpPr>
          <p:cNvPr id="6" name="Shape 4"/>
          <p:cNvSpPr/>
          <p:nvPr/>
        </p:nvSpPr>
        <p:spPr>
          <a:xfrm>
            <a:off x="731520" y="1828800"/>
            <a:ext cx="3444240" cy="3383280"/>
          </a:xfrm>
          <a:prstGeom prst="roundRect">
            <a:avLst>
              <a:gd name="adj" fmla="val 3243"/>
            </a:avLst>
          </a:prstGeom>
          <a:solidFill>
            <a:srgbClr val="161F33"/>
          </a:solidFill>
          <a:ln w="12700">
            <a:solidFill>
              <a:srgbClr val="2A374F"/>
            </a:solidFill>
            <a:prstDash val="solid"/>
          </a:ln>
        </p:spPr>
      </p:sp>
      <p:sp>
        <p:nvSpPr>
          <p:cNvPr id="7" name="Text 5"/>
          <p:cNvSpPr/>
          <p:nvPr/>
        </p:nvSpPr>
        <p:spPr>
          <a:xfrm>
            <a:off x="868680" y="2011680"/>
            <a:ext cx="3169920" cy="365760"/>
          </a:xfrm>
          <a:prstGeom prst="rect">
            <a:avLst/>
          </a:prstGeom>
          <a:noFill/>
          <a:ln/>
        </p:spPr>
        <p:txBody>
          <a:bodyPr wrap="square" rtlCol="0" anchor="ctr"/>
          <a:lstStyle/>
          <a:p>
            <a:pPr indent="0" marL="0">
              <a:buNone/>
            </a:pPr>
            <a:endParaRPr lang="en-US" sz="1100" dirty="0"/>
          </a:p>
        </p:txBody>
      </p:sp>
      <p:sp>
        <p:nvSpPr>
          <p:cNvPr id="8" name="Text 6"/>
          <p:cNvSpPr/>
          <p:nvPr/>
        </p:nvSpPr>
        <p:spPr>
          <a:xfrm>
            <a:off x="868680" y="2468880"/>
            <a:ext cx="3169920" cy="731520"/>
          </a:xfrm>
          <a:prstGeom prst="rect">
            <a:avLst/>
          </a:prstGeom>
          <a:noFill/>
          <a:ln/>
        </p:spPr>
        <p:txBody>
          <a:bodyPr wrap="square" rtlCol="0" anchor="ctr"/>
          <a:lstStyle/>
          <a:p>
            <a:pPr indent="0" marL="0">
              <a:buNone/>
            </a:pPr>
            <a:r>
              <a:rPr lang="en-US" sz="2200" b="1" dirty="0">
                <a:solidFill>
                  <a:srgbClr val="10B981"/>
                </a:solidFill>
                <a:latin typeface="Arial" pitchFamily="34" charset="0"/>
                <a:ea typeface="Arial" pitchFamily="34" charset="-122"/>
                <a:cs typeface="Arial" pitchFamily="34" charset="-120"/>
              </a:rPr>
              <a:t> Pass@1 Accuracy</a:t>
            </a:r>
            <a:endParaRPr lang="en-US" sz="2200" dirty="0"/>
          </a:p>
        </p:txBody>
      </p:sp>
      <p:sp>
        <p:nvSpPr>
          <p:cNvPr id="9" name="Text 7"/>
          <p:cNvSpPr/>
          <p:nvPr/>
        </p:nvSpPr>
        <p:spPr>
          <a:xfrm>
            <a:off x="868680" y="3246120"/>
            <a:ext cx="3169920" cy="320040"/>
          </a:xfrm>
          <a:prstGeom prst="rect">
            <a:avLst/>
          </a:prstGeom>
          <a:noFill/>
          <a:ln/>
        </p:spPr>
        <p:txBody>
          <a:bodyPr wrap="square" rtlCol="0" anchor="ctr"/>
          <a:lstStyle/>
          <a:p>
            <a:pPr indent="0" marL="0">
              <a:buNone/>
            </a:pPr>
            <a:endParaRPr lang="en-US" sz="950" dirty="0"/>
          </a:p>
        </p:txBody>
      </p:sp>
      <p:sp>
        <p:nvSpPr>
          <p:cNvPr id="10" name="Text 8"/>
          <p:cNvSpPr/>
          <p:nvPr/>
        </p:nvSpPr>
        <p:spPr>
          <a:xfrm>
            <a:off x="868680" y="3611880"/>
            <a:ext cx="3169920" cy="1371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Dữ liệu đo kiểm khả năng tổng hợp mã nguồn thuật toán và vượt qua các bộ kiểm thử tự động.</a:t>
            </a:r>
            <a:endParaRPr lang="en-US" sz="900" dirty="0"/>
          </a:p>
        </p:txBody>
      </p:sp>
      <p:sp>
        <p:nvSpPr>
          <p:cNvPr id="11" name="Shape 9"/>
          <p:cNvSpPr/>
          <p:nvPr/>
        </p:nvSpPr>
        <p:spPr>
          <a:xfrm>
            <a:off x="4358640" y="1828800"/>
            <a:ext cx="3444240" cy="3383280"/>
          </a:xfrm>
          <a:prstGeom prst="roundRect">
            <a:avLst>
              <a:gd name="adj" fmla="val 3243"/>
            </a:avLst>
          </a:prstGeom>
          <a:solidFill>
            <a:srgbClr val="161F33"/>
          </a:solidFill>
          <a:ln w="12700">
            <a:solidFill>
              <a:srgbClr val="2A374F"/>
            </a:solidFill>
            <a:prstDash val="solid"/>
          </a:ln>
        </p:spPr>
      </p:sp>
      <p:sp>
        <p:nvSpPr>
          <p:cNvPr id="12" name="Text 10"/>
          <p:cNvSpPr/>
          <p:nvPr/>
        </p:nvSpPr>
        <p:spPr>
          <a:xfrm>
            <a:off x="4495800" y="2011680"/>
            <a:ext cx="3169920" cy="365760"/>
          </a:xfrm>
          <a:prstGeom prst="rect">
            <a:avLst/>
          </a:prstGeom>
          <a:noFill/>
          <a:ln/>
        </p:spPr>
        <p:txBody>
          <a:bodyPr wrap="square" rtlCol="0" anchor="ctr"/>
          <a:lstStyle/>
          <a:p>
            <a:pPr indent="0" marL="0">
              <a:buNone/>
            </a:pPr>
            <a:endParaRPr lang="en-US" sz="1100" dirty="0"/>
          </a:p>
        </p:txBody>
      </p:sp>
      <p:sp>
        <p:nvSpPr>
          <p:cNvPr id="13" name="Text 11"/>
          <p:cNvSpPr/>
          <p:nvPr/>
        </p:nvSpPr>
        <p:spPr>
          <a:xfrm>
            <a:off x="4495800" y="2468880"/>
            <a:ext cx="3169920" cy="731520"/>
          </a:xfrm>
          <a:prstGeom prst="rect">
            <a:avLst/>
          </a:prstGeom>
          <a:noFill/>
          <a:ln/>
        </p:spPr>
        <p:txBody>
          <a:bodyPr wrap="square" rtlCol="0" anchor="ctr"/>
          <a:lstStyle/>
          <a:p>
            <a:pPr indent="0" marL="0">
              <a:buNone/>
            </a:pPr>
            <a:r>
              <a:rPr lang="en-US" sz="2200" b="1" dirty="0">
                <a:solidFill>
                  <a:srgbClr val="10B981"/>
                </a:solidFill>
                <a:latin typeface="Arial" pitchFamily="34" charset="0"/>
                <a:ea typeface="Arial" pitchFamily="34" charset="-122"/>
                <a:cs typeface="Arial" pitchFamily="34" charset="-120"/>
              </a:rPr>
              <a:t> Độ chính xác suy luận logic</a:t>
            </a:r>
            <a:endParaRPr lang="en-US" sz="2200" dirty="0"/>
          </a:p>
        </p:txBody>
      </p:sp>
      <p:sp>
        <p:nvSpPr>
          <p:cNvPr id="14" name="Text 12"/>
          <p:cNvSpPr/>
          <p:nvPr/>
        </p:nvSpPr>
        <p:spPr>
          <a:xfrm>
            <a:off x="4495800" y="3246120"/>
            <a:ext cx="3169920" cy="320040"/>
          </a:xfrm>
          <a:prstGeom prst="rect">
            <a:avLst/>
          </a:prstGeom>
          <a:noFill/>
          <a:ln/>
        </p:spPr>
        <p:txBody>
          <a:bodyPr wrap="square" rtlCol="0" anchor="ctr"/>
          <a:lstStyle/>
          <a:p>
            <a:pPr indent="0" marL="0">
              <a:buNone/>
            </a:pPr>
            <a:endParaRPr lang="en-US" sz="950" dirty="0"/>
          </a:p>
        </p:txBody>
      </p:sp>
      <p:sp>
        <p:nvSpPr>
          <p:cNvPr id="15" name="Text 13"/>
          <p:cNvSpPr/>
          <p:nvPr/>
        </p:nvSpPr>
        <p:spPr>
          <a:xfrm>
            <a:off x="4495800" y="3611880"/>
            <a:ext cx="3169920" cy="1371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Cơ chế suy luận chuỗi (Chain-of-Thought) cải thiện đáng kể năng lực giải toán và biến đổi đại số.</a:t>
            </a:r>
            <a:endParaRPr lang="en-US" sz="900" dirty="0"/>
          </a:p>
        </p:txBody>
      </p:sp>
      <p:sp>
        <p:nvSpPr>
          <p:cNvPr id="16" name="Shape 14"/>
          <p:cNvSpPr/>
          <p:nvPr/>
        </p:nvSpPr>
        <p:spPr>
          <a:xfrm>
            <a:off x="7985760" y="1828800"/>
            <a:ext cx="3444240" cy="3383280"/>
          </a:xfrm>
          <a:prstGeom prst="roundRect">
            <a:avLst>
              <a:gd name="adj" fmla="val 3243"/>
            </a:avLst>
          </a:prstGeom>
          <a:solidFill>
            <a:srgbClr val="161F33"/>
          </a:solidFill>
          <a:ln w="12700">
            <a:solidFill>
              <a:srgbClr val="2A374F"/>
            </a:solidFill>
            <a:prstDash val="solid"/>
          </a:ln>
        </p:spPr>
      </p:sp>
      <p:sp>
        <p:nvSpPr>
          <p:cNvPr id="17" name="Text 15"/>
          <p:cNvSpPr/>
          <p:nvPr/>
        </p:nvSpPr>
        <p:spPr>
          <a:xfrm>
            <a:off x="8122920" y="2011680"/>
            <a:ext cx="3169920" cy="365760"/>
          </a:xfrm>
          <a:prstGeom prst="rect">
            <a:avLst/>
          </a:prstGeom>
          <a:noFill/>
          <a:ln/>
        </p:spPr>
        <p:txBody>
          <a:bodyPr wrap="square" rtlCol="0" anchor="ctr"/>
          <a:lstStyle/>
          <a:p>
            <a:pPr indent="0" marL="0">
              <a:buNone/>
            </a:pPr>
            <a:endParaRPr lang="en-US" sz="1100" dirty="0"/>
          </a:p>
        </p:txBody>
      </p:sp>
      <p:sp>
        <p:nvSpPr>
          <p:cNvPr id="18" name="Text 16"/>
          <p:cNvSpPr/>
          <p:nvPr/>
        </p:nvSpPr>
        <p:spPr>
          <a:xfrm>
            <a:off x="8122920" y="2468880"/>
            <a:ext cx="3169920" cy="731520"/>
          </a:xfrm>
          <a:prstGeom prst="rect">
            <a:avLst/>
          </a:prstGeom>
          <a:noFill/>
          <a:ln/>
        </p:spPr>
        <p:txBody>
          <a:bodyPr wrap="square" rtlCol="0" anchor="ctr"/>
          <a:lstStyle/>
          <a:p>
            <a:pPr indent="0" marL="0">
              <a:buNone/>
            </a:pPr>
            <a:r>
              <a:rPr lang="en-US" sz="2200" b="1" dirty="0">
                <a:solidFill>
                  <a:srgbClr val="10B981"/>
                </a:solidFill>
                <a:latin typeface="Arial" pitchFamily="34" charset="0"/>
                <a:ea typeface="Arial" pitchFamily="34" charset="-122"/>
                <a:cs typeface="Arial" pitchFamily="34" charset="-120"/>
              </a:rPr>
              <a:t> Tỷ lệ thông tin sai lệch</a:t>
            </a:r>
            <a:endParaRPr lang="en-US" sz="2200" dirty="0"/>
          </a:p>
        </p:txBody>
      </p:sp>
      <p:sp>
        <p:nvSpPr>
          <p:cNvPr id="19" name="Text 17"/>
          <p:cNvSpPr/>
          <p:nvPr/>
        </p:nvSpPr>
        <p:spPr>
          <a:xfrm>
            <a:off x="8122920" y="3246120"/>
            <a:ext cx="3169920" cy="320040"/>
          </a:xfrm>
          <a:prstGeom prst="rect">
            <a:avLst/>
          </a:prstGeom>
          <a:noFill/>
          <a:ln/>
        </p:spPr>
        <p:txBody>
          <a:bodyPr wrap="square" rtlCol="0" anchor="ctr"/>
          <a:lstStyle/>
          <a:p>
            <a:pPr indent="0" marL="0">
              <a:buNone/>
            </a:pPr>
            <a:endParaRPr lang="en-US" sz="950" dirty="0"/>
          </a:p>
        </p:txBody>
      </p:sp>
      <p:sp>
        <p:nvSpPr>
          <p:cNvPr id="20" name="Text 18"/>
          <p:cNvSpPr/>
          <p:nvPr/>
        </p:nvSpPr>
        <p:spPr>
          <a:xfrm>
            <a:off x="8122920" y="3611880"/>
            <a:ext cx="3169920" cy="1371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Tỷ lệ sai lệch tăng vọt khi đi vào các lĩnh vực chuyên sâu đòi hỏi tính chính xác tuyệt đối.</a:t>
            </a:r>
            <a:endParaRPr lang="en-US" sz="900" dirty="0"/>
          </a:p>
        </p:txBody>
      </p:sp>
      <p:sp>
        <p:nvSpPr>
          <p:cNvPr id="21" name="Shape 19"/>
          <p:cNvSpPr/>
          <p:nvPr/>
        </p:nvSpPr>
        <p:spPr>
          <a:xfrm>
            <a:off x="731520" y="5394960"/>
            <a:ext cx="10698480" cy="731520"/>
          </a:xfrm>
          <a:prstGeom prst="roundRect">
            <a:avLst>
              <a:gd name="adj" fmla="val 10000"/>
            </a:avLst>
          </a:prstGeom>
          <a:solidFill>
            <a:srgbClr val="111F38"/>
          </a:solidFill>
          <a:ln w="12700">
            <a:solidFill>
              <a:srgbClr val="38BDF8"/>
            </a:solidFill>
            <a:prstDash val="solid"/>
          </a:ln>
        </p:spPr>
      </p:sp>
      <p:sp>
        <p:nvSpPr>
          <p:cNvPr id="22" name="Text 20"/>
          <p:cNvSpPr/>
          <p:nvPr/>
        </p:nvSpPr>
        <p:spPr>
          <a:xfrm>
            <a:off x="914400" y="5394960"/>
            <a:ext cx="10332720" cy="731520"/>
          </a:xfrm>
          <a:prstGeom prst="rect">
            <a:avLst/>
          </a:prstGeom>
          <a:noFill/>
          <a:ln/>
        </p:spPr>
        <p:txBody>
          <a:bodyPr wrap="square" rtlCol="0" anchor="ctr"/>
          <a:lstStyle/>
          <a:p>
            <a:pPr indent="0" marL="0">
              <a:buNone/>
            </a:pPr>
            <a:r>
              <a:rPr lang="en-US" sz="1000" i="1" dirty="0">
                <a:solidFill>
                  <a:srgbClr val="38BDF8"/>
                </a:solidFill>
                <a:latin typeface="Calibri" pitchFamily="34" charset="0"/>
                <a:ea typeface="Calibri" pitchFamily="34" charset="-122"/>
                <a:cs typeface="Calibri" pitchFamily="34" charset="-120"/>
              </a:rPr>
              <a:t>📊 Phân tích định lượng: Dữ liệu thực nghiệm cho thấy: AI đạt hiệu năng cao trong việc sinh mã nguồn và giải toán có cấu trúc, nhưng có tỷ lệ sai lệch nghiêm trọng đối với việc trích dẫn học thuật.</a:t>
            </a:r>
            <a:endParaRPr lang="en-US" sz="1000" dirty="0"/>
          </a:p>
        </p:txBody>
      </p:sp>
      <p:sp>
        <p:nvSpPr>
          <p:cNvPr id="23" name="Shape 21"/>
          <p:cNvSpPr/>
          <p:nvPr/>
        </p:nvSpPr>
        <p:spPr>
          <a:xfrm>
            <a:off x="731520" y="6400800"/>
            <a:ext cx="10698480" cy="0"/>
          </a:xfrm>
          <a:prstGeom prst="line">
            <a:avLst/>
          </a:prstGeom>
          <a:noFill/>
          <a:ln w="12700">
            <a:solidFill>
              <a:srgbClr val="2A374F"/>
            </a:solidFill>
            <a:prstDash val="solid"/>
          </a:ln>
        </p:spPr>
      </p:sp>
      <p:sp>
        <p:nvSpPr>
          <p:cNvPr id="24" name="Text 22"/>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25" name="Text 23"/>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26" name="Text 24"/>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11 / 50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12 • Chương 1: Bản Chất Kỹ Thuật Của AI</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Đánh Giá Phương Pháp Luận: Xử Lý Bài Toán Thuật Toán Kỹ Thuật</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Lựa chọn phương thức tiếp cận tối ưu khi đối diện bài toán cấu trúc dữ liệu và giải thuật</a:t>
            </a:r>
            <a:endParaRPr lang="en-US" sz="1150" dirty="0"/>
          </a:p>
        </p:txBody>
      </p:sp>
      <p:sp>
        <p:nvSpPr>
          <p:cNvPr id="6" name="Shape 4"/>
          <p:cNvSpPr/>
          <p:nvPr/>
        </p:nvSpPr>
        <p:spPr>
          <a:xfrm>
            <a:off x="731520" y="1828800"/>
            <a:ext cx="6583680" cy="1097280"/>
          </a:xfrm>
          <a:prstGeom prst="roundRect">
            <a:avLst>
              <a:gd name="adj" fmla="val 8333"/>
            </a:avLst>
          </a:prstGeom>
          <a:solidFill>
            <a:srgbClr val="18233C"/>
          </a:solidFill>
          <a:ln w="12700">
            <a:solidFill>
              <a:srgbClr val="38BDF8"/>
            </a:solidFill>
            <a:prstDash val="solid"/>
          </a:ln>
        </p:spPr>
      </p:sp>
      <p:sp>
        <p:nvSpPr>
          <p:cNvPr id="7" name="Text 5"/>
          <p:cNvSpPr/>
          <p:nvPr/>
        </p:nvSpPr>
        <p:spPr>
          <a:xfrm>
            <a:off x="914400" y="1874520"/>
            <a:ext cx="6217920" cy="100584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 Câu hỏi kiểm tra:</a:t>
            </a:r>
            <a:endParaRPr lang="en-US" sz="1150" dirty="0"/>
          </a:p>
          <a:p>
            <a:pPr indent="0" marL="0">
              <a:buNone/>
            </a:pPr>
            <a:r>
              <a:rPr lang="en-US" sz="1150" b="1" dirty="0">
                <a:solidFill>
                  <a:srgbClr val="FFFFFF"/>
                </a:solidFill>
                <a:latin typeface="Arial" pitchFamily="34" charset="0"/>
                <a:ea typeface="Arial" pitchFamily="34" charset="-122"/>
                <a:cs typeface="Arial" pitchFamily="34" charset="-120"/>
              </a:rPr>
              <a:t>Yêu cầu bài toán: 'Thiết kế cấu trúc dữ liệu danh sách liên kết đơn trong C++ và đảo ngược danh sách với độ phức tạp thời gian O(N), bộ nhớ phụ O(1)'. Phương pháp luận nào là chuẩn mực?</a:t>
            </a:r>
            <a:endParaRPr lang="en-US" sz="1150" dirty="0"/>
          </a:p>
        </p:txBody>
      </p:sp>
      <p:sp>
        <p:nvSpPr>
          <p:cNvPr id="8" name="Shape 6"/>
          <p:cNvSpPr/>
          <p:nvPr/>
        </p:nvSpPr>
        <p:spPr>
          <a:xfrm>
            <a:off x="731520" y="3063240"/>
            <a:ext cx="6583680" cy="548640"/>
          </a:xfrm>
          <a:prstGeom prst="roundRect">
            <a:avLst>
              <a:gd name="adj" fmla="val 13333"/>
            </a:avLst>
          </a:prstGeom>
          <a:solidFill>
            <a:srgbClr val="161F33"/>
          </a:solidFill>
          <a:ln w="12700">
            <a:solidFill>
              <a:srgbClr val="2A374F"/>
            </a:solidFill>
            <a:prstDash val="solid"/>
          </a:ln>
        </p:spPr>
      </p:sp>
      <p:sp>
        <p:nvSpPr>
          <p:cNvPr id="9" name="Text 7"/>
          <p:cNvSpPr/>
          <p:nvPr/>
        </p:nvSpPr>
        <p:spPr>
          <a:xfrm>
            <a:off x="914400" y="3063240"/>
            <a:ext cx="6217920" cy="54864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 [object Object] </a:t>
            </a:r>
            <a:endParaRPr lang="en-US" sz="1000" dirty="0"/>
          </a:p>
        </p:txBody>
      </p:sp>
      <p:sp>
        <p:nvSpPr>
          <p:cNvPr id="10" name="Shape 8"/>
          <p:cNvSpPr/>
          <p:nvPr/>
        </p:nvSpPr>
        <p:spPr>
          <a:xfrm>
            <a:off x="731520" y="3703320"/>
            <a:ext cx="6583680" cy="548640"/>
          </a:xfrm>
          <a:prstGeom prst="roundRect">
            <a:avLst>
              <a:gd name="adj" fmla="val 13333"/>
            </a:avLst>
          </a:prstGeom>
          <a:solidFill>
            <a:srgbClr val="161F33"/>
          </a:solidFill>
          <a:ln w="12700">
            <a:solidFill>
              <a:srgbClr val="2A374F"/>
            </a:solidFill>
            <a:prstDash val="solid"/>
          </a:ln>
        </p:spPr>
      </p:sp>
      <p:sp>
        <p:nvSpPr>
          <p:cNvPr id="11" name="Text 9"/>
          <p:cNvSpPr/>
          <p:nvPr/>
        </p:nvSpPr>
        <p:spPr>
          <a:xfrm>
            <a:off x="914400" y="3703320"/>
            <a:ext cx="6217920" cy="54864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 [object Object] </a:t>
            </a:r>
            <a:endParaRPr lang="en-US" sz="1000" dirty="0"/>
          </a:p>
        </p:txBody>
      </p:sp>
      <p:sp>
        <p:nvSpPr>
          <p:cNvPr id="12" name="Shape 10"/>
          <p:cNvSpPr/>
          <p:nvPr/>
        </p:nvSpPr>
        <p:spPr>
          <a:xfrm>
            <a:off x="731520" y="4343400"/>
            <a:ext cx="6583680" cy="548640"/>
          </a:xfrm>
          <a:prstGeom prst="roundRect">
            <a:avLst>
              <a:gd name="adj" fmla="val 13333"/>
            </a:avLst>
          </a:prstGeom>
          <a:solidFill>
            <a:srgbClr val="161F33"/>
          </a:solidFill>
          <a:ln w="12700">
            <a:solidFill>
              <a:srgbClr val="2A374F"/>
            </a:solidFill>
            <a:prstDash val="solid"/>
          </a:ln>
        </p:spPr>
      </p:sp>
      <p:sp>
        <p:nvSpPr>
          <p:cNvPr id="13" name="Text 11"/>
          <p:cNvSpPr/>
          <p:nvPr/>
        </p:nvSpPr>
        <p:spPr>
          <a:xfrm>
            <a:off x="914400" y="4343400"/>
            <a:ext cx="6217920" cy="54864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 [object Object] </a:t>
            </a:r>
            <a:endParaRPr lang="en-US" sz="1000" dirty="0"/>
          </a:p>
        </p:txBody>
      </p:sp>
      <p:pic>
        <p:nvPicPr>
          <p:cNvPr id="14" name="Image 0" descr="D:\Linh tinh\web_thay_thuan\assets\images\slide-05-interactive-poll.jpg">    </p:cNvPr>
          <p:cNvPicPr>
            <a:picLocks noChangeAspect="1"/>
          </p:cNvPicPr>
          <p:nvPr/>
        </p:nvPicPr>
        <p:blipFill>
          <a:blip r:embed="rId1"/>
          <a:srcRect l="0" r="0" t="0" b="0"/>
          <a:stretch/>
        </p:blipFill>
        <p:spPr>
          <a:xfrm>
            <a:off x="7589520" y="1828800"/>
            <a:ext cx="3840480" cy="4297680"/>
          </a:xfrm>
          <a:prstGeom prst="rect">
            <a:avLst/>
          </a:prstGeom>
        </p:spPr>
      </p:pic>
      <p:sp>
        <p:nvSpPr>
          <p:cNvPr id="15" name="Shape 12"/>
          <p:cNvSpPr/>
          <p:nvPr/>
        </p:nvSpPr>
        <p:spPr>
          <a:xfrm>
            <a:off x="731520" y="6400800"/>
            <a:ext cx="10698480" cy="0"/>
          </a:xfrm>
          <a:prstGeom prst="line">
            <a:avLst/>
          </a:prstGeom>
          <a:noFill/>
          <a:ln w="12700">
            <a:solidFill>
              <a:srgbClr val="2A374F"/>
            </a:solidFill>
            <a:prstDash val="solid"/>
          </a:ln>
        </p:spPr>
      </p:sp>
      <p:sp>
        <p:nvSpPr>
          <p:cNvPr id="16" name="Text 13"/>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7" name="Text 14"/>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8" name="Text 1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12 / 50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13 • Chương 2: AI Trong Học Tập &amp; Kỹ Thuật</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Thực Tiễn Đời Sống Học Đường: 4 Tác Vụ AI Hỗ Trợ Đắc Lực Nhất Cho Sinh Viên</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Phân tích các kịch bản thực tế giúp sinh viên giải quyết áp lực học tập, khối lượng bài vở và kỹ năng kỹ thuật</a:t>
            </a:r>
            <a:endParaRPr lang="en-US" sz="1150" dirty="0"/>
          </a:p>
        </p:txBody>
      </p:sp>
      <p:sp>
        <p:nvSpPr>
          <p:cNvPr id="6" name="Shape 4"/>
          <p:cNvSpPr/>
          <p:nvPr/>
        </p:nvSpPr>
        <p:spPr>
          <a:xfrm>
            <a:off x="731520" y="6400800"/>
            <a:ext cx="10698480" cy="0"/>
          </a:xfrm>
          <a:prstGeom prst="line">
            <a:avLst/>
          </a:prstGeom>
          <a:noFill/>
          <a:ln w="12700">
            <a:solidFill>
              <a:srgbClr val="2A374F"/>
            </a:solidFill>
            <a:prstDash val="solid"/>
          </a:ln>
        </p:spPr>
      </p:sp>
      <p:sp>
        <p:nvSpPr>
          <p:cNvPr id="7" name="Text 5"/>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8" name="Text 6"/>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9" name="Text 7"/>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13 / 50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14 • Chương 2: AI Trong Học Tập &amp; Kỹ Thuật</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Ranh Giới Bất Lực Tuyệt Đối: 4 Điều AI Hoàn Toàn Không Thể Làm Thay Sinh Viên KMA</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Nhận diện các ranh giới sống còn mà phụ thuộc vào AI sẽ dẫn đến hậu quả nghiêm trọng trong học tập và rèn luyện</a:t>
            </a:r>
            <a:endParaRPr lang="en-US" sz="1150" dirty="0"/>
          </a:p>
        </p:txBody>
      </p:sp>
      <p:sp>
        <p:nvSpPr>
          <p:cNvPr id="6" name="Shape 4"/>
          <p:cNvSpPr/>
          <p:nvPr/>
        </p:nvSpPr>
        <p:spPr>
          <a:xfrm>
            <a:off x="731520" y="6400800"/>
            <a:ext cx="10698480" cy="0"/>
          </a:xfrm>
          <a:prstGeom prst="line">
            <a:avLst/>
          </a:prstGeom>
          <a:noFill/>
          <a:ln w="12700">
            <a:solidFill>
              <a:srgbClr val="2A374F"/>
            </a:solidFill>
            <a:prstDash val="solid"/>
          </a:ln>
        </p:spPr>
      </p:sp>
      <p:sp>
        <p:nvSpPr>
          <p:cNvPr id="7" name="Text 5"/>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8" name="Text 6"/>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9" name="Text 7"/>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14 / 50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15 • Chương 2: AI Trong Học Tập &amp; Kỹ Thuật</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Thực Tiễn Mùa Thi Cử: Chiến Lược 'Tiêu Hóa' 300 Trang Giáo Trình Bằng AI</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Phương pháp khoa học vượt qua khủng hoảng bài vở mà không rơi vào cạm bẫy ảo tưởng thông thái</a:t>
            </a:r>
            <a:endParaRPr lang="en-US" sz="1150" dirty="0"/>
          </a:p>
        </p:txBody>
      </p:sp>
      <p:sp>
        <p:nvSpPr>
          <p:cNvPr id="6" name="Shape 4"/>
          <p:cNvSpPr/>
          <p:nvPr/>
        </p:nvSpPr>
        <p:spPr>
          <a:xfrm>
            <a:off x="731520" y="1828800"/>
            <a:ext cx="6583680" cy="1097280"/>
          </a:xfrm>
          <a:prstGeom prst="roundRect">
            <a:avLst>
              <a:gd name="adj" fmla="val 8333"/>
            </a:avLst>
          </a:prstGeom>
          <a:solidFill>
            <a:srgbClr val="161F33"/>
          </a:solidFill>
          <a:ln w="12700">
            <a:solidFill>
              <a:srgbClr val="2A374F"/>
            </a:solidFill>
            <a:prstDash val="solid"/>
          </a:ln>
        </p:spPr>
      </p:sp>
      <p:sp>
        <p:nvSpPr>
          <p:cNvPr id="7" name="Text 5"/>
          <p:cNvSpPr/>
          <p:nvPr/>
        </p:nvSpPr>
        <p:spPr>
          <a:xfrm>
            <a:off x="914400" y="190195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Cạm bẫy nguy hiểm: Ảo tưởng thông thái (Fluency Illusion)
</a:t>
            </a:r>
            <a:pPr indent="0" marL="0">
              <a:buNone/>
            </a:pPr>
            <a:r>
              <a:rPr lang="en-US" sz="1000" dirty="0">
                <a:solidFill>
                  <a:srgbClr val="FFFFFF"/>
                </a:solidFill>
                <a:latin typeface="Calibri" pitchFamily="34" charset="0"/>
                <a:ea typeface="Calibri" pitchFamily="34" charset="-122"/>
                <a:cs typeface="Calibri" pitchFamily="34" charset="-120"/>
              </a:rPr>
              <a:t>Đọc bản tóm tắt mượt mà của AI tạo cảm giác rằng bộ não đã hiểu sâu sắc; nhưng khi vào phòng thi không có AI, sinh viên hoàn toàn bất lực trước câu hỏi tự luận biến thể.</a:t>
            </a:r>
            <a:endParaRPr lang="en-US" sz="1100" dirty="0"/>
          </a:p>
        </p:txBody>
      </p:sp>
      <p:sp>
        <p:nvSpPr>
          <p:cNvPr id="8" name="Shape 6"/>
          <p:cNvSpPr/>
          <p:nvPr/>
        </p:nvSpPr>
        <p:spPr>
          <a:xfrm>
            <a:off x="731520" y="3017520"/>
            <a:ext cx="6583680" cy="1097280"/>
          </a:xfrm>
          <a:prstGeom prst="roundRect">
            <a:avLst>
              <a:gd name="adj" fmla="val 8333"/>
            </a:avLst>
          </a:prstGeom>
          <a:solidFill>
            <a:srgbClr val="161F33"/>
          </a:solidFill>
          <a:ln w="12700">
            <a:solidFill>
              <a:srgbClr val="2A374F"/>
            </a:solidFill>
            <a:prstDash val="solid"/>
          </a:ln>
        </p:spPr>
      </p:sp>
      <p:sp>
        <p:nvSpPr>
          <p:cNvPr id="9" name="Text 7"/>
          <p:cNvSpPr/>
          <p:nvPr/>
        </p:nvSpPr>
        <p:spPr>
          <a:xfrm>
            <a:off x="914400" y="309067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Quy tắc tỷ lệ vàng 20 / 80 trong mùa thi
</a:t>
            </a:r>
            <a:pPr indent="0" marL="0">
              <a:buNone/>
            </a:pPr>
            <a:r>
              <a:rPr lang="en-US" sz="1000" dirty="0">
                <a:solidFill>
                  <a:srgbClr val="FFFFFF"/>
                </a:solidFill>
                <a:latin typeface="Calibri" pitchFamily="34" charset="0"/>
                <a:ea typeface="Calibri" pitchFamily="34" charset="-122"/>
                <a:cs typeface="Calibri" pitchFamily="34" charset="-120"/>
              </a:rPr>
              <a:t>Dành tối đa 20% thời gian tương tác với AI để định hướng cấu trúc; dành 80% thời gian cho việc tự giải bài, tự viết mã nguồn và ghi nhớ độc lập.</a:t>
            </a:r>
            <a:endParaRPr lang="en-US" sz="1100" dirty="0"/>
          </a:p>
        </p:txBody>
      </p:sp>
      <p:sp>
        <p:nvSpPr>
          <p:cNvPr id="10" name="Shape 8"/>
          <p:cNvSpPr/>
          <p:nvPr/>
        </p:nvSpPr>
        <p:spPr>
          <a:xfrm>
            <a:off x="731520" y="4251960"/>
            <a:ext cx="6583680" cy="594360"/>
          </a:xfrm>
          <a:prstGeom prst="roundRect">
            <a:avLst>
              <a:gd name="adj" fmla="val 12308"/>
            </a:avLst>
          </a:prstGeom>
          <a:solidFill>
            <a:srgbClr val="111F38"/>
          </a:solidFill>
          <a:ln w="12700">
            <a:solidFill>
              <a:srgbClr val="38BDF8"/>
            </a:solidFill>
            <a:prstDash val="solid"/>
          </a:ln>
        </p:spPr>
      </p:sp>
      <p:sp>
        <p:nvSpPr>
          <p:cNvPr id="11" name="Text 9"/>
          <p:cNvSpPr/>
          <p:nvPr/>
        </p:nvSpPr>
        <p:spPr>
          <a:xfrm>
            <a:off x="868680" y="4251960"/>
            <a:ext cx="6309360" cy="594360"/>
          </a:xfrm>
          <a:prstGeom prst="rect">
            <a:avLst/>
          </a:prstGeom>
          <a:noFill/>
          <a:ln/>
        </p:spPr>
        <p:txBody>
          <a:bodyPr wrap="square" rtlCol="0" anchor="ctr"/>
          <a:lstStyle/>
          <a:p>
            <a:pPr indent="0" marL="0">
              <a:buNone/>
            </a:pPr>
            <a:r>
              <a:rPr lang="en-US" sz="950" i="1" dirty="0">
                <a:solidFill>
                  <a:srgbClr val="38BDF8"/>
                </a:solidFill>
                <a:latin typeface="Calibri" pitchFamily="34" charset="0"/>
                <a:ea typeface="Calibri" pitchFamily="34" charset="-122"/>
                <a:cs typeface="Calibri" pitchFamily="34" charset="-120"/>
              </a:rPr>
              <a:t>💡 Điểm cốt lõi: Đọc tóm tắt của AI là hành vi tiếp nhận thụ động; chỉ khi tự tay giải bài tập trên giấy và đối chiếu phản biện, kiến thức mới thực sự biến thành năng lực của người học.</a:t>
            </a:r>
            <a:endParaRPr lang="en-US" sz="950" dirty="0"/>
          </a:p>
        </p:txBody>
      </p:sp>
      <p:pic>
        <p:nvPicPr>
          <p:cNvPr id="12" name="Image 0" descr="D:\Linh tinh\web_thay_thuan\assets\images\slide-02-welcome.jpg">    </p:cNvPr>
          <p:cNvPicPr>
            <a:picLocks noChangeAspect="1"/>
          </p:cNvPicPr>
          <p:nvPr/>
        </p:nvPicPr>
        <p:blipFill>
          <a:blip r:embed="rId1"/>
          <a:srcRect l="0" r="0" t="0" b="0"/>
          <a:stretch/>
        </p:blipFill>
        <p:spPr>
          <a:xfrm>
            <a:off x="7589520" y="1737360"/>
            <a:ext cx="3840480" cy="4389120"/>
          </a:xfrm>
          <a:prstGeom prst="rect">
            <a:avLst/>
          </a:prstGeom>
        </p:spPr>
      </p:pic>
      <p:sp>
        <p:nvSpPr>
          <p:cNvPr id="13" name="Text 10"/>
          <p:cNvSpPr/>
          <p:nvPr/>
        </p:nvSpPr>
        <p:spPr>
          <a:xfrm>
            <a:off x="7589520" y="5897880"/>
            <a:ext cx="3840480" cy="320040"/>
          </a:xfrm>
          <a:prstGeom prst="rect">
            <a:avLst/>
          </a:prstGeom>
          <a:noFill/>
          <a:ln/>
        </p:spPr>
        <p:txBody>
          <a:bodyPr wrap="square"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Chiến lược 3 bước làm chủ giáo trình đồ sộ mùa thi cử</a:t>
            </a:r>
            <a:endParaRPr lang="en-US" sz="800" dirty="0"/>
          </a:p>
        </p:txBody>
      </p:sp>
      <p:sp>
        <p:nvSpPr>
          <p:cNvPr id="14" name="Shape 11"/>
          <p:cNvSpPr/>
          <p:nvPr/>
        </p:nvSpPr>
        <p:spPr>
          <a:xfrm>
            <a:off x="731520" y="6400800"/>
            <a:ext cx="10698480" cy="0"/>
          </a:xfrm>
          <a:prstGeom prst="line">
            <a:avLst/>
          </a:prstGeom>
          <a:noFill/>
          <a:ln w="12700">
            <a:solidFill>
              <a:srgbClr val="2A374F"/>
            </a:solidFill>
            <a:prstDash val="solid"/>
          </a:ln>
        </p:spPr>
      </p:sp>
      <p:sp>
        <p:nvSpPr>
          <p:cNvPr id="15" name="Text 12"/>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6" name="Text 13"/>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7" name="Text 14"/>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15 / 50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16 • Chương 2: AI Trong Học Tập &amp; Kỹ Thuật</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Thực Tiễn Phòng Máy: AI Giúp Gỡ Lỗi Compiler vs Thảm Họa Nộp Code AI Không Thẩm Định</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Phân tích tình huống xử lý lỗi Segmentation Fault và cạm bẫy rò rỉ bộ nhớ khi nộp bài hệ thống Online Judge</a:t>
            </a:r>
            <a:endParaRPr lang="en-US" sz="1150" dirty="0"/>
          </a:p>
        </p:txBody>
      </p:sp>
      <p:sp>
        <p:nvSpPr>
          <p:cNvPr id="6" name="Shape 4"/>
          <p:cNvSpPr/>
          <p:nvPr/>
        </p:nvSpPr>
        <p:spPr>
          <a:xfrm>
            <a:off x="731520" y="1828800"/>
            <a:ext cx="6217920" cy="4206240"/>
          </a:xfrm>
          <a:prstGeom prst="roundRect">
            <a:avLst>
              <a:gd name="adj" fmla="val 2174"/>
            </a:avLst>
          </a:prstGeom>
          <a:solidFill>
            <a:srgbClr val="050A14"/>
          </a:solidFill>
          <a:ln w="12700">
            <a:solidFill>
              <a:srgbClr val="1E3A5F"/>
            </a:solidFill>
            <a:prstDash val="solid"/>
          </a:ln>
        </p:spPr>
      </p:sp>
      <p:sp>
        <p:nvSpPr>
          <p:cNvPr id="7" name="Text 5"/>
          <p:cNvSpPr/>
          <p:nvPr/>
        </p:nvSpPr>
        <p:spPr>
          <a:xfrm>
            <a:off x="914400" y="1965960"/>
            <a:ext cx="5852160" cy="320040"/>
          </a:xfrm>
          <a:prstGeom prst="rect">
            <a:avLst/>
          </a:prstGeom>
          <a:noFill/>
          <a:ln/>
        </p:spPr>
        <p:txBody>
          <a:bodyPr wrap="square" rtlCol="0" anchor="ctr"/>
          <a:lstStyle/>
          <a:p>
            <a:pPr indent="0" marL="0">
              <a:buNone/>
            </a:pPr>
            <a:r>
              <a:rPr lang="en-US" sz="950" b="1" dirty="0">
                <a:solidFill>
                  <a:srgbClr val="38BDF8"/>
                </a:solidFill>
                <a:latin typeface="Courier New" pitchFamily="34" charset="0"/>
                <a:ea typeface="Courier New" pitchFamily="34" charset="-122"/>
                <a:cs typeface="Courier New" pitchFamily="34" charset="-120"/>
              </a:rPr>
              <a:t>💻 Mã nguồn minh họa (C++):</a:t>
            </a:r>
            <a:endParaRPr lang="en-US" sz="950" dirty="0"/>
          </a:p>
        </p:txBody>
      </p:sp>
      <p:sp>
        <p:nvSpPr>
          <p:cNvPr id="8" name="Text 6"/>
          <p:cNvSpPr/>
          <p:nvPr/>
        </p:nvSpPr>
        <p:spPr>
          <a:xfrm>
            <a:off x="914400" y="2331720"/>
            <a:ext cx="5852160" cy="3474720"/>
          </a:xfrm>
          <a:prstGeom prst="rect">
            <a:avLst/>
          </a:prstGeom>
          <a:noFill/>
          <a:ln/>
        </p:spPr>
        <p:txBody>
          <a:bodyPr wrap="square" rtlCol="0" anchor="ctr"/>
          <a:lstStyle/>
          <a:p>
            <a:pPr indent="0" marL="0">
              <a:buNone/>
            </a:pPr>
            <a:r>
              <a:rPr lang="en-US" sz="900" dirty="0">
                <a:solidFill>
                  <a:srgbClr val="A7F3D0"/>
                </a:solidFill>
                <a:latin typeface="Courier New" pitchFamily="34" charset="0"/>
                <a:ea typeface="Courier New" pitchFamily="34" charset="-122"/>
                <a:cs typeface="Courier New" pitchFamily="34" charset="-120"/>
              </a:rPr>
              <a:t>// Demo code</a:t>
            </a:r>
            <a:endParaRPr lang="en-US" sz="900" dirty="0"/>
          </a:p>
          <a:p>
            <a:pPr indent="0" marL="0">
              <a:buNone/>
            </a:pPr>
            <a:r>
              <a:rPr lang="en-US" sz="900" dirty="0">
                <a:solidFill>
                  <a:srgbClr val="A7F3D0"/>
                </a:solidFill>
                <a:latin typeface="Courier New" pitchFamily="34" charset="0"/>
                <a:ea typeface="Courier New" pitchFamily="34" charset="-122"/>
                <a:cs typeface="Courier New" pitchFamily="34" charset="-120"/>
              </a:rPr>
              <a:t>int main() { return 0; }</a:t>
            </a:r>
            <a:endParaRPr lang="en-US" sz="900" dirty="0"/>
          </a:p>
        </p:txBody>
      </p:sp>
      <p:sp>
        <p:nvSpPr>
          <p:cNvPr id="9" name="Shape 7"/>
          <p:cNvSpPr/>
          <p:nvPr/>
        </p:nvSpPr>
        <p:spPr>
          <a:xfrm>
            <a:off x="7132320" y="1828800"/>
            <a:ext cx="4297680" cy="4206240"/>
          </a:xfrm>
          <a:prstGeom prst="roundRect">
            <a:avLst>
              <a:gd name="adj" fmla="val 2174"/>
            </a:avLst>
          </a:prstGeom>
          <a:solidFill>
            <a:srgbClr val="161F33"/>
          </a:solidFill>
          <a:ln w="12700">
            <a:solidFill>
              <a:srgbClr val="2A374F"/>
            </a:solidFill>
            <a:prstDash val="solid"/>
          </a:ln>
        </p:spPr>
      </p:sp>
      <p:sp>
        <p:nvSpPr>
          <p:cNvPr id="10" name="Text 8"/>
          <p:cNvSpPr/>
          <p:nvPr/>
        </p:nvSpPr>
        <p:spPr>
          <a:xfrm>
            <a:off x="7315200" y="2011680"/>
            <a:ext cx="3931920" cy="320040"/>
          </a:xfrm>
          <a:prstGeom prst="rect">
            <a:avLst/>
          </a:prstGeom>
          <a:noFill/>
          <a:ln/>
        </p:spPr>
        <p:txBody>
          <a:bodyPr wrap="square" rtlCol="0" anchor="ctr"/>
          <a:lstStyle/>
          <a:p>
            <a:pPr indent="0" marL="0">
              <a:buNone/>
            </a:pPr>
            <a:r>
              <a:rPr lang="en-US" sz="1100" b="1" dirty="0">
                <a:solidFill>
                  <a:srgbClr val="F59E0B"/>
                </a:solidFill>
                <a:latin typeface="Arial" pitchFamily="34" charset="0"/>
                <a:ea typeface="Arial" pitchFamily="34" charset="-122"/>
                <a:cs typeface="Arial" pitchFamily="34" charset="-120"/>
              </a:rPr>
              <a:t>PHÂN TÍCH THUẬT TOÁN</a:t>
            </a:r>
            <a:endParaRPr lang="en-US" sz="1100" dirty="0"/>
          </a:p>
        </p:txBody>
      </p:sp>
      <p:sp>
        <p:nvSpPr>
          <p:cNvPr id="11" name="Text 9"/>
          <p:cNvSpPr/>
          <p:nvPr/>
        </p:nvSpPr>
        <p:spPr>
          <a:xfrm>
            <a:off x="7315200" y="2423160"/>
            <a:ext cx="3931920" cy="3383280"/>
          </a:xfrm>
          <a:prstGeom prst="rect">
            <a:avLst/>
          </a:prstGeom>
          <a:noFill/>
          <a:ln/>
        </p:spPr>
        <p:txBody>
          <a:bodyPr wrap="square" rtlCol="0" anchor="ctr"/>
          <a:lstStyle/>
          <a:p>
            <a:pPr indent="0" marL="0">
              <a:buNone/>
            </a:pPr>
            <a:r>
              <a:rPr lang="en-US" sz="1000" b="1" dirty="0">
                <a:solidFill>
                  <a:srgbClr val="38BDF8"/>
                </a:solidFill>
                <a:latin typeface="Calibri" pitchFamily="34" charset="0"/>
                <a:ea typeface="Calibri" pitchFamily="34" charset="-122"/>
                <a:cs typeface="Calibri" pitchFamily="34" charset="-120"/>
              </a:rPr>
              <a:t>Nguyên lý hoạt động:
</a:t>
            </a:r>
            <a:pPr indent="0" marL="0">
              <a:buNone/>
            </a:pPr>
            <a:r>
              <a:rPr lang="en-US" sz="950" dirty="0">
                <a:solidFill>
                  <a:srgbClr val="FFFFFF"/>
                </a:solidFill>
                <a:latin typeface="Calibri" pitchFamily="34" charset="0"/>
                <a:ea typeface="Calibri" pitchFamily="34" charset="-122"/>
                <a:cs typeface="Calibri" pitchFamily="34" charset="-120"/>
              </a:rPr>
              <a:t>
</a:t>
            </a:r>
            <a:pPr indent="0" marL="0">
              <a:buNone/>
            </a:pPr>
            <a:r>
              <a:rPr lang="en-US" sz="1000" b="1" dirty="0">
                <a:solidFill>
                  <a:srgbClr val="10B981"/>
                </a:solidFill>
                <a:latin typeface="Calibri" pitchFamily="34" charset="0"/>
                <a:ea typeface="Calibri" pitchFamily="34" charset="-122"/>
                <a:cs typeface="Calibri" pitchFamily="34" charset="-120"/>
              </a:rPr>
              <a:t>Kết quả thực nghiệm:
</a:t>
            </a:r>
            <a:pPr indent="0" marL="0">
              <a:buNone/>
            </a:pPr>
            <a:r>
              <a:rPr lang="en-US" sz="900" dirty="0">
                <a:solidFill>
                  <a:srgbClr val="94A3B8"/>
                </a:solidFill>
                <a:latin typeface="Calibri" pitchFamily="34" charset="0"/>
                <a:ea typeface="Calibri" pitchFamily="34" charset="-122"/>
                <a:cs typeface="Calibri" pitchFamily="34" charset="-120"/>
              </a:rPr>
              <a:t>
</a:t>
            </a:r>
            <a:pPr indent="0" marL="0">
              <a:buNone/>
            </a:pPr>
            <a:r>
              <a:rPr lang="en-US" sz="1000" b="1" dirty="0">
                <a:solidFill>
                  <a:srgbClr val="F59E0B"/>
                </a:solidFill>
                <a:latin typeface="Calibri" pitchFamily="34" charset="0"/>
                <a:ea typeface="Calibri" pitchFamily="34" charset="-122"/>
                <a:cs typeface="Calibri" pitchFamily="34" charset="-120"/>
              </a:rPr>
              <a:t>Lưu ý cho lập trình viên:
</a:t>
            </a:r>
            <a:pPr indent="0" marL="0">
              <a:buNone/>
            </a:pPr>
            <a:endParaRPr lang="en-US" sz="1000" dirty="0"/>
          </a:p>
        </p:txBody>
      </p:sp>
      <p:sp>
        <p:nvSpPr>
          <p:cNvPr id="12" name="Shape 10"/>
          <p:cNvSpPr/>
          <p:nvPr/>
        </p:nvSpPr>
        <p:spPr>
          <a:xfrm>
            <a:off x="731520" y="6400800"/>
            <a:ext cx="10698480" cy="0"/>
          </a:xfrm>
          <a:prstGeom prst="line">
            <a:avLst/>
          </a:prstGeom>
          <a:noFill/>
          <a:ln w="12700">
            <a:solidFill>
              <a:srgbClr val="2A374F"/>
            </a:solidFill>
            <a:prstDash val="solid"/>
          </a:ln>
        </p:spPr>
      </p:sp>
      <p:sp>
        <p:nvSpPr>
          <p:cNvPr id="13" name="Text 11"/>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4" name="Text 12"/>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5" name="Text 13"/>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16 / 50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17 • Chương 2: AI Trong Học Tập &amp; Kỹ Thuật</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Thực Tiễn Nghề Nghiệp: Mô Phỏng Phỏng Vấn (Mock Interview) &amp; Bảo Vệ Đồ Án</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Phân định rõ ranh giới giữa việc dùng AI để chuẩn bị kỹ năng và bản lĩnh xử lý thực tế trước hội đồng tuyển dụng</a:t>
            </a:r>
            <a:endParaRPr lang="en-US" sz="1150" dirty="0"/>
          </a:p>
        </p:txBody>
      </p:sp>
      <p:sp>
        <p:nvSpPr>
          <p:cNvPr id="6" name="Shape 4"/>
          <p:cNvSpPr/>
          <p:nvPr/>
        </p:nvSpPr>
        <p:spPr>
          <a:xfrm>
            <a:off x="731520" y="1828800"/>
            <a:ext cx="5212080" cy="4206240"/>
          </a:xfrm>
          <a:prstGeom prst="roundRect">
            <a:avLst>
              <a:gd name="adj" fmla="val 2609"/>
            </a:avLst>
          </a:prstGeom>
          <a:solidFill>
            <a:srgbClr val="1C1622"/>
          </a:solidFill>
          <a:ln w="12700">
            <a:solidFill>
              <a:srgbClr val="4B2635"/>
            </a:solidFill>
            <a:prstDash val="solid"/>
          </a:ln>
        </p:spPr>
      </p:sp>
      <p:sp>
        <p:nvSpPr>
          <p:cNvPr id="7" name="Text 5"/>
          <p:cNvSpPr/>
          <p:nvPr/>
        </p:nvSpPr>
        <p:spPr>
          <a:xfrm>
            <a:off x="914400" y="2011680"/>
            <a:ext cx="4846320" cy="457200"/>
          </a:xfrm>
          <a:prstGeom prst="rect">
            <a:avLst/>
          </a:prstGeom>
          <a:noFill/>
          <a:ln/>
        </p:spPr>
        <p:txBody>
          <a:bodyPr wrap="square" rtlCol="0" anchor="ctr"/>
          <a:lstStyle/>
          <a:p>
            <a:pPr indent="0" marL="0">
              <a:buNone/>
            </a:pPr>
            <a:r>
              <a:rPr lang="en-US" sz="1400" b="1" dirty="0">
                <a:solidFill>
                  <a:srgbClr val="F43F5E"/>
                </a:solidFill>
                <a:latin typeface="Arial" pitchFamily="34" charset="0"/>
                <a:ea typeface="Arial" pitchFamily="34" charset="-122"/>
                <a:cs typeface="Arial" pitchFamily="34" charset="-120"/>
              </a:rPr>
              <a:t>Truyền Thống</a:t>
            </a:r>
            <a:endParaRPr lang="en-US" sz="1400" dirty="0"/>
          </a:p>
        </p:txBody>
      </p:sp>
      <p:sp>
        <p:nvSpPr>
          <p:cNvPr id="8" name="Text 6"/>
          <p:cNvSpPr/>
          <p:nvPr/>
        </p:nvSpPr>
        <p:spPr>
          <a:xfrm>
            <a:off x="914400" y="2560320"/>
            <a:ext cx="4846320" cy="3200400"/>
          </a:xfrm>
          <a:prstGeom prst="rect">
            <a:avLst/>
          </a:prstGeom>
          <a:noFill/>
          <a:ln/>
        </p:spPr>
        <p:txBody>
          <a:bodyPr wrap="square" rtlCol="0" anchor="ctr"/>
          <a:lstStyle/>
          <a:p>
            <a:pPr indent="0" marL="0">
              <a:buNone/>
            </a:pPr>
            <a:endParaRPr lang="en-US" sz="1050" dirty="0"/>
          </a:p>
        </p:txBody>
      </p:sp>
      <p:sp>
        <p:nvSpPr>
          <p:cNvPr id="9" name="Shape 7"/>
          <p:cNvSpPr/>
          <p:nvPr/>
        </p:nvSpPr>
        <p:spPr>
          <a:xfrm>
            <a:off x="6217920" y="1828800"/>
            <a:ext cx="5212080" cy="4206240"/>
          </a:xfrm>
          <a:prstGeom prst="roundRect">
            <a:avLst>
              <a:gd name="adj" fmla="val 2609"/>
            </a:avLst>
          </a:prstGeom>
          <a:solidFill>
            <a:srgbClr val="122624"/>
          </a:solidFill>
          <a:ln w="12700">
            <a:solidFill>
              <a:srgbClr val="1C4C42"/>
            </a:solidFill>
            <a:prstDash val="solid"/>
          </a:ln>
        </p:spPr>
      </p:sp>
      <p:sp>
        <p:nvSpPr>
          <p:cNvPr id="10" name="Text 8"/>
          <p:cNvSpPr/>
          <p:nvPr/>
        </p:nvSpPr>
        <p:spPr>
          <a:xfrm>
            <a:off x="6400800" y="2011680"/>
            <a:ext cx="4846320" cy="457200"/>
          </a:xfrm>
          <a:prstGeom prst="rect">
            <a:avLst/>
          </a:prstGeom>
          <a:noFill/>
          <a:ln/>
        </p:spPr>
        <p:txBody>
          <a:bodyPr wrap="square" rtlCol="0" anchor="ctr"/>
          <a:lstStyle/>
          <a:p>
            <a:pPr indent="0" marL="0">
              <a:buNone/>
            </a:pPr>
            <a:r>
              <a:rPr lang="en-US" sz="1400" b="1" dirty="0">
                <a:solidFill>
                  <a:srgbClr val="10B981"/>
                </a:solidFill>
                <a:latin typeface="Arial" pitchFamily="34" charset="0"/>
                <a:ea typeface="Arial" pitchFamily="34" charset="-122"/>
                <a:cs typeface="Arial" pitchFamily="34" charset="-120"/>
              </a:rPr>
              <a:t>Ứng Dụng AI</a:t>
            </a:r>
            <a:endParaRPr lang="en-US" sz="1400" dirty="0"/>
          </a:p>
        </p:txBody>
      </p:sp>
      <p:sp>
        <p:nvSpPr>
          <p:cNvPr id="11" name="Text 9"/>
          <p:cNvSpPr/>
          <p:nvPr/>
        </p:nvSpPr>
        <p:spPr>
          <a:xfrm>
            <a:off x="6400800" y="2560320"/>
            <a:ext cx="4846320" cy="3200400"/>
          </a:xfrm>
          <a:prstGeom prst="rect">
            <a:avLst/>
          </a:prstGeom>
          <a:noFill/>
          <a:ln/>
        </p:spPr>
        <p:txBody>
          <a:bodyPr wrap="square" rtlCol="0" anchor="ctr"/>
          <a:lstStyle/>
          <a:p>
            <a:pPr indent="0" marL="0">
              <a:buNone/>
            </a:pPr>
            <a:endParaRPr lang="en-US" sz="1050" dirty="0"/>
          </a:p>
        </p:txBody>
      </p:sp>
      <p:sp>
        <p:nvSpPr>
          <p:cNvPr id="12" name="Shape 10"/>
          <p:cNvSpPr/>
          <p:nvPr/>
        </p:nvSpPr>
        <p:spPr>
          <a:xfrm>
            <a:off x="731520" y="6400800"/>
            <a:ext cx="10698480" cy="0"/>
          </a:xfrm>
          <a:prstGeom prst="line">
            <a:avLst/>
          </a:prstGeom>
          <a:noFill/>
          <a:ln w="12700">
            <a:solidFill>
              <a:srgbClr val="2A374F"/>
            </a:solidFill>
            <a:prstDash val="solid"/>
          </a:ln>
        </p:spPr>
      </p:sp>
      <p:sp>
        <p:nvSpPr>
          <p:cNvPr id="13" name="Text 11"/>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4" name="Text 12"/>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5" name="Text 13"/>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17 / 50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18 • Chương 2: AI Trong Học Tập &amp; Kỹ Thuật</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Ứng Dụng AI Trong Toán Cao Cấp &amp; Toán Rời Rạc</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Trực quan hóa hình học không gian, ánh xạ ma trận và hỗ trợ kiểm tra tính chặt chẽ của chứng minh logic</a:t>
            </a:r>
            <a:endParaRPr lang="en-US" sz="1150" dirty="0"/>
          </a:p>
        </p:txBody>
      </p:sp>
      <p:sp>
        <p:nvSpPr>
          <p:cNvPr id="6" name="Shape 4"/>
          <p:cNvSpPr/>
          <p:nvPr/>
        </p:nvSpPr>
        <p:spPr>
          <a:xfrm>
            <a:off x="731520" y="1828800"/>
            <a:ext cx="6583680" cy="1097280"/>
          </a:xfrm>
          <a:prstGeom prst="roundRect">
            <a:avLst>
              <a:gd name="adj" fmla="val 8333"/>
            </a:avLst>
          </a:prstGeom>
          <a:solidFill>
            <a:srgbClr val="161F33"/>
          </a:solidFill>
          <a:ln w="12700">
            <a:solidFill>
              <a:srgbClr val="2A374F"/>
            </a:solidFill>
            <a:prstDash val="solid"/>
          </a:ln>
        </p:spPr>
      </p:sp>
      <p:sp>
        <p:nvSpPr>
          <p:cNvPr id="7" name="Text 5"/>
          <p:cNvSpPr/>
          <p:nvPr/>
        </p:nvSpPr>
        <p:spPr>
          <a:xfrm>
            <a:off x="914400" y="190195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Đại số tuyến tính: Trực quan hóa biến đổi không gian véc-tơ
</a:t>
            </a:r>
            <a:pPr indent="0" marL="0">
              <a:buNone/>
            </a:pPr>
            <a:r>
              <a:rPr lang="en-US" sz="1000" dirty="0">
                <a:solidFill>
                  <a:srgbClr val="FFFFFF"/>
                </a:solidFill>
                <a:latin typeface="Calibri" pitchFamily="34" charset="0"/>
                <a:ea typeface="Calibri" pitchFamily="34" charset="-122"/>
                <a:cs typeface="Calibri" pitchFamily="34" charset="-120"/>
              </a:rPr>
              <a:t>Sử dụng AI giải thích ý nghĩa hình học của Trị riêng (Eigenvalue), Véc-tơ riêng (Eigenvector) và Phân tích suy biến (Singular Value Decomposition - SVD) trong xử lý dữ liệu nhiều chiều.</a:t>
            </a:r>
            <a:endParaRPr lang="en-US" sz="1100" dirty="0"/>
          </a:p>
        </p:txBody>
      </p:sp>
      <p:sp>
        <p:nvSpPr>
          <p:cNvPr id="8" name="Shape 6"/>
          <p:cNvSpPr/>
          <p:nvPr/>
        </p:nvSpPr>
        <p:spPr>
          <a:xfrm>
            <a:off x="731520" y="3017520"/>
            <a:ext cx="6583680" cy="1097280"/>
          </a:xfrm>
          <a:prstGeom prst="roundRect">
            <a:avLst>
              <a:gd name="adj" fmla="val 8333"/>
            </a:avLst>
          </a:prstGeom>
          <a:solidFill>
            <a:srgbClr val="161F33"/>
          </a:solidFill>
          <a:ln w="12700">
            <a:solidFill>
              <a:srgbClr val="2A374F"/>
            </a:solidFill>
            <a:prstDash val="solid"/>
          </a:ln>
        </p:spPr>
      </p:sp>
      <p:sp>
        <p:nvSpPr>
          <p:cNvPr id="9" name="Text 7"/>
          <p:cNvSpPr/>
          <p:nvPr/>
        </p:nvSpPr>
        <p:spPr>
          <a:xfrm>
            <a:off x="914400" y="309067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Giải tích: Ý nghĩa hình học của Đạo hàm riêng và Gradient
</a:t>
            </a:r>
            <a:pPr indent="0" marL="0">
              <a:buNone/>
            </a:pPr>
            <a:r>
              <a:rPr lang="en-US" sz="1000" dirty="0">
                <a:solidFill>
                  <a:srgbClr val="FFFFFF"/>
                </a:solidFill>
                <a:latin typeface="Calibri" pitchFamily="34" charset="0"/>
                <a:ea typeface="Calibri" pitchFamily="34" charset="-122"/>
                <a:cs typeface="Calibri" pitchFamily="34" charset="-120"/>
              </a:rPr>
              <a:t>Trực quan hóa véc-tơ gradient ∇f(x, y) như phương tiếp tuyến có tốc độ tăng giá trị hàm số lớn nhất trên mặt cong 3D — nền tảng của thuật toán Gradient Descent.</a:t>
            </a:r>
            <a:endParaRPr lang="en-US" sz="1100" dirty="0"/>
          </a:p>
        </p:txBody>
      </p:sp>
      <p:sp>
        <p:nvSpPr>
          <p:cNvPr id="10" name="Shape 8"/>
          <p:cNvSpPr/>
          <p:nvPr/>
        </p:nvSpPr>
        <p:spPr>
          <a:xfrm>
            <a:off x="731520" y="4206240"/>
            <a:ext cx="6583680" cy="1097280"/>
          </a:xfrm>
          <a:prstGeom prst="roundRect">
            <a:avLst>
              <a:gd name="adj" fmla="val 8333"/>
            </a:avLst>
          </a:prstGeom>
          <a:solidFill>
            <a:srgbClr val="161F33"/>
          </a:solidFill>
          <a:ln w="12700">
            <a:solidFill>
              <a:srgbClr val="2A374F"/>
            </a:solidFill>
            <a:prstDash val="solid"/>
          </a:ln>
        </p:spPr>
      </p:sp>
      <p:sp>
        <p:nvSpPr>
          <p:cNvPr id="11" name="Text 9"/>
          <p:cNvSpPr/>
          <p:nvPr/>
        </p:nvSpPr>
        <p:spPr>
          <a:xfrm>
            <a:off x="914400" y="427939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Toán rời rạc: Bóc tách bài toán Đếm và Lý thuyết đồ thị
</a:t>
            </a:r>
            <a:pPr indent="0" marL="0">
              <a:buNone/>
            </a:pPr>
            <a:r>
              <a:rPr lang="en-US" sz="1000" dirty="0">
                <a:solidFill>
                  <a:srgbClr val="FFFFFF"/>
                </a:solidFill>
                <a:latin typeface="Calibri" pitchFamily="34" charset="0"/>
                <a:ea typeface="Calibri" pitchFamily="34" charset="-122"/>
                <a:cs typeface="Calibri" pitchFamily="34" charset="-120"/>
              </a:rPr>
              <a:t>Sử dụng AI để xây dựng bảng chân trị logic mệnh đề, kiểm tra tính đầy đủ của các bước chứng minh quy nạp và phân tích thuật toán đồ thị.</a:t>
            </a:r>
            <a:endParaRPr lang="en-US" sz="1100" dirty="0"/>
          </a:p>
        </p:txBody>
      </p:sp>
      <p:sp>
        <p:nvSpPr>
          <p:cNvPr id="12" name="Shape 10"/>
          <p:cNvSpPr/>
          <p:nvPr/>
        </p:nvSpPr>
        <p:spPr>
          <a:xfrm>
            <a:off x="731520" y="5440680"/>
            <a:ext cx="6583680" cy="594360"/>
          </a:xfrm>
          <a:prstGeom prst="roundRect">
            <a:avLst>
              <a:gd name="adj" fmla="val 12308"/>
            </a:avLst>
          </a:prstGeom>
          <a:solidFill>
            <a:srgbClr val="111F38"/>
          </a:solidFill>
          <a:ln w="12700">
            <a:solidFill>
              <a:srgbClr val="38BDF8"/>
            </a:solidFill>
            <a:prstDash val="solid"/>
          </a:ln>
        </p:spPr>
      </p:sp>
      <p:sp>
        <p:nvSpPr>
          <p:cNvPr id="13" name="Text 11"/>
          <p:cNvSpPr/>
          <p:nvPr/>
        </p:nvSpPr>
        <p:spPr>
          <a:xfrm>
            <a:off x="868680" y="5440680"/>
            <a:ext cx="6309360" cy="594360"/>
          </a:xfrm>
          <a:prstGeom prst="rect">
            <a:avLst/>
          </a:prstGeom>
          <a:noFill/>
          <a:ln/>
        </p:spPr>
        <p:txBody>
          <a:bodyPr wrap="square" rtlCol="0" anchor="ctr"/>
          <a:lstStyle/>
          <a:p>
            <a:pPr indent="0" marL="0">
              <a:buNone/>
            </a:pPr>
            <a:r>
              <a:rPr lang="en-US" sz="950" i="1" dirty="0">
                <a:solidFill>
                  <a:srgbClr val="38BDF8"/>
                </a:solidFill>
                <a:latin typeface="Calibri" pitchFamily="34" charset="0"/>
                <a:ea typeface="Calibri" pitchFamily="34" charset="-122"/>
                <a:cs typeface="Calibri" pitchFamily="34" charset="-120"/>
              </a:rPr>
              <a:t>💡 Điểm cốt lõi: Toán học là ngôn ngữ nền tảng của Trí tuệ nhân tạo; việc nắm vững bản chất hình học của các định lý toán học là chìa khóa để làm chủ thuật toán máy học.</a:t>
            </a:r>
            <a:endParaRPr lang="en-US" sz="950" dirty="0"/>
          </a:p>
        </p:txBody>
      </p:sp>
      <p:pic>
        <p:nvPicPr>
          <p:cNvPr id="14" name="Image 0" descr="D:\Linh tinh\web_thay_thuan\assets\images\slide-02-welcome.jpg">    </p:cNvPr>
          <p:cNvPicPr>
            <a:picLocks noChangeAspect="1"/>
          </p:cNvPicPr>
          <p:nvPr/>
        </p:nvPicPr>
        <p:blipFill>
          <a:blip r:embed="rId1"/>
          <a:srcRect l="0" r="0" t="0" b="0"/>
          <a:stretch/>
        </p:blipFill>
        <p:spPr>
          <a:xfrm>
            <a:off x="7589520" y="1737360"/>
            <a:ext cx="3840480" cy="4389120"/>
          </a:xfrm>
          <a:prstGeom prst="rect">
            <a:avLst/>
          </a:prstGeom>
        </p:spPr>
      </p:pic>
      <p:sp>
        <p:nvSpPr>
          <p:cNvPr id="15" name="Text 12"/>
          <p:cNvSpPr/>
          <p:nvPr/>
        </p:nvSpPr>
        <p:spPr>
          <a:xfrm>
            <a:off x="7589520" y="5897880"/>
            <a:ext cx="3840480" cy="320040"/>
          </a:xfrm>
          <a:prstGeom prst="rect">
            <a:avLst/>
          </a:prstGeom>
          <a:noFill/>
          <a:ln/>
        </p:spPr>
        <p:txBody>
          <a:bodyPr wrap="square"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Học toán cao cấp và toán rời rạc qua lăng kính trực quan hóa</a:t>
            </a:r>
            <a:endParaRPr lang="en-US" sz="800" dirty="0"/>
          </a:p>
        </p:txBody>
      </p:sp>
      <p:sp>
        <p:nvSpPr>
          <p:cNvPr id="16" name="Shape 13"/>
          <p:cNvSpPr/>
          <p:nvPr/>
        </p:nvSpPr>
        <p:spPr>
          <a:xfrm>
            <a:off x="731520" y="6400800"/>
            <a:ext cx="10698480" cy="0"/>
          </a:xfrm>
          <a:prstGeom prst="line">
            <a:avLst/>
          </a:prstGeom>
          <a:noFill/>
          <a:ln w="12700">
            <a:solidFill>
              <a:srgbClr val="2A374F"/>
            </a:solidFill>
            <a:prstDash val="solid"/>
          </a:ln>
        </p:spPr>
      </p:sp>
      <p:sp>
        <p:nvSpPr>
          <p:cNvPr id="17" name="Text 14"/>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8" name="Text 15"/>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9" name="Text 16"/>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18 / 50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19 • Chương 2: AI Trong Học Tập &amp; Kỹ Thuật</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Mô Hình Suy Luận: Cơ Chế Chain-Of-Thought Trong Bài Toán Phức Tạp</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Phân tích bước tiến công nghệ từ mô hình sinh phản hồi tức thời sang mô hình suy luận đa bước</a:t>
            </a:r>
            <a:endParaRPr lang="en-US" sz="1150" dirty="0"/>
          </a:p>
        </p:txBody>
      </p:sp>
      <p:sp>
        <p:nvSpPr>
          <p:cNvPr id="6" name="Shape 4"/>
          <p:cNvSpPr/>
          <p:nvPr/>
        </p:nvSpPr>
        <p:spPr>
          <a:xfrm>
            <a:off x="731520" y="1828800"/>
            <a:ext cx="2072640" cy="1051560"/>
          </a:xfrm>
          <a:prstGeom prst="roundRect">
            <a:avLst>
              <a:gd name="adj" fmla="val 8696"/>
            </a:avLst>
          </a:prstGeom>
          <a:solidFill>
            <a:srgbClr val="161F33"/>
          </a:solidFill>
          <a:ln w="12700">
            <a:solidFill>
              <a:srgbClr val="2A374F"/>
            </a:solidFill>
            <a:prstDash val="solid"/>
          </a:ln>
        </p:spPr>
      </p:sp>
      <p:sp>
        <p:nvSpPr>
          <p:cNvPr id="7" name="Text 5"/>
          <p:cNvSpPr/>
          <p:nvPr/>
        </p:nvSpPr>
        <p:spPr>
          <a:xfrm>
            <a:off x="822960" y="1920240"/>
            <a:ext cx="1889760" cy="457200"/>
          </a:xfrm>
          <a:prstGeom prst="rect">
            <a:avLst/>
          </a:prstGeom>
          <a:noFill/>
          <a:ln/>
        </p:spPr>
        <p:txBody>
          <a:bodyPr wrap="square" rtlCol="0" anchor="ctr"/>
          <a:lstStyle/>
          <a:p>
            <a:pPr algn="ctr" indent="0" marL="0">
              <a:buNone/>
            </a:pPr>
            <a:r>
              <a:rPr lang="en-US" sz="1800" b="1" dirty="0">
                <a:solidFill>
                  <a:srgbClr val="38BDF8"/>
                </a:solidFill>
                <a:latin typeface="Arial" pitchFamily="34" charset="0"/>
                <a:ea typeface="Arial" pitchFamily="34" charset="-122"/>
                <a:cs typeface="Arial" pitchFamily="34" charset="-120"/>
              </a:rPr>
              <a:t>CoT</a:t>
            </a:r>
            <a:endParaRPr lang="en-US" sz="1800" dirty="0"/>
          </a:p>
        </p:txBody>
      </p:sp>
      <p:sp>
        <p:nvSpPr>
          <p:cNvPr id="8" name="Text 6"/>
          <p:cNvSpPr/>
          <p:nvPr/>
        </p:nvSpPr>
        <p:spPr>
          <a:xfrm>
            <a:off x="82296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Cơ chế: Chain-of-Thought (Chuỗi suy luận)</a:t>
            </a:r>
            <a:endParaRPr lang="en-US" sz="950" dirty="0"/>
          </a:p>
        </p:txBody>
      </p:sp>
      <p:sp>
        <p:nvSpPr>
          <p:cNvPr id="9" name="Shape 7"/>
          <p:cNvSpPr/>
          <p:nvPr/>
        </p:nvSpPr>
        <p:spPr>
          <a:xfrm>
            <a:off x="2987040" y="1828800"/>
            <a:ext cx="2072640" cy="1051560"/>
          </a:xfrm>
          <a:prstGeom prst="roundRect">
            <a:avLst>
              <a:gd name="adj" fmla="val 8696"/>
            </a:avLst>
          </a:prstGeom>
          <a:solidFill>
            <a:srgbClr val="161F33"/>
          </a:solidFill>
          <a:ln w="12700">
            <a:solidFill>
              <a:srgbClr val="2A374F"/>
            </a:solidFill>
            <a:prstDash val="solid"/>
          </a:ln>
        </p:spPr>
      </p:sp>
      <p:sp>
        <p:nvSpPr>
          <p:cNvPr id="10" name="Text 8"/>
          <p:cNvSpPr/>
          <p:nvPr/>
        </p:nvSpPr>
        <p:spPr>
          <a:xfrm>
            <a:off x="3078480" y="1920240"/>
            <a:ext cx="1889760" cy="457200"/>
          </a:xfrm>
          <a:prstGeom prst="rect">
            <a:avLst/>
          </a:prstGeom>
          <a:noFill/>
          <a:ln/>
        </p:spPr>
        <p:txBody>
          <a:bodyPr wrap="square" rtlCol="0" anchor="ctr"/>
          <a:lstStyle/>
          <a:p>
            <a:pPr algn="ctr" indent="0" marL="0">
              <a:buNone/>
            </a:pPr>
            <a:r>
              <a:rPr lang="en-US" sz="1800" b="1" dirty="0">
                <a:solidFill>
                  <a:srgbClr val="10B981"/>
                </a:solidFill>
                <a:latin typeface="Arial" pitchFamily="34" charset="0"/>
                <a:ea typeface="Arial" pitchFamily="34" charset="-122"/>
                <a:cs typeface="Arial" pitchFamily="34" charset="-120"/>
              </a:rPr>
              <a:t>93.5%</a:t>
            </a:r>
            <a:endParaRPr lang="en-US" sz="1800" dirty="0"/>
          </a:p>
        </p:txBody>
      </p:sp>
      <p:sp>
        <p:nvSpPr>
          <p:cNvPr id="11" name="Text 9"/>
          <p:cNvSpPr/>
          <p:nvPr/>
        </p:nvSpPr>
        <p:spPr>
          <a:xfrm>
            <a:off x="307848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Độ chính xác toán học GSM8K (DeepSeek-R1)</a:t>
            </a:r>
            <a:endParaRPr lang="en-US" sz="950" dirty="0"/>
          </a:p>
        </p:txBody>
      </p:sp>
      <p:sp>
        <p:nvSpPr>
          <p:cNvPr id="12" name="Shape 10"/>
          <p:cNvSpPr/>
          <p:nvPr/>
        </p:nvSpPr>
        <p:spPr>
          <a:xfrm>
            <a:off x="5242560" y="1828800"/>
            <a:ext cx="2072640" cy="1051560"/>
          </a:xfrm>
          <a:prstGeom prst="roundRect">
            <a:avLst>
              <a:gd name="adj" fmla="val 8696"/>
            </a:avLst>
          </a:prstGeom>
          <a:solidFill>
            <a:srgbClr val="161F33"/>
          </a:solidFill>
          <a:ln w="12700">
            <a:solidFill>
              <a:srgbClr val="2A374F"/>
            </a:solidFill>
            <a:prstDash val="solid"/>
          </a:ln>
        </p:spPr>
      </p:sp>
      <p:sp>
        <p:nvSpPr>
          <p:cNvPr id="13" name="Text 11"/>
          <p:cNvSpPr/>
          <p:nvPr/>
        </p:nvSpPr>
        <p:spPr>
          <a:xfrm>
            <a:off x="5334000" y="1920240"/>
            <a:ext cx="1889760" cy="457200"/>
          </a:xfrm>
          <a:prstGeom prst="rect">
            <a:avLst/>
          </a:prstGeom>
          <a:noFill/>
          <a:ln/>
        </p:spPr>
        <p:txBody>
          <a:bodyPr wrap="square" rtlCol="0" anchor="ctr"/>
          <a:lstStyle/>
          <a:p>
            <a:pPr algn="ctr" indent="0" marL="0">
              <a:buNone/>
            </a:pPr>
            <a:r>
              <a:rPr lang="en-US" sz="1800" b="1" dirty="0">
                <a:solidFill>
                  <a:srgbClr val="10B981"/>
                </a:solidFill>
                <a:latin typeface="Arial" pitchFamily="34" charset="0"/>
                <a:ea typeface="Arial" pitchFamily="34" charset="-122"/>
                <a:cs typeface="Arial" pitchFamily="34" charset="-120"/>
              </a:rPr>
              <a:t>Local</a:t>
            </a:r>
            <a:endParaRPr lang="en-US" sz="1800" dirty="0"/>
          </a:p>
        </p:txBody>
      </p:sp>
      <p:sp>
        <p:nvSpPr>
          <p:cNvPr id="14" name="Text 12"/>
          <p:cNvSpPr/>
          <p:nvPr/>
        </p:nvSpPr>
        <p:spPr>
          <a:xfrm>
            <a:off x="533400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Khả năng triển khai offline trên máy trạm</a:t>
            </a:r>
            <a:endParaRPr lang="en-US" sz="950" dirty="0"/>
          </a:p>
        </p:txBody>
      </p:sp>
      <p:sp>
        <p:nvSpPr>
          <p:cNvPr id="15" name="Shape 13"/>
          <p:cNvSpPr/>
          <p:nvPr/>
        </p:nvSpPr>
        <p:spPr>
          <a:xfrm>
            <a:off x="731520" y="3063240"/>
            <a:ext cx="6583680" cy="746760"/>
          </a:xfrm>
          <a:prstGeom prst="roundRect">
            <a:avLst>
              <a:gd name="adj" fmla="val 12245"/>
            </a:avLst>
          </a:prstGeom>
          <a:solidFill>
            <a:srgbClr val="161F33"/>
          </a:solidFill>
          <a:ln w="12700">
            <a:solidFill>
              <a:srgbClr val="2A374F"/>
            </a:solidFill>
            <a:prstDash val="solid"/>
          </a:ln>
        </p:spPr>
      </p:sp>
      <p:sp>
        <p:nvSpPr>
          <p:cNvPr id="16" name="Text 14"/>
          <p:cNvSpPr/>
          <p:nvPr/>
        </p:nvSpPr>
        <p:spPr>
          <a:xfrm>
            <a:off x="914400" y="31363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Cơ chế phân rã bài toán và tự phản biện (Self-Correction)
</a:t>
            </a:r>
            <a:pPr indent="0" marL="0">
              <a:buNone/>
            </a:pPr>
            <a:r>
              <a:rPr lang="en-US" sz="1000" dirty="0">
                <a:solidFill>
                  <a:srgbClr val="FFFFFF"/>
                </a:solidFill>
                <a:latin typeface="Calibri" pitchFamily="34" charset="0"/>
                <a:ea typeface="Calibri" pitchFamily="34" charset="-122"/>
                <a:cs typeface="Calibri" pitchFamily="34" charset="-120"/>
              </a:rPr>
              <a:t>Các mô hình thế hệ mới (DeepSeek-R1, OpenAI o1) dành tài nguyên tính toán lúc suy luận (Inference-time Compute) để phân rã bài toán thành các giả thuyết trung gian và tự kiểm tra lỗi logic.</a:t>
            </a:r>
            <a:endParaRPr lang="en-US" sz="1100" dirty="0"/>
          </a:p>
        </p:txBody>
      </p:sp>
      <p:sp>
        <p:nvSpPr>
          <p:cNvPr id="17" name="Shape 15"/>
          <p:cNvSpPr/>
          <p:nvPr/>
        </p:nvSpPr>
        <p:spPr>
          <a:xfrm>
            <a:off x="731520" y="3901440"/>
            <a:ext cx="6583680" cy="746760"/>
          </a:xfrm>
          <a:prstGeom prst="roundRect">
            <a:avLst>
              <a:gd name="adj" fmla="val 12245"/>
            </a:avLst>
          </a:prstGeom>
          <a:solidFill>
            <a:srgbClr val="161F33"/>
          </a:solidFill>
          <a:ln w="12700">
            <a:solidFill>
              <a:srgbClr val="2A374F"/>
            </a:solidFill>
            <a:prstDash val="solid"/>
          </a:ln>
        </p:spPr>
      </p:sp>
      <p:sp>
        <p:nvSpPr>
          <p:cNvPr id="18" name="Text 16"/>
          <p:cNvSpPr/>
          <p:nvPr/>
        </p:nvSpPr>
        <p:spPr>
          <a:xfrm>
            <a:off x="914400" y="39745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Ứng dụng trong Mật mã học và Lý thuyết số
</a:t>
            </a:r>
            <a:pPr indent="0" marL="0">
              <a:buNone/>
            </a:pPr>
            <a:r>
              <a:rPr lang="en-US" sz="1000" dirty="0">
                <a:solidFill>
                  <a:srgbClr val="FFFFFF"/>
                </a:solidFill>
                <a:latin typeface="Calibri" pitchFamily="34" charset="0"/>
                <a:ea typeface="Calibri" pitchFamily="34" charset="-122"/>
                <a:cs typeface="Calibri" pitchFamily="34" charset="-120"/>
              </a:rPr>
              <a:t>Hiệu quả vượt trội trong việc phân tích các bài toán số học đồng dư, giải thuật Euclid mở rộng và kiểm tra tính an toàn của các tham số mật mã.</a:t>
            </a:r>
            <a:endParaRPr lang="en-US" sz="1100" dirty="0"/>
          </a:p>
        </p:txBody>
      </p:sp>
      <p:sp>
        <p:nvSpPr>
          <p:cNvPr id="19" name="Shape 17"/>
          <p:cNvSpPr/>
          <p:nvPr/>
        </p:nvSpPr>
        <p:spPr>
          <a:xfrm>
            <a:off x="731520" y="4739640"/>
            <a:ext cx="6583680" cy="746760"/>
          </a:xfrm>
          <a:prstGeom prst="roundRect">
            <a:avLst>
              <a:gd name="adj" fmla="val 12245"/>
            </a:avLst>
          </a:prstGeom>
          <a:solidFill>
            <a:srgbClr val="161F33"/>
          </a:solidFill>
          <a:ln w="12700">
            <a:solidFill>
              <a:srgbClr val="2A374F"/>
            </a:solidFill>
            <a:prstDash val="solid"/>
          </a:ln>
        </p:spPr>
      </p:sp>
      <p:sp>
        <p:nvSpPr>
          <p:cNvPr id="20" name="Text 18"/>
          <p:cNvSpPr/>
          <p:nvPr/>
        </p:nvSpPr>
        <p:spPr>
          <a:xfrm>
            <a:off x="914400" y="48127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Khả năng triển khai độc lập (On-premise / Local Deployment)
</a:t>
            </a:r>
            <a:pPr indent="0" marL="0">
              <a:buNone/>
            </a:pPr>
            <a:r>
              <a:rPr lang="en-US" sz="1000" dirty="0">
                <a:solidFill>
                  <a:srgbClr val="FFFFFF"/>
                </a:solidFill>
                <a:latin typeface="Calibri" pitchFamily="34" charset="0"/>
                <a:ea typeface="Calibri" pitchFamily="34" charset="-122"/>
                <a:cs typeface="Calibri" pitchFamily="34" charset="-120"/>
              </a:rPr>
              <a:t>Các mô hình mã nguồn mở cho phép triển khai hoàn toàn trong mạng nội bộ, đáp ứng các tiêu chuẩn bảo mật dữ liệu nghiêm ngặt của ngành an toàn thông tin.</a:t>
            </a:r>
            <a:endParaRPr lang="en-US" sz="1100" dirty="0"/>
          </a:p>
        </p:txBody>
      </p:sp>
      <p:sp>
        <p:nvSpPr>
          <p:cNvPr id="21" name="Shape 19"/>
          <p:cNvSpPr/>
          <p:nvPr/>
        </p:nvSpPr>
        <p:spPr>
          <a:xfrm>
            <a:off x="731520" y="5623560"/>
            <a:ext cx="6583680" cy="594360"/>
          </a:xfrm>
          <a:prstGeom prst="roundRect">
            <a:avLst>
              <a:gd name="adj" fmla="val 12308"/>
            </a:avLst>
          </a:prstGeom>
          <a:solidFill>
            <a:srgbClr val="111F38"/>
          </a:solidFill>
          <a:ln w="12700">
            <a:solidFill>
              <a:srgbClr val="38BDF8"/>
            </a:solidFill>
            <a:prstDash val="solid"/>
          </a:ln>
        </p:spPr>
      </p:sp>
      <p:sp>
        <p:nvSpPr>
          <p:cNvPr id="22" name="Text 20"/>
          <p:cNvSpPr/>
          <p:nvPr/>
        </p:nvSpPr>
        <p:spPr>
          <a:xfrm>
            <a:off x="868680" y="5623560"/>
            <a:ext cx="6309360" cy="594360"/>
          </a:xfrm>
          <a:prstGeom prst="rect">
            <a:avLst/>
          </a:prstGeom>
          <a:noFill/>
          <a:ln/>
        </p:spPr>
        <p:txBody>
          <a:bodyPr wrap="square" rtlCol="0" anchor="ctr"/>
          <a:lstStyle/>
          <a:p>
            <a:pPr indent="0" marL="0">
              <a:buNone/>
            </a:pPr>
            <a:r>
              <a:rPr lang="en-US" sz="950" i="1" dirty="0">
                <a:solidFill>
                  <a:srgbClr val="38BDF8"/>
                </a:solidFill>
                <a:latin typeface="Calibri" pitchFamily="34" charset="0"/>
                <a:ea typeface="Calibri" pitchFamily="34" charset="-122"/>
                <a:cs typeface="Calibri" pitchFamily="34" charset="-120"/>
              </a:rPr>
              <a:t>💡 Điểm cốt lõi: Sự phát triển của cơ chế Chain-of-Thought đánh dấu bước chuyển biến quan trọng: Chuyển từ việc sao chép mẫu ngôn ngữ sang việc thực thi chuỗi suy luận logic có kiểm chứng.</a:t>
            </a:r>
            <a:endParaRPr lang="en-US" sz="950" dirty="0"/>
          </a:p>
        </p:txBody>
      </p:sp>
      <p:pic>
        <p:nvPicPr>
          <p:cNvPr id="23" name="Image 0" descr="D:\Linh tinh\web_thay_thuan\assets\images\slide-08-llm-models.jpg">    </p:cNvPr>
          <p:cNvPicPr>
            <a:picLocks noChangeAspect="1"/>
          </p:cNvPicPr>
          <p:nvPr/>
        </p:nvPicPr>
        <p:blipFill>
          <a:blip r:embed="rId1"/>
          <a:srcRect l="0" r="0" t="0" b="0"/>
          <a:stretch/>
        </p:blipFill>
        <p:spPr>
          <a:xfrm>
            <a:off x="7589520" y="1737360"/>
            <a:ext cx="3840480" cy="4389120"/>
          </a:xfrm>
          <a:prstGeom prst="rect">
            <a:avLst/>
          </a:prstGeom>
        </p:spPr>
      </p:pic>
      <p:sp>
        <p:nvSpPr>
          <p:cNvPr id="24" name="Text 21"/>
          <p:cNvSpPr/>
          <p:nvPr/>
        </p:nvSpPr>
        <p:spPr>
          <a:xfrm>
            <a:off x="7589520" y="5897880"/>
            <a:ext cx="3840480" cy="320040"/>
          </a:xfrm>
          <a:prstGeom prst="rect">
            <a:avLst/>
          </a:prstGeom>
          <a:noFill/>
          <a:ln/>
        </p:spPr>
        <p:txBody>
          <a:bodyPr wrap="square"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Cơ chế suy luận Chain-of-Thought mở ra khả năng giải toán và phân tích mật mã vượt bậc</a:t>
            </a:r>
            <a:endParaRPr lang="en-US" sz="800" dirty="0"/>
          </a:p>
        </p:txBody>
      </p:sp>
      <p:sp>
        <p:nvSpPr>
          <p:cNvPr id="25" name="Shape 22"/>
          <p:cNvSpPr/>
          <p:nvPr/>
        </p:nvSpPr>
        <p:spPr>
          <a:xfrm>
            <a:off x="731520" y="6400800"/>
            <a:ext cx="10698480" cy="0"/>
          </a:xfrm>
          <a:prstGeom prst="line">
            <a:avLst/>
          </a:prstGeom>
          <a:noFill/>
          <a:ln w="12700">
            <a:solidFill>
              <a:srgbClr val="2A374F"/>
            </a:solidFill>
            <a:prstDash val="solid"/>
          </a:ln>
        </p:spPr>
      </p:sp>
      <p:sp>
        <p:nvSpPr>
          <p:cNvPr id="26" name="Text 23"/>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27" name="Text 24"/>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28" name="Text 2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19 / 50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20 • Chương 2: AI Trong Học Tập &amp; Kỹ Thuật</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Kỹ Thuật Prompting Chuẩn Kỹ Thuật: Khung Cấu Trúc CLEAR</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Quy chuẩn thiết lập câu lệnh 5 thành phần đảm bảo tính xác định và độ chính xác của kết quả</a:t>
            </a:r>
            <a:endParaRPr lang="en-US" sz="1150" dirty="0"/>
          </a:p>
        </p:txBody>
      </p:sp>
      <p:sp>
        <p:nvSpPr>
          <p:cNvPr id="6" name="Shape 4"/>
          <p:cNvSpPr/>
          <p:nvPr/>
        </p:nvSpPr>
        <p:spPr>
          <a:xfrm>
            <a:off x="731520" y="1828800"/>
            <a:ext cx="6583680" cy="694944"/>
          </a:xfrm>
          <a:prstGeom prst="roundRect">
            <a:avLst>
              <a:gd name="adj" fmla="val 13158"/>
            </a:avLst>
          </a:prstGeom>
          <a:solidFill>
            <a:srgbClr val="161F33"/>
          </a:solidFill>
          <a:ln w="12700">
            <a:solidFill>
              <a:srgbClr val="2A374F"/>
            </a:solidFill>
            <a:prstDash val="solid"/>
          </a:ln>
        </p:spPr>
      </p:sp>
      <p:sp>
        <p:nvSpPr>
          <p:cNvPr id="7" name="Text 5"/>
          <p:cNvSpPr/>
          <p:nvPr/>
        </p:nvSpPr>
        <p:spPr>
          <a:xfrm>
            <a:off x="914400" y="1901952"/>
            <a:ext cx="6217920" cy="54864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C  Context (Bối cảnh kỹ thuật)
</a:t>
            </a:r>
            <a:pPr indent="0" marL="0">
              <a:buNone/>
            </a:pPr>
            <a:r>
              <a:rPr lang="en-US" sz="1000" dirty="0">
                <a:solidFill>
                  <a:srgbClr val="FFFFFF"/>
                </a:solidFill>
                <a:latin typeface="Calibri" pitchFamily="34" charset="0"/>
                <a:ea typeface="Calibri" pitchFamily="34" charset="-122"/>
                <a:cs typeface="Calibri" pitchFamily="34" charset="-120"/>
              </a:rPr>
              <a:t>Xác định rõ vai trò chuyên môn, môi trường phát triển phần mềm, chuẩn ngôn ngữ (ví dụ: C++17, Linux kernel) và đối tượng sử dụng.</a:t>
            </a:r>
            <a:endParaRPr lang="en-US" sz="1100" dirty="0"/>
          </a:p>
        </p:txBody>
      </p:sp>
      <p:sp>
        <p:nvSpPr>
          <p:cNvPr id="8" name="Shape 6"/>
          <p:cNvSpPr/>
          <p:nvPr/>
        </p:nvSpPr>
        <p:spPr>
          <a:xfrm>
            <a:off x="731520" y="2615184"/>
            <a:ext cx="6583680" cy="694944"/>
          </a:xfrm>
          <a:prstGeom prst="roundRect">
            <a:avLst>
              <a:gd name="adj" fmla="val 13158"/>
            </a:avLst>
          </a:prstGeom>
          <a:solidFill>
            <a:srgbClr val="161F33"/>
          </a:solidFill>
          <a:ln w="12700">
            <a:solidFill>
              <a:srgbClr val="2A374F"/>
            </a:solidFill>
            <a:prstDash val="solid"/>
          </a:ln>
        </p:spPr>
      </p:sp>
      <p:sp>
        <p:nvSpPr>
          <p:cNvPr id="9" name="Text 7"/>
          <p:cNvSpPr/>
          <p:nvPr/>
        </p:nvSpPr>
        <p:spPr>
          <a:xfrm>
            <a:off x="914400" y="2688336"/>
            <a:ext cx="6217920" cy="54864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L  Limitation (Ràng buộc hệ thống nghiêm ngặt)
</a:t>
            </a:r>
            <a:pPr indent="0" marL="0">
              <a:buNone/>
            </a:pPr>
            <a:r>
              <a:rPr lang="en-US" sz="1000" dirty="0">
                <a:solidFill>
                  <a:srgbClr val="FFFFFF"/>
                </a:solidFill>
                <a:latin typeface="Calibri" pitchFamily="34" charset="0"/>
                <a:ea typeface="Calibri" pitchFamily="34" charset="-122"/>
                <a:cs typeface="Calibri" pitchFamily="34" charset="-120"/>
              </a:rPr>
              <a:t>Thiết lập các giới hạn bắt buộc: Không sử dụng thư viện ngoài; ràng buộc bộ nhớ phụ O(1); không sử dụng đệ quy để tránh tràn Stack.</a:t>
            </a:r>
            <a:endParaRPr lang="en-US" sz="1100" dirty="0"/>
          </a:p>
        </p:txBody>
      </p:sp>
      <p:sp>
        <p:nvSpPr>
          <p:cNvPr id="10" name="Shape 8"/>
          <p:cNvSpPr/>
          <p:nvPr/>
        </p:nvSpPr>
        <p:spPr>
          <a:xfrm>
            <a:off x="731520" y="3401568"/>
            <a:ext cx="6583680" cy="694944"/>
          </a:xfrm>
          <a:prstGeom prst="roundRect">
            <a:avLst>
              <a:gd name="adj" fmla="val 13158"/>
            </a:avLst>
          </a:prstGeom>
          <a:solidFill>
            <a:srgbClr val="161F33"/>
          </a:solidFill>
          <a:ln w="12700">
            <a:solidFill>
              <a:srgbClr val="2A374F"/>
            </a:solidFill>
            <a:prstDash val="solid"/>
          </a:ln>
        </p:spPr>
      </p:sp>
      <p:sp>
        <p:nvSpPr>
          <p:cNvPr id="11" name="Text 9"/>
          <p:cNvSpPr/>
          <p:nvPr/>
        </p:nvSpPr>
        <p:spPr>
          <a:xfrm>
            <a:off x="914400" y="3474720"/>
            <a:ext cx="6217920" cy="54864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E  Expectation (Nhiệm vụ cụ thể)
</a:t>
            </a:r>
            <a:pPr indent="0" marL="0">
              <a:buNone/>
            </a:pPr>
            <a:r>
              <a:rPr lang="en-US" sz="1000" dirty="0">
                <a:solidFill>
                  <a:srgbClr val="FFFFFF"/>
                </a:solidFill>
                <a:latin typeface="Calibri" pitchFamily="34" charset="0"/>
                <a:ea typeface="Calibri" pitchFamily="34" charset="-122"/>
                <a:cs typeface="Calibri" pitchFamily="34" charset="-120"/>
              </a:rPr>
              <a:t>Đặc tả chính xác yêu cầu kỹ thuật: Giải thích cơ chế con trỏ, vẽ sơ đồ ô nhớ, hoặc phân tích trường hợp xấu nhất của giải thuật.</a:t>
            </a:r>
            <a:endParaRPr lang="en-US" sz="1100" dirty="0"/>
          </a:p>
        </p:txBody>
      </p:sp>
      <p:sp>
        <p:nvSpPr>
          <p:cNvPr id="12" name="Shape 10"/>
          <p:cNvSpPr/>
          <p:nvPr/>
        </p:nvSpPr>
        <p:spPr>
          <a:xfrm>
            <a:off x="731520" y="4187952"/>
            <a:ext cx="6583680" cy="694944"/>
          </a:xfrm>
          <a:prstGeom prst="roundRect">
            <a:avLst>
              <a:gd name="adj" fmla="val 13158"/>
            </a:avLst>
          </a:prstGeom>
          <a:solidFill>
            <a:srgbClr val="161F33"/>
          </a:solidFill>
          <a:ln w="12700">
            <a:solidFill>
              <a:srgbClr val="2A374F"/>
            </a:solidFill>
            <a:prstDash val="solid"/>
          </a:ln>
        </p:spPr>
      </p:sp>
      <p:sp>
        <p:nvSpPr>
          <p:cNvPr id="13" name="Text 11"/>
          <p:cNvSpPr/>
          <p:nvPr/>
        </p:nvSpPr>
        <p:spPr>
          <a:xfrm>
            <a:off x="914400" y="4261104"/>
            <a:ext cx="6217920" cy="54864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A  Action / Role (Vai trò chuyên môn của hệ thống)
</a:t>
            </a:r>
            <a:pPr indent="0" marL="0">
              <a:buNone/>
            </a:pPr>
            <a:r>
              <a:rPr lang="en-US" sz="1000" dirty="0">
                <a:solidFill>
                  <a:srgbClr val="FFFFFF"/>
                </a:solidFill>
                <a:latin typeface="Calibri" pitchFamily="34" charset="0"/>
                <a:ea typeface="Calibri" pitchFamily="34" charset="-122"/>
                <a:cs typeface="Calibri" pitchFamily="34" charset="-120"/>
              </a:rPr>
              <a:t>Chỉ định mô hình vận hành như một chuyên gia đánh giá an ninh mã nguồn hoặc kỹ sư tối ưu hóa hệ thống máy tính.</a:t>
            </a:r>
            <a:endParaRPr lang="en-US" sz="1100" dirty="0"/>
          </a:p>
        </p:txBody>
      </p:sp>
      <p:sp>
        <p:nvSpPr>
          <p:cNvPr id="14" name="Shape 12"/>
          <p:cNvSpPr/>
          <p:nvPr/>
        </p:nvSpPr>
        <p:spPr>
          <a:xfrm>
            <a:off x="731520" y="4974336"/>
            <a:ext cx="6583680" cy="694944"/>
          </a:xfrm>
          <a:prstGeom prst="roundRect">
            <a:avLst>
              <a:gd name="adj" fmla="val 13158"/>
            </a:avLst>
          </a:prstGeom>
          <a:solidFill>
            <a:srgbClr val="161F33"/>
          </a:solidFill>
          <a:ln w="12700">
            <a:solidFill>
              <a:srgbClr val="2A374F"/>
            </a:solidFill>
            <a:prstDash val="solid"/>
          </a:ln>
        </p:spPr>
      </p:sp>
      <p:sp>
        <p:nvSpPr>
          <p:cNvPr id="15" name="Text 13"/>
          <p:cNvSpPr/>
          <p:nvPr/>
        </p:nvSpPr>
        <p:spPr>
          <a:xfrm>
            <a:off x="914400" y="5047488"/>
            <a:ext cx="6217920" cy="54864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R  Refinement (Định dạng cấu trúc đầu ra)
</a:t>
            </a:r>
            <a:pPr indent="0" marL="0">
              <a:buNone/>
            </a:pPr>
            <a:r>
              <a:rPr lang="en-US" sz="1000" dirty="0">
                <a:solidFill>
                  <a:srgbClr val="FFFFFF"/>
                </a:solidFill>
                <a:latin typeface="Calibri" pitchFamily="34" charset="0"/>
                <a:ea typeface="Calibri" pitchFamily="34" charset="-122"/>
                <a:cs typeface="Calibri" pitchFamily="34" charset="-120"/>
              </a:rPr>
              <a:t>Yêu cầu xuất dữ liệu dưới dạng bảng đối chiếu, sơ đồ ASCII, hoặc khối mã nguồn có chú thích từng dòng lệnh.</a:t>
            </a:r>
            <a:endParaRPr lang="en-US" sz="1100" dirty="0"/>
          </a:p>
        </p:txBody>
      </p:sp>
      <p:sp>
        <p:nvSpPr>
          <p:cNvPr id="16" name="Shape 14"/>
          <p:cNvSpPr/>
          <p:nvPr/>
        </p:nvSpPr>
        <p:spPr>
          <a:xfrm>
            <a:off x="731520" y="5806440"/>
            <a:ext cx="6583680" cy="594360"/>
          </a:xfrm>
          <a:prstGeom prst="roundRect">
            <a:avLst>
              <a:gd name="adj" fmla="val 12308"/>
            </a:avLst>
          </a:prstGeom>
          <a:solidFill>
            <a:srgbClr val="111F38"/>
          </a:solidFill>
          <a:ln w="12700">
            <a:solidFill>
              <a:srgbClr val="38BDF8"/>
            </a:solidFill>
            <a:prstDash val="solid"/>
          </a:ln>
        </p:spPr>
      </p:sp>
      <p:sp>
        <p:nvSpPr>
          <p:cNvPr id="17" name="Text 15"/>
          <p:cNvSpPr/>
          <p:nvPr/>
        </p:nvSpPr>
        <p:spPr>
          <a:xfrm>
            <a:off x="868680" y="5806440"/>
            <a:ext cx="6309360" cy="594360"/>
          </a:xfrm>
          <a:prstGeom prst="rect">
            <a:avLst/>
          </a:prstGeom>
          <a:noFill/>
          <a:ln/>
        </p:spPr>
        <p:txBody>
          <a:bodyPr wrap="square" rtlCol="0" anchor="ctr"/>
          <a:lstStyle/>
          <a:p>
            <a:pPr indent="0" marL="0">
              <a:buNone/>
            </a:pPr>
            <a:r>
              <a:rPr lang="en-US" sz="950" i="1" dirty="0">
                <a:solidFill>
                  <a:srgbClr val="38BDF8"/>
                </a:solidFill>
                <a:latin typeface="Calibri" pitchFamily="34" charset="0"/>
                <a:ea typeface="Calibri" pitchFamily="34" charset="-122"/>
                <a:cs typeface="Calibri" pitchFamily="34" charset="-120"/>
              </a:rPr>
              <a:t>💡 Điểm cốt lõi: Ứng dụng đỉnh cao của CLEAR là Prompting Socratic: Yêu cầu AI chỉ đặt câu hỏi phản biện từng bước một, tuyệt đối không đưa ra đáp án sẵn để kích hoạt tối đa năng lực tư duy độc lập.</a:t>
            </a:r>
            <a:endParaRPr lang="en-US" sz="950" dirty="0"/>
          </a:p>
        </p:txBody>
      </p:sp>
      <p:pic>
        <p:nvPicPr>
          <p:cNvPr id="18" name="Image 0" descr="D:\Linh tinh\web_thay_thuan\assets\images\slide-15-what-is-prompt.jpg">    </p:cNvPr>
          <p:cNvPicPr>
            <a:picLocks noChangeAspect="1"/>
          </p:cNvPicPr>
          <p:nvPr/>
        </p:nvPicPr>
        <p:blipFill>
          <a:blip r:embed="rId1"/>
          <a:srcRect l="0" r="0" t="0" b="0"/>
          <a:stretch/>
        </p:blipFill>
        <p:spPr>
          <a:xfrm>
            <a:off x="7589520" y="1737360"/>
            <a:ext cx="3840480" cy="4389120"/>
          </a:xfrm>
          <a:prstGeom prst="rect">
            <a:avLst/>
          </a:prstGeom>
        </p:spPr>
      </p:pic>
      <p:sp>
        <p:nvSpPr>
          <p:cNvPr id="19" name="Text 16"/>
          <p:cNvSpPr/>
          <p:nvPr/>
        </p:nvSpPr>
        <p:spPr>
          <a:xfrm>
            <a:off x="7589520" y="5897880"/>
            <a:ext cx="3840480" cy="320040"/>
          </a:xfrm>
          <a:prstGeom prst="rect">
            <a:avLst/>
          </a:prstGeom>
          <a:noFill/>
          <a:ln/>
        </p:spPr>
        <p:txBody>
          <a:bodyPr wrap="square"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Công thức đặt câu lệnh CLEAR giúp tối ưu hóa chất lượng câu trả lời</a:t>
            </a:r>
            <a:endParaRPr lang="en-US" sz="800" dirty="0"/>
          </a:p>
        </p:txBody>
      </p:sp>
      <p:sp>
        <p:nvSpPr>
          <p:cNvPr id="20" name="Shape 17"/>
          <p:cNvSpPr/>
          <p:nvPr/>
        </p:nvSpPr>
        <p:spPr>
          <a:xfrm>
            <a:off x="731520" y="6400800"/>
            <a:ext cx="10698480" cy="0"/>
          </a:xfrm>
          <a:prstGeom prst="line">
            <a:avLst/>
          </a:prstGeom>
          <a:noFill/>
          <a:ln w="12700">
            <a:solidFill>
              <a:srgbClr val="2A374F"/>
            </a:solidFill>
            <a:prstDash val="solid"/>
          </a:ln>
        </p:spPr>
      </p:sp>
      <p:sp>
        <p:nvSpPr>
          <p:cNvPr id="21" name="Text 18"/>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22" name="Text 19"/>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23" name="Text 20"/>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20 / 50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21 • Chương 2: AI Trong Học Tập &amp; Kỹ Thuật</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Đối Chiếu Thực Nghiệm: Prompt Tự Do vs Prompt Kỹ Thuật Chuẩn Mực</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Khảo sát sự khác biệt về chất lượng đầu ra kỹ thuật trên cùng một chủ đề con trỏ C++</a:t>
            </a:r>
            <a:endParaRPr lang="en-US" sz="1150" dirty="0"/>
          </a:p>
        </p:txBody>
      </p:sp>
      <p:sp>
        <p:nvSpPr>
          <p:cNvPr id="6" name="Shape 4"/>
          <p:cNvSpPr/>
          <p:nvPr/>
        </p:nvSpPr>
        <p:spPr>
          <a:xfrm>
            <a:off x="731520" y="1828800"/>
            <a:ext cx="5212080" cy="4206240"/>
          </a:xfrm>
          <a:prstGeom prst="roundRect">
            <a:avLst>
              <a:gd name="adj" fmla="val 2609"/>
            </a:avLst>
          </a:prstGeom>
          <a:solidFill>
            <a:srgbClr val="1C1622"/>
          </a:solidFill>
          <a:ln w="12700">
            <a:solidFill>
              <a:srgbClr val="4B2635"/>
            </a:solidFill>
            <a:prstDash val="solid"/>
          </a:ln>
        </p:spPr>
      </p:sp>
      <p:sp>
        <p:nvSpPr>
          <p:cNvPr id="7" name="Text 5"/>
          <p:cNvSpPr/>
          <p:nvPr/>
        </p:nvSpPr>
        <p:spPr>
          <a:xfrm>
            <a:off x="914400" y="2011680"/>
            <a:ext cx="4846320" cy="457200"/>
          </a:xfrm>
          <a:prstGeom prst="rect">
            <a:avLst/>
          </a:prstGeom>
          <a:noFill/>
          <a:ln/>
        </p:spPr>
        <p:txBody>
          <a:bodyPr wrap="square" rtlCol="0" anchor="ctr"/>
          <a:lstStyle/>
          <a:p>
            <a:pPr indent="0" marL="0">
              <a:buNone/>
            </a:pPr>
            <a:r>
              <a:rPr lang="en-US" sz="1400" b="1" dirty="0">
                <a:solidFill>
                  <a:srgbClr val="F43F5E"/>
                </a:solidFill>
                <a:latin typeface="Arial" pitchFamily="34" charset="0"/>
                <a:ea typeface="Arial" pitchFamily="34" charset="-122"/>
                <a:cs typeface="Arial" pitchFamily="34" charset="-120"/>
              </a:rPr>
              <a:t>Truyền Thống</a:t>
            </a:r>
            <a:endParaRPr lang="en-US" sz="1400" dirty="0"/>
          </a:p>
        </p:txBody>
      </p:sp>
      <p:sp>
        <p:nvSpPr>
          <p:cNvPr id="8" name="Text 6"/>
          <p:cNvSpPr/>
          <p:nvPr/>
        </p:nvSpPr>
        <p:spPr>
          <a:xfrm>
            <a:off x="914400" y="2560320"/>
            <a:ext cx="4846320" cy="3200400"/>
          </a:xfrm>
          <a:prstGeom prst="rect">
            <a:avLst/>
          </a:prstGeom>
          <a:noFill/>
          <a:ln/>
        </p:spPr>
        <p:txBody>
          <a:bodyPr wrap="square" rtlCol="0" anchor="ctr"/>
          <a:lstStyle/>
          <a:p>
            <a:pPr indent="0" marL="0">
              <a:buNone/>
            </a:pPr>
            <a:endParaRPr lang="en-US" sz="1050" dirty="0"/>
          </a:p>
        </p:txBody>
      </p:sp>
      <p:sp>
        <p:nvSpPr>
          <p:cNvPr id="9" name="Shape 7"/>
          <p:cNvSpPr/>
          <p:nvPr/>
        </p:nvSpPr>
        <p:spPr>
          <a:xfrm>
            <a:off x="6217920" y="1828800"/>
            <a:ext cx="5212080" cy="4206240"/>
          </a:xfrm>
          <a:prstGeom prst="roundRect">
            <a:avLst>
              <a:gd name="adj" fmla="val 2609"/>
            </a:avLst>
          </a:prstGeom>
          <a:solidFill>
            <a:srgbClr val="122624"/>
          </a:solidFill>
          <a:ln w="12700">
            <a:solidFill>
              <a:srgbClr val="1C4C42"/>
            </a:solidFill>
            <a:prstDash val="solid"/>
          </a:ln>
        </p:spPr>
      </p:sp>
      <p:sp>
        <p:nvSpPr>
          <p:cNvPr id="10" name="Text 8"/>
          <p:cNvSpPr/>
          <p:nvPr/>
        </p:nvSpPr>
        <p:spPr>
          <a:xfrm>
            <a:off x="6400800" y="2011680"/>
            <a:ext cx="4846320" cy="457200"/>
          </a:xfrm>
          <a:prstGeom prst="rect">
            <a:avLst/>
          </a:prstGeom>
          <a:noFill/>
          <a:ln/>
        </p:spPr>
        <p:txBody>
          <a:bodyPr wrap="square" rtlCol="0" anchor="ctr"/>
          <a:lstStyle/>
          <a:p>
            <a:pPr indent="0" marL="0">
              <a:buNone/>
            </a:pPr>
            <a:r>
              <a:rPr lang="en-US" sz="1400" b="1" dirty="0">
                <a:solidFill>
                  <a:srgbClr val="10B981"/>
                </a:solidFill>
                <a:latin typeface="Arial" pitchFamily="34" charset="0"/>
                <a:ea typeface="Arial" pitchFamily="34" charset="-122"/>
                <a:cs typeface="Arial" pitchFamily="34" charset="-120"/>
              </a:rPr>
              <a:t>Ứng Dụng AI</a:t>
            </a:r>
            <a:endParaRPr lang="en-US" sz="1400" dirty="0"/>
          </a:p>
        </p:txBody>
      </p:sp>
      <p:sp>
        <p:nvSpPr>
          <p:cNvPr id="11" name="Text 9"/>
          <p:cNvSpPr/>
          <p:nvPr/>
        </p:nvSpPr>
        <p:spPr>
          <a:xfrm>
            <a:off x="6400800" y="2560320"/>
            <a:ext cx="4846320" cy="3200400"/>
          </a:xfrm>
          <a:prstGeom prst="rect">
            <a:avLst/>
          </a:prstGeom>
          <a:noFill/>
          <a:ln/>
        </p:spPr>
        <p:txBody>
          <a:bodyPr wrap="square" rtlCol="0" anchor="ctr"/>
          <a:lstStyle/>
          <a:p>
            <a:pPr indent="0" marL="0">
              <a:buNone/>
            </a:pPr>
            <a:endParaRPr lang="en-US" sz="1050" dirty="0"/>
          </a:p>
        </p:txBody>
      </p:sp>
      <p:sp>
        <p:nvSpPr>
          <p:cNvPr id="12" name="Shape 10"/>
          <p:cNvSpPr/>
          <p:nvPr/>
        </p:nvSpPr>
        <p:spPr>
          <a:xfrm>
            <a:off x="731520" y="6400800"/>
            <a:ext cx="10698480" cy="0"/>
          </a:xfrm>
          <a:prstGeom prst="line">
            <a:avLst/>
          </a:prstGeom>
          <a:noFill/>
          <a:ln w="12700">
            <a:solidFill>
              <a:srgbClr val="2A374F"/>
            </a:solidFill>
            <a:prstDash val="solid"/>
          </a:ln>
        </p:spPr>
      </p:sp>
      <p:sp>
        <p:nvSpPr>
          <p:cNvPr id="13" name="Text 11"/>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4" name="Text 12"/>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5" name="Text 13"/>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21 / 50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22 • Chương 2: AI Trong Học Tập &amp; Kỹ Thuật</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Kỹ Thuật Feynman: Kiểm Tra Mức Độ Hiểu Sâu Bản Chất Kiến Thức</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Phương pháp đảo ngược vai trò: Người học trình bày luận điểm kỹ thuật để hệ thống AI phát hiện lỗ hổng logic</a:t>
            </a:r>
            <a:endParaRPr lang="en-US" sz="1150" dirty="0"/>
          </a:p>
        </p:txBody>
      </p:sp>
      <p:sp>
        <p:nvSpPr>
          <p:cNvPr id="6" name="Shape 4"/>
          <p:cNvSpPr/>
          <p:nvPr/>
        </p:nvSpPr>
        <p:spPr>
          <a:xfrm>
            <a:off x="731520" y="1828800"/>
            <a:ext cx="6583680" cy="1097280"/>
          </a:xfrm>
          <a:prstGeom prst="roundRect">
            <a:avLst>
              <a:gd name="adj" fmla="val 8333"/>
            </a:avLst>
          </a:prstGeom>
          <a:solidFill>
            <a:srgbClr val="161F33"/>
          </a:solidFill>
          <a:ln w="12700">
            <a:solidFill>
              <a:srgbClr val="2A374F"/>
            </a:solidFill>
            <a:prstDash val="solid"/>
          </a:ln>
        </p:spPr>
      </p:sp>
      <p:sp>
        <p:nvSpPr>
          <p:cNvPr id="7" name="Text 5"/>
          <p:cNvSpPr/>
          <p:nvPr/>
        </p:nvSpPr>
        <p:spPr>
          <a:xfrm>
            <a:off x="914400" y="190195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1  Bước 1: Tự tổng hợp khái niệm kỹ thuật bằng ngôn ngữ độc lập
</a:t>
            </a:r>
            <a:pPr indent="0" marL="0">
              <a:buNone/>
            </a:pPr>
            <a:r>
              <a:rPr lang="en-US" sz="1000" dirty="0">
                <a:solidFill>
                  <a:srgbClr val="FFFFFF"/>
                </a:solidFill>
                <a:latin typeface="Calibri" pitchFamily="34" charset="0"/>
                <a:ea typeface="Calibri" pitchFamily="34" charset="-122"/>
                <a:cs typeface="Calibri" pitchFamily="34" charset="-120"/>
              </a:rPr>
              <a:t>Sau khi nghiên cứu tài liệu về một cơ chế kỹ thuật (như Bảng băm hoặc Thuật toán Dijkstra), người học tự viết lại giải thích mà không tham khảo tài liệu.</a:t>
            </a:r>
            <a:endParaRPr lang="en-US" sz="1100" dirty="0"/>
          </a:p>
        </p:txBody>
      </p:sp>
      <p:sp>
        <p:nvSpPr>
          <p:cNvPr id="8" name="Shape 6"/>
          <p:cNvSpPr/>
          <p:nvPr/>
        </p:nvSpPr>
        <p:spPr>
          <a:xfrm>
            <a:off x="731520" y="3017520"/>
            <a:ext cx="6583680" cy="1097280"/>
          </a:xfrm>
          <a:prstGeom prst="roundRect">
            <a:avLst>
              <a:gd name="adj" fmla="val 8333"/>
            </a:avLst>
          </a:prstGeom>
          <a:solidFill>
            <a:srgbClr val="161F33"/>
          </a:solidFill>
          <a:ln w="12700">
            <a:solidFill>
              <a:srgbClr val="2A374F"/>
            </a:solidFill>
            <a:prstDash val="solid"/>
          </a:ln>
        </p:spPr>
      </p:sp>
      <p:sp>
        <p:nvSpPr>
          <p:cNvPr id="9" name="Text 7"/>
          <p:cNvSpPr/>
          <p:nvPr/>
        </p:nvSpPr>
        <p:spPr>
          <a:xfrm>
            <a:off x="914400" y="309067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2  Bước 2: Sử dụng AI làm công cụ thẩm định phản biện
</a:t>
            </a:r>
            <a:pPr indent="0" marL="0">
              <a:buNone/>
            </a:pPr>
            <a:r>
              <a:rPr lang="en-US" sz="1000" dirty="0">
                <a:solidFill>
                  <a:srgbClr val="FFFFFF"/>
                </a:solidFill>
                <a:latin typeface="Calibri" pitchFamily="34" charset="0"/>
                <a:ea typeface="Calibri" pitchFamily="34" charset="-122"/>
                <a:cs typeface="Calibri" pitchFamily="34" charset="-120"/>
              </a:rPr>
              <a:t>Truy vấn chuẩn: "Dưới đây là phần giải thích của tôi về cơ chế giải quyết xung đột trong Bảng băm bằng phương pháp Linear Probing. Hãy đóng vai trò chuyên gia hệ thống: Chỉ ra chính xác các điểm thiếu chặt chẽ, sai lệch bản chất hoặc các trường hợp xấu nhất mà tôi chưa đề cập."</a:t>
            </a:r>
            <a:endParaRPr lang="en-US" sz="1100" dirty="0"/>
          </a:p>
        </p:txBody>
      </p:sp>
      <p:sp>
        <p:nvSpPr>
          <p:cNvPr id="10" name="Shape 8"/>
          <p:cNvSpPr/>
          <p:nvPr/>
        </p:nvSpPr>
        <p:spPr>
          <a:xfrm>
            <a:off x="731520" y="4206240"/>
            <a:ext cx="6583680" cy="1097280"/>
          </a:xfrm>
          <a:prstGeom prst="roundRect">
            <a:avLst>
              <a:gd name="adj" fmla="val 8333"/>
            </a:avLst>
          </a:prstGeom>
          <a:solidFill>
            <a:srgbClr val="161F33"/>
          </a:solidFill>
          <a:ln w="12700">
            <a:solidFill>
              <a:srgbClr val="2A374F"/>
            </a:solidFill>
            <a:prstDash val="solid"/>
          </a:ln>
        </p:spPr>
      </p:sp>
      <p:sp>
        <p:nvSpPr>
          <p:cNvPr id="11" name="Text 9"/>
          <p:cNvSpPr/>
          <p:nvPr/>
        </p:nvSpPr>
        <p:spPr>
          <a:xfrm>
            <a:off x="914400" y="427939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3  Bước 3: Tái cấu trúc và lấp đầy khoảng trống tri thức
</a:t>
            </a:r>
            <a:pPr indent="0" marL="0">
              <a:buNone/>
            </a:pPr>
            <a:r>
              <a:rPr lang="en-US" sz="1000" dirty="0">
                <a:solidFill>
                  <a:srgbClr val="FFFFFF"/>
                </a:solidFill>
                <a:latin typeface="Calibri" pitchFamily="34" charset="0"/>
                <a:ea typeface="Calibri" pitchFamily="34" charset="-122"/>
                <a:cs typeface="Calibri" pitchFamily="34" charset="-120"/>
              </a:rPr>
              <a:t>Phân tích phản hồi phản biện từ AI, đối chiếu lại giáo trình chính khóa và hiệu chỉnh mô hình tư duy cho đến khi đạt độ chính xác khoa học hoàn chỉnh.</a:t>
            </a:r>
            <a:endParaRPr lang="en-US" sz="1100" dirty="0"/>
          </a:p>
        </p:txBody>
      </p:sp>
      <p:sp>
        <p:nvSpPr>
          <p:cNvPr id="12" name="Shape 10"/>
          <p:cNvSpPr/>
          <p:nvPr/>
        </p:nvSpPr>
        <p:spPr>
          <a:xfrm>
            <a:off x="731520" y="5440680"/>
            <a:ext cx="6583680" cy="594360"/>
          </a:xfrm>
          <a:prstGeom prst="roundRect">
            <a:avLst>
              <a:gd name="adj" fmla="val 12308"/>
            </a:avLst>
          </a:prstGeom>
          <a:solidFill>
            <a:srgbClr val="111F38"/>
          </a:solidFill>
          <a:ln w="12700">
            <a:solidFill>
              <a:srgbClr val="38BDF8"/>
            </a:solidFill>
            <a:prstDash val="solid"/>
          </a:ln>
        </p:spPr>
      </p:sp>
      <p:sp>
        <p:nvSpPr>
          <p:cNvPr id="13" name="Text 11"/>
          <p:cNvSpPr/>
          <p:nvPr/>
        </p:nvSpPr>
        <p:spPr>
          <a:xfrm>
            <a:off x="868680" y="5440680"/>
            <a:ext cx="6309360" cy="594360"/>
          </a:xfrm>
          <a:prstGeom prst="rect">
            <a:avLst/>
          </a:prstGeom>
          <a:noFill/>
          <a:ln/>
        </p:spPr>
        <p:txBody>
          <a:bodyPr wrap="square" rtlCol="0" anchor="ctr"/>
          <a:lstStyle/>
          <a:p>
            <a:pPr indent="0" marL="0">
              <a:buNone/>
            </a:pPr>
            <a:r>
              <a:rPr lang="en-US" sz="950" i="1" dirty="0">
                <a:solidFill>
                  <a:srgbClr val="38BDF8"/>
                </a:solidFill>
                <a:latin typeface="Calibri" pitchFamily="34" charset="0"/>
                <a:ea typeface="Calibri" pitchFamily="34" charset="-122"/>
                <a:cs typeface="Calibri" pitchFamily="34" charset="-120"/>
              </a:rPr>
              <a:t>💡 Điểm cốt lõi: Khả năng giải thích một cơ chế kỹ thuật phức tạp một cách chính xác, mạch lạc và gãy gọn là thước đo khách quan nhất cho thấy người học đã thực sự làm chủ tri thức.</a:t>
            </a:r>
            <a:endParaRPr lang="en-US" sz="950" dirty="0"/>
          </a:p>
        </p:txBody>
      </p:sp>
      <p:pic>
        <p:nvPicPr>
          <p:cNvPr id="14" name="Image 0" descr="D:\Linh tinh\web_thay_thuan\assets\images\slide-22-active-recall.jpg">    </p:cNvPr>
          <p:cNvPicPr>
            <a:picLocks noChangeAspect="1"/>
          </p:cNvPicPr>
          <p:nvPr/>
        </p:nvPicPr>
        <p:blipFill>
          <a:blip r:embed="rId1"/>
          <a:srcRect l="0" r="0" t="0" b="0"/>
          <a:stretch/>
        </p:blipFill>
        <p:spPr>
          <a:xfrm>
            <a:off x="7589520" y="1737360"/>
            <a:ext cx="3840480" cy="4389120"/>
          </a:xfrm>
          <a:prstGeom prst="rect">
            <a:avLst/>
          </a:prstGeom>
        </p:spPr>
      </p:pic>
      <p:sp>
        <p:nvSpPr>
          <p:cNvPr id="15" name="Text 12"/>
          <p:cNvSpPr/>
          <p:nvPr/>
        </p:nvSpPr>
        <p:spPr>
          <a:xfrm>
            <a:off x="7589520" y="5897880"/>
            <a:ext cx="3840480" cy="320040"/>
          </a:xfrm>
          <a:prstGeom prst="rect">
            <a:avLst/>
          </a:prstGeom>
          <a:noFill/>
          <a:ln/>
        </p:spPr>
        <p:txBody>
          <a:bodyPr wrap="square"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Thực hành phương pháp Feynman để kiểm tra mức độ hiểu sâu kiến thức</a:t>
            </a:r>
            <a:endParaRPr lang="en-US" sz="800" dirty="0"/>
          </a:p>
        </p:txBody>
      </p:sp>
      <p:sp>
        <p:nvSpPr>
          <p:cNvPr id="16" name="Shape 13"/>
          <p:cNvSpPr/>
          <p:nvPr/>
        </p:nvSpPr>
        <p:spPr>
          <a:xfrm>
            <a:off x="731520" y="6400800"/>
            <a:ext cx="10698480" cy="0"/>
          </a:xfrm>
          <a:prstGeom prst="line">
            <a:avLst/>
          </a:prstGeom>
          <a:noFill/>
          <a:ln w="12700">
            <a:solidFill>
              <a:srgbClr val="2A374F"/>
            </a:solidFill>
            <a:prstDash val="solid"/>
          </a:ln>
        </p:spPr>
      </p:sp>
      <p:sp>
        <p:nvSpPr>
          <p:cNvPr id="17" name="Text 14"/>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8" name="Text 15"/>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9" name="Text 16"/>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22 / 50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23 • Chương 2: AI Trong Học Tập &amp; Kỹ Thuật</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Trực Quan Hóa Hệ Thống: Kiến Trúc Máy Tính &amp; Giao Thức Mạng</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Mô phỏng chu trình lệnh CPU và phân tích an ninh giao thức bắt tay 3 bước TCP</a:t>
            </a:r>
            <a:endParaRPr lang="en-US" sz="1150" dirty="0"/>
          </a:p>
        </p:txBody>
      </p:sp>
      <p:sp>
        <p:nvSpPr>
          <p:cNvPr id="6" name="Shape 4"/>
          <p:cNvSpPr/>
          <p:nvPr/>
        </p:nvSpPr>
        <p:spPr>
          <a:xfrm>
            <a:off x="731520" y="1828800"/>
            <a:ext cx="2537460" cy="3474720"/>
          </a:xfrm>
          <a:prstGeom prst="roundRect">
            <a:avLst>
              <a:gd name="adj" fmla="val 3604"/>
            </a:avLst>
          </a:prstGeom>
          <a:solidFill>
            <a:srgbClr val="161F33"/>
          </a:solidFill>
          <a:ln w="12700">
            <a:solidFill>
              <a:srgbClr val="2A374F"/>
            </a:solidFill>
            <a:prstDash val="solid"/>
          </a:ln>
        </p:spPr>
      </p:sp>
      <p:sp>
        <p:nvSpPr>
          <p:cNvPr id="7" name="Text 5"/>
          <p:cNvSpPr/>
          <p:nvPr/>
        </p:nvSpPr>
        <p:spPr>
          <a:xfrm>
            <a:off x="868680" y="2011680"/>
            <a:ext cx="226314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Bước undefined</a:t>
            </a:r>
            <a:endParaRPr lang="en-US" sz="1000" dirty="0"/>
          </a:p>
        </p:txBody>
      </p:sp>
      <p:sp>
        <p:nvSpPr>
          <p:cNvPr id="8" name="Text 6"/>
          <p:cNvSpPr/>
          <p:nvPr/>
        </p:nvSpPr>
        <p:spPr>
          <a:xfrm>
            <a:off x="868680" y="2377440"/>
            <a:ext cx="2263140" cy="5943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1. Mô phỏng chu trình thực thi lệnh CPU (Instruction Cycle)</a:t>
            </a:r>
            <a:endParaRPr lang="en-US" sz="1200" dirty="0"/>
          </a:p>
        </p:txBody>
      </p:sp>
      <p:sp>
        <p:nvSpPr>
          <p:cNvPr id="9" name="Text 7"/>
          <p:cNvSpPr/>
          <p:nvPr/>
        </p:nvSpPr>
        <p:spPr>
          <a:xfrm>
            <a:off x="868680" y="3017520"/>
            <a:ext cx="2263140" cy="20116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Trực quan hóa sự biến đổi trạng thái của các thanh ghi Program Counter (PC), Instruction Register (IR) và đơn vị tính toán số học logic (ALU) qua từng chu kỳ xung nhịp.</a:t>
            </a:r>
            <a:endParaRPr lang="en-US" sz="950" dirty="0"/>
          </a:p>
        </p:txBody>
      </p:sp>
      <p:sp>
        <p:nvSpPr>
          <p:cNvPr id="10" name="Shape 8"/>
          <p:cNvSpPr/>
          <p:nvPr/>
        </p:nvSpPr>
        <p:spPr>
          <a:xfrm>
            <a:off x="3451860" y="1828800"/>
            <a:ext cx="2537460" cy="3474720"/>
          </a:xfrm>
          <a:prstGeom prst="roundRect">
            <a:avLst>
              <a:gd name="adj" fmla="val 3604"/>
            </a:avLst>
          </a:prstGeom>
          <a:solidFill>
            <a:srgbClr val="161F33"/>
          </a:solidFill>
          <a:ln w="12700">
            <a:solidFill>
              <a:srgbClr val="2A374F"/>
            </a:solidFill>
            <a:prstDash val="solid"/>
          </a:ln>
        </p:spPr>
      </p:sp>
      <p:sp>
        <p:nvSpPr>
          <p:cNvPr id="11" name="Text 9"/>
          <p:cNvSpPr/>
          <p:nvPr/>
        </p:nvSpPr>
        <p:spPr>
          <a:xfrm>
            <a:off x="3589020" y="2011680"/>
            <a:ext cx="226314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Bước undefined</a:t>
            </a:r>
            <a:endParaRPr lang="en-US" sz="1000" dirty="0"/>
          </a:p>
        </p:txBody>
      </p:sp>
      <p:sp>
        <p:nvSpPr>
          <p:cNvPr id="12" name="Text 10"/>
          <p:cNvSpPr/>
          <p:nvPr/>
        </p:nvSpPr>
        <p:spPr>
          <a:xfrm>
            <a:off x="3589020" y="2377440"/>
            <a:ext cx="2263140" cy="5943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2. Phân tích giao thức bắt tay 3 bước TCP (Three-way Handshake)</a:t>
            </a:r>
            <a:endParaRPr lang="en-US" sz="1200" dirty="0"/>
          </a:p>
        </p:txBody>
      </p:sp>
      <p:sp>
        <p:nvSpPr>
          <p:cNvPr id="13" name="Text 11"/>
          <p:cNvSpPr/>
          <p:nvPr/>
        </p:nvSpPr>
        <p:spPr>
          <a:xfrm>
            <a:off x="3589020" y="3017520"/>
            <a:ext cx="2263140" cy="20116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Mô hình hóa quá trình đồng bộ hóa số thứ tự tuần tự (Sequence Number) và số xác nhận (Acknowledgment Number) giữa Client và Server theo chuẩn RFC 793.</a:t>
            </a:r>
            <a:endParaRPr lang="en-US" sz="950" dirty="0"/>
          </a:p>
        </p:txBody>
      </p:sp>
      <p:sp>
        <p:nvSpPr>
          <p:cNvPr id="14" name="Shape 12"/>
          <p:cNvSpPr/>
          <p:nvPr/>
        </p:nvSpPr>
        <p:spPr>
          <a:xfrm>
            <a:off x="6172200" y="1828800"/>
            <a:ext cx="2537460" cy="3474720"/>
          </a:xfrm>
          <a:prstGeom prst="roundRect">
            <a:avLst>
              <a:gd name="adj" fmla="val 3604"/>
            </a:avLst>
          </a:prstGeom>
          <a:solidFill>
            <a:srgbClr val="161F33"/>
          </a:solidFill>
          <a:ln w="12700">
            <a:solidFill>
              <a:srgbClr val="2A374F"/>
            </a:solidFill>
            <a:prstDash val="solid"/>
          </a:ln>
        </p:spPr>
      </p:sp>
      <p:sp>
        <p:nvSpPr>
          <p:cNvPr id="15" name="Text 13"/>
          <p:cNvSpPr/>
          <p:nvPr/>
        </p:nvSpPr>
        <p:spPr>
          <a:xfrm>
            <a:off x="6309360" y="2011680"/>
            <a:ext cx="226314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Bước undefined</a:t>
            </a:r>
            <a:endParaRPr lang="en-US" sz="1000" dirty="0"/>
          </a:p>
        </p:txBody>
      </p:sp>
      <p:sp>
        <p:nvSpPr>
          <p:cNvPr id="16" name="Text 14"/>
          <p:cNvSpPr/>
          <p:nvPr/>
        </p:nvSpPr>
        <p:spPr>
          <a:xfrm>
            <a:off x="6309360" y="2377440"/>
            <a:ext cx="2263140" cy="5943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3. Phân tích lỗ hổng tấn công từ chối dịch vụ SYN Flood</a:t>
            </a:r>
            <a:endParaRPr lang="en-US" sz="1200" dirty="0"/>
          </a:p>
        </p:txBody>
      </p:sp>
      <p:sp>
        <p:nvSpPr>
          <p:cNvPr id="17" name="Text 15"/>
          <p:cNvSpPr/>
          <p:nvPr/>
        </p:nvSpPr>
        <p:spPr>
          <a:xfrm>
            <a:off x="6309360" y="3017520"/>
            <a:ext cx="2263140" cy="20116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Khảo sát cơ chế cạn kiệt hàng đợi bán kết nối (SYN Backlog Queue) khi kẻ tấn công gửi liên tục gói tin SYN giả mạo IP nguồn mà không gửi phản hồi ACK.</a:t>
            </a:r>
            <a:endParaRPr lang="en-US" sz="950" dirty="0"/>
          </a:p>
        </p:txBody>
      </p:sp>
      <p:sp>
        <p:nvSpPr>
          <p:cNvPr id="18" name="Shape 16"/>
          <p:cNvSpPr/>
          <p:nvPr/>
        </p:nvSpPr>
        <p:spPr>
          <a:xfrm>
            <a:off x="8892540" y="1828800"/>
            <a:ext cx="2537460" cy="3474720"/>
          </a:xfrm>
          <a:prstGeom prst="roundRect">
            <a:avLst>
              <a:gd name="adj" fmla="val 3604"/>
            </a:avLst>
          </a:prstGeom>
          <a:solidFill>
            <a:srgbClr val="161F33"/>
          </a:solidFill>
          <a:ln w="12700">
            <a:solidFill>
              <a:srgbClr val="2A374F"/>
            </a:solidFill>
            <a:prstDash val="solid"/>
          </a:ln>
        </p:spPr>
      </p:sp>
      <p:sp>
        <p:nvSpPr>
          <p:cNvPr id="19" name="Text 17"/>
          <p:cNvSpPr/>
          <p:nvPr/>
        </p:nvSpPr>
        <p:spPr>
          <a:xfrm>
            <a:off x="9029700" y="2011680"/>
            <a:ext cx="226314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Bước undefined</a:t>
            </a:r>
            <a:endParaRPr lang="en-US" sz="1000" dirty="0"/>
          </a:p>
        </p:txBody>
      </p:sp>
      <p:sp>
        <p:nvSpPr>
          <p:cNvPr id="20" name="Text 18"/>
          <p:cNvSpPr/>
          <p:nvPr/>
        </p:nvSpPr>
        <p:spPr>
          <a:xfrm>
            <a:off x="9029700" y="2377440"/>
            <a:ext cx="2263140" cy="5943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4. Giải pháp phòng ngự kỹ thuật (SYN Cookies)</a:t>
            </a:r>
            <a:endParaRPr lang="en-US" sz="1200" dirty="0"/>
          </a:p>
        </p:txBody>
      </p:sp>
      <p:sp>
        <p:nvSpPr>
          <p:cNvPr id="21" name="Text 19"/>
          <p:cNvSpPr/>
          <p:nvPr/>
        </p:nvSpPr>
        <p:spPr>
          <a:xfrm>
            <a:off x="9029700" y="3017520"/>
            <a:ext cx="2263140" cy="20116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Ứng dụng AI phân tích cơ chế mã hóa thông tin kết nối trực tiếp vào số thứ tự ban đầu (ISN) để chống cạn kiệt tài nguyên bộ nhớ máy chủ.</a:t>
            </a:r>
            <a:endParaRPr lang="en-US" sz="950" dirty="0"/>
          </a:p>
        </p:txBody>
      </p:sp>
      <p:sp>
        <p:nvSpPr>
          <p:cNvPr id="22" name="Shape 20"/>
          <p:cNvSpPr/>
          <p:nvPr/>
        </p:nvSpPr>
        <p:spPr>
          <a:xfrm>
            <a:off x="731520" y="5486400"/>
            <a:ext cx="10698480" cy="640080"/>
          </a:xfrm>
          <a:prstGeom prst="roundRect">
            <a:avLst>
              <a:gd name="adj" fmla="val 11429"/>
            </a:avLst>
          </a:prstGeom>
          <a:solidFill>
            <a:srgbClr val="111F38"/>
          </a:solidFill>
          <a:ln w="12700">
            <a:solidFill>
              <a:srgbClr val="38BDF8"/>
            </a:solidFill>
            <a:prstDash val="solid"/>
          </a:ln>
        </p:spPr>
      </p:sp>
      <p:sp>
        <p:nvSpPr>
          <p:cNvPr id="23" name="Text 21"/>
          <p:cNvSpPr/>
          <p:nvPr/>
        </p:nvSpPr>
        <p:spPr>
          <a:xfrm>
            <a:off x="914400" y="5486400"/>
            <a:ext cx="10332720" cy="640080"/>
          </a:xfrm>
          <a:prstGeom prst="rect">
            <a:avLst/>
          </a:prstGeom>
          <a:noFill/>
          <a:ln/>
        </p:spPr>
        <p:txBody>
          <a:bodyPr wrap="square" rtlCol="0" anchor="ctr"/>
          <a:lstStyle/>
          <a:p>
            <a:pPr indent="0" marL="0">
              <a:buNone/>
            </a:pPr>
            <a:r>
              <a:rPr lang="en-US" sz="1000" i="1" dirty="0">
                <a:solidFill>
                  <a:srgbClr val="38BDF8"/>
                </a:solidFill>
                <a:latin typeface="Calibri" pitchFamily="34" charset="0"/>
                <a:ea typeface="Calibri" pitchFamily="34" charset="-122"/>
                <a:cs typeface="Calibri" pitchFamily="34" charset="-120"/>
              </a:rPr>
              <a:t>📌 Kết luận kiến trúc: Việc mô phỏng chính xác từng trường gói tin và chu trình thanh ghi giúp người học chuyển hóa các lý thuyết truyền thông trừu tượng thành kiến thức an toàn mạng thực chiến.</a:t>
            </a:r>
            <a:endParaRPr lang="en-US" sz="1000" dirty="0"/>
          </a:p>
        </p:txBody>
      </p:sp>
      <p:sp>
        <p:nvSpPr>
          <p:cNvPr id="24" name="Shape 22"/>
          <p:cNvSpPr/>
          <p:nvPr/>
        </p:nvSpPr>
        <p:spPr>
          <a:xfrm>
            <a:off x="731520" y="6400800"/>
            <a:ext cx="10698480" cy="0"/>
          </a:xfrm>
          <a:prstGeom prst="line">
            <a:avLst/>
          </a:prstGeom>
          <a:noFill/>
          <a:ln w="12700">
            <a:solidFill>
              <a:srgbClr val="2A374F"/>
            </a:solidFill>
            <a:prstDash val="solid"/>
          </a:ln>
        </p:spPr>
      </p:sp>
      <p:sp>
        <p:nvSpPr>
          <p:cNvPr id="25" name="Text 23"/>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26" name="Text 24"/>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27" name="Text 2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23 / 50</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24 • Chương 2: AI Trong Học Tập &amp; Kỹ Thuật</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Quản Trị Tri Thức Học Thuật &amp; Phương Pháp Lặp Lại Ngắt Quãng</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Ứng dụng quy luật đường cong quên lãng Ebbinghaus kết hợp AI để duy trì kiến thức kỹ thuật dài hạn</a:t>
            </a:r>
            <a:endParaRPr lang="en-US" sz="1150" dirty="0"/>
          </a:p>
        </p:txBody>
      </p:sp>
      <p:sp>
        <p:nvSpPr>
          <p:cNvPr id="6" name="Shape 4"/>
          <p:cNvSpPr/>
          <p:nvPr/>
        </p:nvSpPr>
        <p:spPr>
          <a:xfrm>
            <a:off x="731520" y="1828800"/>
            <a:ext cx="6583680" cy="1097280"/>
          </a:xfrm>
          <a:prstGeom prst="roundRect">
            <a:avLst>
              <a:gd name="adj" fmla="val 8333"/>
            </a:avLst>
          </a:prstGeom>
          <a:solidFill>
            <a:srgbClr val="161F33"/>
          </a:solidFill>
          <a:ln w="12700">
            <a:solidFill>
              <a:srgbClr val="2A374F"/>
            </a:solidFill>
            <a:prstDash val="solid"/>
          </a:ln>
        </p:spPr>
      </p:sp>
      <p:sp>
        <p:nvSpPr>
          <p:cNvPr id="7" name="Text 5"/>
          <p:cNvSpPr/>
          <p:nvPr/>
        </p:nvSpPr>
        <p:spPr>
          <a:xfrm>
            <a:off x="914400" y="190195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Tự động hóa xây dựng bộ thẻ ghi nhớ (Flashcard Synthesis)
</a:t>
            </a:r>
            <a:pPr indent="0" marL="0">
              <a:buNone/>
            </a:pPr>
            <a:r>
              <a:rPr lang="en-US" sz="1000" dirty="0">
                <a:solidFill>
                  <a:srgbClr val="FFFFFF"/>
                </a:solidFill>
                <a:latin typeface="Calibri" pitchFamily="34" charset="0"/>
                <a:ea typeface="Calibri" pitchFamily="34" charset="-122"/>
                <a:cs typeface="Calibri" pitchFamily="34" charset="-120"/>
              </a:rPr>
              <a:t>Sử dụng AI chuyển đổi giáo trình chuyên ngành thành các cặp câu hỏi - câu trả lời bản chất phục vụ ôn tập theo định dạng thẻ Anki.</a:t>
            </a:r>
            <a:endParaRPr lang="en-US" sz="1100" dirty="0"/>
          </a:p>
        </p:txBody>
      </p:sp>
      <p:sp>
        <p:nvSpPr>
          <p:cNvPr id="8" name="Shape 6"/>
          <p:cNvSpPr/>
          <p:nvPr/>
        </p:nvSpPr>
        <p:spPr>
          <a:xfrm>
            <a:off x="731520" y="3017520"/>
            <a:ext cx="6583680" cy="1097280"/>
          </a:xfrm>
          <a:prstGeom prst="roundRect">
            <a:avLst>
              <a:gd name="adj" fmla="val 8333"/>
            </a:avLst>
          </a:prstGeom>
          <a:solidFill>
            <a:srgbClr val="161F33"/>
          </a:solidFill>
          <a:ln w="12700">
            <a:solidFill>
              <a:srgbClr val="2A374F"/>
            </a:solidFill>
            <a:prstDash val="solid"/>
          </a:ln>
        </p:spPr>
      </p:sp>
      <p:sp>
        <p:nvSpPr>
          <p:cNvPr id="9" name="Text 7"/>
          <p:cNvSpPr/>
          <p:nvPr/>
        </p:nvSpPr>
        <p:spPr>
          <a:xfrm>
            <a:off x="914400" y="309067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Thuật toán tối ưu hóa thời điểm củng cố (SM-2 Algorithm)
</a:t>
            </a:r>
            <a:pPr indent="0" marL="0">
              <a:buNone/>
            </a:pPr>
            <a:r>
              <a:rPr lang="en-US" sz="1000" dirty="0">
                <a:solidFill>
                  <a:srgbClr val="FFFFFF"/>
                </a:solidFill>
                <a:latin typeface="Calibri" pitchFamily="34" charset="0"/>
                <a:ea typeface="Calibri" pitchFamily="34" charset="-122"/>
                <a:cs typeface="Calibri" pitchFamily="34" charset="-120"/>
              </a:rPr>
              <a:t>Hệ thống tính toán thời điểm lặp lại chính xác khi mức độ ghi nhớ suy giảm xuống ngưỡng 90%, tối ưu hóa thời gian học tập mà vẫn đảm bảo lưu giữ tri thức vĩnh viễn.</a:t>
            </a:r>
            <a:endParaRPr lang="en-US" sz="1100" dirty="0"/>
          </a:p>
        </p:txBody>
      </p:sp>
      <p:sp>
        <p:nvSpPr>
          <p:cNvPr id="10" name="Shape 8"/>
          <p:cNvSpPr/>
          <p:nvPr/>
        </p:nvSpPr>
        <p:spPr>
          <a:xfrm>
            <a:off x="731520" y="4251960"/>
            <a:ext cx="6583680" cy="594360"/>
          </a:xfrm>
          <a:prstGeom prst="roundRect">
            <a:avLst>
              <a:gd name="adj" fmla="val 12308"/>
            </a:avLst>
          </a:prstGeom>
          <a:solidFill>
            <a:srgbClr val="111F38"/>
          </a:solidFill>
          <a:ln w="12700">
            <a:solidFill>
              <a:srgbClr val="38BDF8"/>
            </a:solidFill>
            <a:prstDash val="solid"/>
          </a:ln>
        </p:spPr>
      </p:sp>
      <p:sp>
        <p:nvSpPr>
          <p:cNvPr id="11" name="Text 9"/>
          <p:cNvSpPr/>
          <p:nvPr/>
        </p:nvSpPr>
        <p:spPr>
          <a:xfrm>
            <a:off x="868680" y="4251960"/>
            <a:ext cx="6309360" cy="594360"/>
          </a:xfrm>
          <a:prstGeom prst="rect">
            <a:avLst/>
          </a:prstGeom>
          <a:noFill/>
          <a:ln/>
        </p:spPr>
        <p:txBody>
          <a:bodyPr wrap="square" rtlCol="0" anchor="ctr"/>
          <a:lstStyle/>
          <a:p>
            <a:pPr indent="0" marL="0">
              <a:buNone/>
            </a:pPr>
            <a:r>
              <a:rPr lang="en-US" sz="950" i="1" dirty="0">
                <a:solidFill>
                  <a:srgbClr val="38BDF8"/>
                </a:solidFill>
                <a:latin typeface="Calibri" pitchFamily="34" charset="0"/>
                <a:ea typeface="Calibri" pitchFamily="34" charset="-122"/>
                <a:cs typeface="Calibri" pitchFamily="34" charset="-120"/>
              </a:rPr>
              <a:t>💡 Điểm cốt lõi: Học tập dồn dập trong ngắn hạn chỉ phục vụ việc vượt qua bài kiểm tra tạm thời; phương pháp lặp lại ngắt quãng là cơ sở khoa học để xây dựng năng lực chuyên môn dài hạn.</a:t>
            </a:r>
            <a:endParaRPr lang="en-US" sz="950" dirty="0"/>
          </a:p>
        </p:txBody>
      </p:sp>
      <p:pic>
        <p:nvPicPr>
          <p:cNvPr id="12" name="Image 0" descr="D:\Linh tinh\web_thay_thuan\assets\images\slide-24-coding-logic.jpg">    </p:cNvPr>
          <p:cNvPicPr>
            <a:picLocks noChangeAspect="1"/>
          </p:cNvPicPr>
          <p:nvPr/>
        </p:nvPicPr>
        <p:blipFill>
          <a:blip r:embed="rId1"/>
          <a:srcRect l="0" r="0" t="0" b="0"/>
          <a:stretch/>
        </p:blipFill>
        <p:spPr>
          <a:xfrm>
            <a:off x="7589520" y="1737360"/>
            <a:ext cx="3840480" cy="4389120"/>
          </a:xfrm>
          <a:prstGeom prst="rect">
            <a:avLst/>
          </a:prstGeom>
        </p:spPr>
      </p:pic>
      <p:sp>
        <p:nvSpPr>
          <p:cNvPr id="13" name="Text 10"/>
          <p:cNvSpPr/>
          <p:nvPr/>
        </p:nvSpPr>
        <p:spPr>
          <a:xfrm>
            <a:off x="7589520" y="5897880"/>
            <a:ext cx="3840480" cy="320040"/>
          </a:xfrm>
          <a:prstGeom prst="rect">
            <a:avLst/>
          </a:prstGeom>
          <a:noFill/>
          <a:ln/>
        </p:spPr>
        <p:txBody>
          <a:bodyPr wrap="square"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Hệ thống ghi chép khoa học kết hợp lặp lại ngắt quãng Spaced Repetition</a:t>
            </a:r>
            <a:endParaRPr lang="en-US" sz="800" dirty="0"/>
          </a:p>
        </p:txBody>
      </p:sp>
      <p:sp>
        <p:nvSpPr>
          <p:cNvPr id="14" name="Shape 11"/>
          <p:cNvSpPr/>
          <p:nvPr/>
        </p:nvSpPr>
        <p:spPr>
          <a:xfrm>
            <a:off x="731520" y="6400800"/>
            <a:ext cx="10698480" cy="0"/>
          </a:xfrm>
          <a:prstGeom prst="line">
            <a:avLst/>
          </a:prstGeom>
          <a:noFill/>
          <a:ln w="12700">
            <a:solidFill>
              <a:srgbClr val="2A374F"/>
            </a:solidFill>
            <a:prstDash val="solid"/>
          </a:ln>
        </p:spPr>
      </p:sp>
      <p:sp>
        <p:nvSpPr>
          <p:cNvPr id="15" name="Text 12"/>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6" name="Text 13"/>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7" name="Text 14"/>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24 / 50</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25 • Chương 2: AI Trong Học Tập &amp; Kỹ Thuật</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Tiếng Anh Chuyên Ngành Kỹ Thuật: Đọc Chuẩn RFC &amp; Luyện Giao Tiếp AI</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Kỹ năng tiếp cận trực tiếp tài liệu đặc tả kỹ thuật quốc tế và rèn luyện phản xạ giao tiếp kỹ thuật</a:t>
            </a:r>
            <a:endParaRPr lang="en-US" sz="1150" dirty="0"/>
          </a:p>
        </p:txBody>
      </p:sp>
      <p:sp>
        <p:nvSpPr>
          <p:cNvPr id="6" name="Shape 4"/>
          <p:cNvSpPr/>
          <p:nvPr/>
        </p:nvSpPr>
        <p:spPr>
          <a:xfrm>
            <a:off x="731520" y="1828800"/>
            <a:ext cx="6583680" cy="1097280"/>
          </a:xfrm>
          <a:prstGeom prst="roundRect">
            <a:avLst>
              <a:gd name="adj" fmla="val 8333"/>
            </a:avLst>
          </a:prstGeom>
          <a:solidFill>
            <a:srgbClr val="161F33"/>
          </a:solidFill>
          <a:ln w="12700">
            <a:solidFill>
              <a:srgbClr val="2A374F"/>
            </a:solidFill>
            <a:prstDash val="solid"/>
          </a:ln>
        </p:spPr>
      </p:sp>
      <p:sp>
        <p:nvSpPr>
          <p:cNvPr id="7" name="Text 5"/>
          <p:cNvSpPr/>
          <p:nvPr/>
        </p:nvSpPr>
        <p:spPr>
          <a:xfrm>
            <a:off x="914400" y="190195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Đọc hiểu tài liệu đặc tả chuẩn RFC và IEEE Standards
</a:t>
            </a:r>
            <a:pPr indent="0" marL="0">
              <a:buNone/>
            </a:pPr>
            <a:r>
              <a:rPr lang="en-US" sz="1000" dirty="0">
                <a:solidFill>
                  <a:srgbClr val="FFFFFF"/>
                </a:solidFill>
                <a:latin typeface="Calibri" pitchFamily="34" charset="0"/>
                <a:ea typeface="Calibri" pitchFamily="34" charset="-122"/>
                <a:cs typeface="Calibri" pitchFamily="34" charset="-120"/>
              </a:rPr>
              <a:t>Ứng dụng AI làm rõ ngữ nghĩa của các thuật ngữ chuyên ngành hẹp (như 'nonce', 'ephemeral key', 'idempotency') trong ngữ cảnh an toàn thông tin và kiến trúc mạng.</a:t>
            </a:r>
            <a:endParaRPr lang="en-US" sz="1100" dirty="0"/>
          </a:p>
        </p:txBody>
      </p:sp>
      <p:sp>
        <p:nvSpPr>
          <p:cNvPr id="8" name="Shape 6"/>
          <p:cNvSpPr/>
          <p:nvPr/>
        </p:nvSpPr>
        <p:spPr>
          <a:xfrm>
            <a:off x="731520" y="3017520"/>
            <a:ext cx="6583680" cy="1097280"/>
          </a:xfrm>
          <a:prstGeom prst="roundRect">
            <a:avLst>
              <a:gd name="adj" fmla="val 8333"/>
            </a:avLst>
          </a:prstGeom>
          <a:solidFill>
            <a:srgbClr val="161F33"/>
          </a:solidFill>
          <a:ln w="12700">
            <a:solidFill>
              <a:srgbClr val="2A374F"/>
            </a:solidFill>
            <a:prstDash val="solid"/>
          </a:ln>
        </p:spPr>
      </p:sp>
      <p:sp>
        <p:nvSpPr>
          <p:cNvPr id="9" name="Text 7"/>
          <p:cNvSpPr/>
          <p:nvPr/>
        </p:nvSpPr>
        <p:spPr>
          <a:xfrm>
            <a:off x="914400" y="309067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Mô phỏng phỏng vấn kỹ thuật quốc tế (Technical Interview)
</a:t>
            </a:r>
            <a:pPr indent="0" marL="0">
              <a:buNone/>
            </a:pPr>
            <a:r>
              <a:rPr lang="en-US" sz="1000" dirty="0">
                <a:solidFill>
                  <a:srgbClr val="FFFFFF"/>
                </a:solidFill>
                <a:latin typeface="Calibri" pitchFamily="34" charset="0"/>
                <a:ea typeface="Calibri" pitchFamily="34" charset="-122"/>
                <a:cs typeface="Calibri" pitchFamily="34" charset="-120"/>
              </a:rPr>
              <a:t>Thiết lập AI đóng vai trò người phỏng vấn kỹ thuật bằng tiếng Anh: Phỏng vấn về cấu trúc dữ liệu mảng, danh sách liên kết, thuật toán sắp xếp và bắt lỗi phát âm/ngữ pháp thời gian thực.</a:t>
            </a:r>
            <a:endParaRPr lang="en-US" sz="1100" dirty="0"/>
          </a:p>
        </p:txBody>
      </p:sp>
      <p:sp>
        <p:nvSpPr>
          <p:cNvPr id="10" name="Shape 8"/>
          <p:cNvSpPr/>
          <p:nvPr/>
        </p:nvSpPr>
        <p:spPr>
          <a:xfrm>
            <a:off x="731520" y="4206240"/>
            <a:ext cx="6583680" cy="1097280"/>
          </a:xfrm>
          <a:prstGeom prst="roundRect">
            <a:avLst>
              <a:gd name="adj" fmla="val 8333"/>
            </a:avLst>
          </a:prstGeom>
          <a:solidFill>
            <a:srgbClr val="161F33"/>
          </a:solidFill>
          <a:ln w="12700">
            <a:solidFill>
              <a:srgbClr val="2A374F"/>
            </a:solidFill>
            <a:prstDash val="solid"/>
          </a:ln>
        </p:spPr>
      </p:sp>
      <p:sp>
        <p:nvSpPr>
          <p:cNvPr id="11" name="Text 9"/>
          <p:cNvSpPr/>
          <p:nvPr/>
        </p:nvSpPr>
        <p:spPr>
          <a:xfrm>
            <a:off x="914400" y="427939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Xóa bỏ rào cản tiếp cận công nghệ gốc
</a:t>
            </a:r>
            <a:pPr indent="0" marL="0">
              <a:buNone/>
            </a:pPr>
            <a:r>
              <a:rPr lang="en-US" sz="1000" dirty="0">
                <a:solidFill>
                  <a:srgbClr val="FFFFFF"/>
                </a:solidFill>
                <a:latin typeface="Calibri" pitchFamily="34" charset="0"/>
                <a:ea typeface="Calibri" pitchFamily="34" charset="-122"/>
                <a:cs typeface="Calibri" pitchFamily="34" charset="-120"/>
              </a:rPr>
              <a:t>Hầu hết các tài liệu học thuật, tiêu chuẩn mật mã học và mã nguồn mở tiên tiến nhất đều được phát hành bằng tiếng Anh. Làm chủ tiếng Anh kỹ thuật là yêu cầu bắt buộc của kỹ sư CNTT.</a:t>
            </a:r>
            <a:endParaRPr lang="en-US" sz="1100" dirty="0"/>
          </a:p>
        </p:txBody>
      </p:sp>
      <p:sp>
        <p:nvSpPr>
          <p:cNvPr id="12" name="Shape 10"/>
          <p:cNvSpPr/>
          <p:nvPr/>
        </p:nvSpPr>
        <p:spPr>
          <a:xfrm>
            <a:off x="731520" y="5440680"/>
            <a:ext cx="6583680" cy="594360"/>
          </a:xfrm>
          <a:prstGeom prst="roundRect">
            <a:avLst>
              <a:gd name="adj" fmla="val 12308"/>
            </a:avLst>
          </a:prstGeom>
          <a:solidFill>
            <a:srgbClr val="111F38"/>
          </a:solidFill>
          <a:ln w="12700">
            <a:solidFill>
              <a:srgbClr val="38BDF8"/>
            </a:solidFill>
            <a:prstDash val="solid"/>
          </a:ln>
        </p:spPr>
      </p:sp>
      <p:sp>
        <p:nvSpPr>
          <p:cNvPr id="13" name="Text 11"/>
          <p:cNvSpPr/>
          <p:nvPr/>
        </p:nvSpPr>
        <p:spPr>
          <a:xfrm>
            <a:off x="868680" y="5440680"/>
            <a:ext cx="6309360" cy="594360"/>
          </a:xfrm>
          <a:prstGeom prst="rect">
            <a:avLst/>
          </a:prstGeom>
          <a:noFill/>
          <a:ln/>
        </p:spPr>
        <p:txBody>
          <a:bodyPr wrap="square" rtlCol="0" anchor="ctr"/>
          <a:lstStyle/>
          <a:p>
            <a:pPr indent="0" marL="0">
              <a:buNone/>
            </a:pPr>
            <a:r>
              <a:rPr lang="en-US" sz="950" i="1" dirty="0">
                <a:solidFill>
                  <a:srgbClr val="38BDF8"/>
                </a:solidFill>
                <a:latin typeface="Calibri" pitchFamily="34" charset="0"/>
                <a:ea typeface="Calibri" pitchFamily="34" charset="-122"/>
                <a:cs typeface="Calibri" pitchFamily="34" charset="-120"/>
              </a:rPr>
              <a:t>💡 Điểm cốt lõi: Năng lực đọc hiểu tài liệu đặc tả kỹ thuật gốc bằng tiếng Anh là yếu tố quyết định tốc độ cập nhật công nghệ và khả năng hội nhập của người làm kỹ thuật.</a:t>
            </a:r>
            <a:endParaRPr lang="en-US" sz="950" dirty="0"/>
          </a:p>
        </p:txBody>
      </p:sp>
      <p:pic>
        <p:nvPicPr>
          <p:cNvPr id="14" name="Image 0" descr="D:\Linh tinh\web_thay_thuan\assets\images\slide-25-presentation-teamwork.jpg">    </p:cNvPr>
          <p:cNvPicPr>
            <a:picLocks noChangeAspect="1"/>
          </p:cNvPicPr>
          <p:nvPr/>
        </p:nvPicPr>
        <p:blipFill>
          <a:blip r:embed="rId1"/>
          <a:srcRect l="0" r="0" t="0" b="0"/>
          <a:stretch/>
        </p:blipFill>
        <p:spPr>
          <a:xfrm>
            <a:off x="7589520" y="1737360"/>
            <a:ext cx="3840480" cy="4389120"/>
          </a:xfrm>
          <a:prstGeom prst="rect">
            <a:avLst/>
          </a:prstGeom>
        </p:spPr>
      </p:pic>
      <p:sp>
        <p:nvSpPr>
          <p:cNvPr id="15" name="Text 12"/>
          <p:cNvSpPr/>
          <p:nvPr/>
        </p:nvSpPr>
        <p:spPr>
          <a:xfrm>
            <a:off x="7589520" y="5897880"/>
            <a:ext cx="3840480" cy="320040"/>
          </a:xfrm>
          <a:prstGeom prst="rect">
            <a:avLst/>
          </a:prstGeom>
          <a:noFill/>
          <a:ln/>
        </p:spPr>
        <p:txBody>
          <a:bodyPr wrap="square"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Luyện tiếng Anh chuyên ngành công nghệ thông tin cùng AI</a:t>
            </a:r>
            <a:endParaRPr lang="en-US" sz="800" dirty="0"/>
          </a:p>
        </p:txBody>
      </p:sp>
      <p:sp>
        <p:nvSpPr>
          <p:cNvPr id="16" name="Shape 13"/>
          <p:cNvSpPr/>
          <p:nvPr/>
        </p:nvSpPr>
        <p:spPr>
          <a:xfrm>
            <a:off x="731520" y="6400800"/>
            <a:ext cx="10698480" cy="0"/>
          </a:xfrm>
          <a:prstGeom prst="line">
            <a:avLst/>
          </a:prstGeom>
          <a:noFill/>
          <a:ln w="12700">
            <a:solidFill>
              <a:srgbClr val="2A374F"/>
            </a:solidFill>
            <a:prstDash val="solid"/>
          </a:ln>
        </p:spPr>
      </p:sp>
      <p:sp>
        <p:nvSpPr>
          <p:cNvPr id="17" name="Text 14"/>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8" name="Text 15"/>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9" name="Text 16"/>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25 / 50</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26 • Chương 3: AI Trong Nghiên Cứu Khoa Học</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Chuyển Tiếp: Phương Pháp Luận Nghiên Cứu Khoa Học Đại Học</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Sự khác biệt bản chất giữa việc giải quyết bài tập định sẵn và khám phá tri thức mới</a:t>
            </a:r>
            <a:endParaRPr lang="en-US" sz="1150" dirty="0"/>
          </a:p>
        </p:txBody>
      </p:sp>
      <p:sp>
        <p:nvSpPr>
          <p:cNvPr id="6" name="Shape 4"/>
          <p:cNvSpPr/>
          <p:nvPr/>
        </p:nvSpPr>
        <p:spPr>
          <a:xfrm>
            <a:off x="731520" y="1920240"/>
            <a:ext cx="6583680" cy="2926080"/>
          </a:xfrm>
          <a:prstGeom prst="roundRect">
            <a:avLst>
              <a:gd name="adj" fmla="val 4688"/>
            </a:avLst>
          </a:prstGeom>
          <a:solidFill>
            <a:srgbClr val="15203B"/>
          </a:solidFill>
          <a:ln w="12700">
            <a:solidFill>
              <a:srgbClr val="38BDF8"/>
            </a:solidFill>
            <a:prstDash val="solid"/>
          </a:ln>
        </p:spPr>
      </p:sp>
      <p:sp>
        <p:nvSpPr>
          <p:cNvPr id="7" name="Text 5"/>
          <p:cNvSpPr/>
          <p:nvPr/>
        </p:nvSpPr>
        <p:spPr>
          <a:xfrm>
            <a:off x="1097280" y="2103120"/>
            <a:ext cx="5852160" cy="1645920"/>
          </a:xfrm>
          <a:prstGeom prst="rect">
            <a:avLst/>
          </a:prstGeom>
          <a:noFill/>
          <a:ln/>
        </p:spPr>
        <p:txBody>
          <a:bodyPr wrap="square" rtlCol="0" anchor="ctr"/>
          <a:lstStyle/>
          <a:p>
            <a:pPr indent="0" marL="0">
              <a:buNone/>
            </a:pPr>
            <a:r>
              <a:rPr lang="en-US" sz="1700" i="1" dirty="0">
                <a:solidFill>
                  <a:srgbClr val="FFFFFF"/>
                </a:solidFill>
                <a:latin typeface="Arial" pitchFamily="34" charset="0"/>
                <a:ea typeface="Arial" pitchFamily="34" charset="-122"/>
                <a:cs typeface="Arial" pitchFamily="34" charset="-120"/>
              </a:rPr>
              <a:t>“ Làm bài tập là tái hiện lời giải cho các bài toán đã có đáp án; Nghiên cứu khoa học là quá trình khám phá tri thức mới và giải quyết các vấn đề chưa có lời giải trong thực tiễn. ”</a:t>
            </a:r>
            <a:endParaRPr lang="en-US" sz="1700" dirty="0"/>
          </a:p>
        </p:txBody>
      </p:sp>
      <p:sp>
        <p:nvSpPr>
          <p:cNvPr id="8" name="Text 6"/>
          <p:cNvSpPr/>
          <p:nvPr/>
        </p:nvSpPr>
        <p:spPr>
          <a:xfrm>
            <a:off x="1097280" y="3840480"/>
            <a:ext cx="5852160" cy="457200"/>
          </a:xfrm>
          <a:prstGeom prst="rect">
            <a:avLst/>
          </a:prstGeom>
          <a:noFill/>
          <a:ln/>
        </p:spPr>
        <p:txBody>
          <a:bodyPr wrap="square" rtlCol="0" anchor="ctr"/>
          <a:lstStyle/>
          <a:p>
            <a:pPr algn="r" indent="0" marL="0">
              <a:buNone/>
            </a:pPr>
            <a:r>
              <a:rPr lang="en-US" sz="1200" b="1" dirty="0">
                <a:solidFill>
                  <a:srgbClr val="38BDF8"/>
                </a:solidFill>
                <a:latin typeface="Arial" pitchFamily="34" charset="0"/>
                <a:ea typeface="Arial" pitchFamily="34" charset="-122"/>
                <a:cs typeface="Arial" pitchFamily="34" charset="-120"/>
              </a:rPr>
              <a:t>— TS. Lê Đức Thuận • Khoa Công nghệ Thông tin - Học viện Kỹ thuật Mật mã</a:t>
            </a:r>
            <a:endParaRPr lang="en-US" sz="1200" dirty="0"/>
          </a:p>
        </p:txBody>
      </p:sp>
      <p:sp>
        <p:nvSpPr>
          <p:cNvPr id="9" name="Text 7"/>
          <p:cNvSpPr/>
          <p:nvPr/>
        </p:nvSpPr>
        <p:spPr>
          <a:xfrm>
            <a:off x="731520" y="5120640"/>
            <a:ext cx="6583680" cy="91440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Chương 3 trình bày các phương pháp khảo cứu tài liệu chuẩn IEEE, khai thác đồ thị trích dẫn, bóc tách phương pháp nghiên cứu, soạn thảo LaTeX và tuân thủ các quy chuẩn liêm chính học thuật quốc tế.</a:t>
            </a:r>
            <a:endParaRPr lang="en-US" sz="1100" dirty="0"/>
          </a:p>
        </p:txBody>
      </p:sp>
      <p:pic>
        <p:nvPicPr>
          <p:cNvPr id="10" name="Image 0" descr="D:\Linh tinh\web_thay_thuan\assets\images\slide-26-part2-summary.jpg">    </p:cNvPr>
          <p:cNvPicPr>
            <a:picLocks noChangeAspect="1"/>
          </p:cNvPicPr>
          <p:nvPr/>
        </p:nvPicPr>
        <p:blipFill>
          <a:blip r:embed="rId1"/>
          <a:srcRect l="0" r="0" t="0" b="0"/>
          <a:stretch/>
        </p:blipFill>
        <p:spPr>
          <a:xfrm>
            <a:off x="7589520" y="1828800"/>
            <a:ext cx="3840480" cy="4297680"/>
          </a:xfrm>
          <a:prstGeom prst="rect">
            <a:avLst/>
          </a:prstGeom>
        </p:spPr>
      </p:pic>
      <p:sp>
        <p:nvSpPr>
          <p:cNvPr id="11" name="Shape 8"/>
          <p:cNvSpPr/>
          <p:nvPr/>
        </p:nvSpPr>
        <p:spPr>
          <a:xfrm>
            <a:off x="731520" y="6400800"/>
            <a:ext cx="10698480" cy="0"/>
          </a:xfrm>
          <a:prstGeom prst="line">
            <a:avLst/>
          </a:prstGeom>
          <a:noFill/>
          <a:ln w="12700">
            <a:solidFill>
              <a:srgbClr val="2A374F"/>
            </a:solidFill>
            <a:prstDash val="solid"/>
          </a:ln>
        </p:spPr>
      </p:sp>
      <p:sp>
        <p:nvSpPr>
          <p:cNvPr id="12" name="Text 9"/>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3" name="Text 10"/>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4" name="Text 11"/>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26 / 50</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27 • Chương 3: AI Trong Nghiên Cứu Khoa Học</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Vòng Đời Công Trình Nghiên Cứu &amp; Vị Trí Hỗ Trợ Của AI</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Năm giai đoạn chuẩn mực từ xác định khoảng trống tri thức đến công bố học thuật</a:t>
            </a:r>
            <a:endParaRPr lang="en-US" sz="1150" dirty="0"/>
          </a:p>
        </p:txBody>
      </p:sp>
      <p:sp>
        <p:nvSpPr>
          <p:cNvPr id="6" name="Shape 4"/>
          <p:cNvSpPr/>
          <p:nvPr/>
        </p:nvSpPr>
        <p:spPr>
          <a:xfrm>
            <a:off x="731520" y="6400800"/>
            <a:ext cx="10698480" cy="0"/>
          </a:xfrm>
          <a:prstGeom prst="line">
            <a:avLst/>
          </a:prstGeom>
          <a:noFill/>
          <a:ln w="12700">
            <a:solidFill>
              <a:srgbClr val="2A374F"/>
            </a:solidFill>
            <a:prstDash val="solid"/>
          </a:ln>
        </p:spPr>
      </p:sp>
      <p:sp>
        <p:nvSpPr>
          <p:cNvPr id="7" name="Text 5"/>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8" name="Text 6"/>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9" name="Text 7"/>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27 / 50</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28 • Chương 3: AI Trong Nghiên Cứu Khoa Học</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Khảo Cứu Học Thuật: Vì Sao ChatGPT Thất Bại &amp; Công Cụ Thay Thế</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Phân tích nguyên nhân kỹ thuật khiến mô hình tạo sinh thất bại trong tra cứu và giới thiệu hệ thống chuyên dụng</a:t>
            </a:r>
            <a:endParaRPr lang="en-US" sz="1150" dirty="0"/>
          </a:p>
        </p:txBody>
      </p:sp>
      <p:sp>
        <p:nvSpPr>
          <p:cNvPr id="6" name="Shape 4"/>
          <p:cNvSpPr/>
          <p:nvPr/>
        </p:nvSpPr>
        <p:spPr>
          <a:xfrm>
            <a:off x="731520" y="1828800"/>
            <a:ext cx="5212080" cy="4206240"/>
          </a:xfrm>
          <a:prstGeom prst="roundRect">
            <a:avLst>
              <a:gd name="adj" fmla="val 2609"/>
            </a:avLst>
          </a:prstGeom>
          <a:solidFill>
            <a:srgbClr val="1C1622"/>
          </a:solidFill>
          <a:ln w="12700">
            <a:solidFill>
              <a:srgbClr val="4B2635"/>
            </a:solidFill>
            <a:prstDash val="solid"/>
          </a:ln>
        </p:spPr>
      </p:sp>
      <p:sp>
        <p:nvSpPr>
          <p:cNvPr id="7" name="Text 5"/>
          <p:cNvSpPr/>
          <p:nvPr/>
        </p:nvSpPr>
        <p:spPr>
          <a:xfrm>
            <a:off x="914400" y="2011680"/>
            <a:ext cx="4846320" cy="457200"/>
          </a:xfrm>
          <a:prstGeom prst="rect">
            <a:avLst/>
          </a:prstGeom>
          <a:noFill/>
          <a:ln/>
        </p:spPr>
        <p:txBody>
          <a:bodyPr wrap="square" rtlCol="0" anchor="ctr"/>
          <a:lstStyle/>
          <a:p>
            <a:pPr indent="0" marL="0">
              <a:buNone/>
            </a:pPr>
            <a:r>
              <a:rPr lang="en-US" sz="1400" b="1" dirty="0">
                <a:solidFill>
                  <a:srgbClr val="F43F5E"/>
                </a:solidFill>
                <a:latin typeface="Arial" pitchFamily="34" charset="0"/>
                <a:ea typeface="Arial" pitchFamily="34" charset="-122"/>
                <a:cs typeface="Arial" pitchFamily="34" charset="-120"/>
              </a:rPr>
              <a:t>Truyền Thống</a:t>
            </a:r>
            <a:endParaRPr lang="en-US" sz="1400" dirty="0"/>
          </a:p>
        </p:txBody>
      </p:sp>
      <p:sp>
        <p:nvSpPr>
          <p:cNvPr id="8" name="Text 6"/>
          <p:cNvSpPr/>
          <p:nvPr/>
        </p:nvSpPr>
        <p:spPr>
          <a:xfrm>
            <a:off x="914400" y="2560320"/>
            <a:ext cx="4846320" cy="3200400"/>
          </a:xfrm>
          <a:prstGeom prst="rect">
            <a:avLst/>
          </a:prstGeom>
          <a:noFill/>
          <a:ln/>
        </p:spPr>
        <p:txBody>
          <a:bodyPr wrap="square" rtlCol="0" anchor="ctr"/>
          <a:lstStyle/>
          <a:p>
            <a:pPr indent="0" marL="0">
              <a:buNone/>
            </a:pPr>
            <a:endParaRPr lang="en-US" sz="1050" dirty="0"/>
          </a:p>
        </p:txBody>
      </p:sp>
      <p:sp>
        <p:nvSpPr>
          <p:cNvPr id="9" name="Shape 7"/>
          <p:cNvSpPr/>
          <p:nvPr/>
        </p:nvSpPr>
        <p:spPr>
          <a:xfrm>
            <a:off x="6217920" y="1828800"/>
            <a:ext cx="5212080" cy="4206240"/>
          </a:xfrm>
          <a:prstGeom prst="roundRect">
            <a:avLst>
              <a:gd name="adj" fmla="val 2609"/>
            </a:avLst>
          </a:prstGeom>
          <a:solidFill>
            <a:srgbClr val="122624"/>
          </a:solidFill>
          <a:ln w="12700">
            <a:solidFill>
              <a:srgbClr val="1C4C42"/>
            </a:solidFill>
            <a:prstDash val="solid"/>
          </a:ln>
        </p:spPr>
      </p:sp>
      <p:sp>
        <p:nvSpPr>
          <p:cNvPr id="10" name="Text 8"/>
          <p:cNvSpPr/>
          <p:nvPr/>
        </p:nvSpPr>
        <p:spPr>
          <a:xfrm>
            <a:off x="6400800" y="2011680"/>
            <a:ext cx="4846320" cy="457200"/>
          </a:xfrm>
          <a:prstGeom prst="rect">
            <a:avLst/>
          </a:prstGeom>
          <a:noFill/>
          <a:ln/>
        </p:spPr>
        <p:txBody>
          <a:bodyPr wrap="square" rtlCol="0" anchor="ctr"/>
          <a:lstStyle/>
          <a:p>
            <a:pPr indent="0" marL="0">
              <a:buNone/>
            </a:pPr>
            <a:r>
              <a:rPr lang="en-US" sz="1400" b="1" dirty="0">
                <a:solidFill>
                  <a:srgbClr val="10B981"/>
                </a:solidFill>
                <a:latin typeface="Arial" pitchFamily="34" charset="0"/>
                <a:ea typeface="Arial" pitchFamily="34" charset="-122"/>
                <a:cs typeface="Arial" pitchFamily="34" charset="-120"/>
              </a:rPr>
              <a:t>Ứng Dụng AI</a:t>
            </a:r>
            <a:endParaRPr lang="en-US" sz="1400" dirty="0"/>
          </a:p>
        </p:txBody>
      </p:sp>
      <p:sp>
        <p:nvSpPr>
          <p:cNvPr id="11" name="Text 9"/>
          <p:cNvSpPr/>
          <p:nvPr/>
        </p:nvSpPr>
        <p:spPr>
          <a:xfrm>
            <a:off x="6400800" y="2560320"/>
            <a:ext cx="4846320" cy="3200400"/>
          </a:xfrm>
          <a:prstGeom prst="rect">
            <a:avLst/>
          </a:prstGeom>
          <a:noFill/>
          <a:ln/>
        </p:spPr>
        <p:txBody>
          <a:bodyPr wrap="square" rtlCol="0" anchor="ctr"/>
          <a:lstStyle/>
          <a:p>
            <a:pPr indent="0" marL="0">
              <a:buNone/>
            </a:pPr>
            <a:endParaRPr lang="en-US" sz="1050" dirty="0"/>
          </a:p>
        </p:txBody>
      </p:sp>
      <p:sp>
        <p:nvSpPr>
          <p:cNvPr id="12" name="Shape 10"/>
          <p:cNvSpPr/>
          <p:nvPr/>
        </p:nvSpPr>
        <p:spPr>
          <a:xfrm>
            <a:off x="731520" y="6400800"/>
            <a:ext cx="10698480" cy="0"/>
          </a:xfrm>
          <a:prstGeom prst="line">
            <a:avLst/>
          </a:prstGeom>
          <a:noFill/>
          <a:ln w="12700">
            <a:solidFill>
              <a:srgbClr val="2A374F"/>
            </a:solidFill>
            <a:prstDash val="solid"/>
          </a:ln>
        </p:spPr>
      </p:sp>
      <p:sp>
        <p:nvSpPr>
          <p:cNvPr id="13" name="Text 11"/>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4" name="Text 12"/>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5" name="Text 13"/>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28 / 50</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29 • Chương 3: AI Trong Nghiên Cứu Khoa Học</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Khai Thác Đồ Thị Trích Dẫn: Connected Papers &amp; Litmaps</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Phương pháp phân tích mạng lưới trích dẫn đồng xuất hiện để xác định bài báo nền tảng (Seminal Papers)</a:t>
            </a:r>
            <a:endParaRPr lang="en-US" sz="1150" dirty="0"/>
          </a:p>
        </p:txBody>
      </p:sp>
      <p:sp>
        <p:nvSpPr>
          <p:cNvPr id="6" name="Shape 4"/>
          <p:cNvSpPr/>
          <p:nvPr/>
        </p:nvSpPr>
        <p:spPr>
          <a:xfrm>
            <a:off x="731520" y="1828800"/>
            <a:ext cx="2537460" cy="3474720"/>
          </a:xfrm>
          <a:prstGeom prst="roundRect">
            <a:avLst>
              <a:gd name="adj" fmla="val 3604"/>
            </a:avLst>
          </a:prstGeom>
          <a:solidFill>
            <a:srgbClr val="161F33"/>
          </a:solidFill>
          <a:ln w="12700">
            <a:solidFill>
              <a:srgbClr val="2A374F"/>
            </a:solidFill>
            <a:prstDash val="solid"/>
          </a:ln>
        </p:spPr>
      </p:sp>
      <p:sp>
        <p:nvSpPr>
          <p:cNvPr id="7" name="Text 5"/>
          <p:cNvSpPr/>
          <p:nvPr/>
        </p:nvSpPr>
        <p:spPr>
          <a:xfrm>
            <a:off x="868680" y="2011680"/>
            <a:ext cx="226314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Bước undefined</a:t>
            </a:r>
            <a:endParaRPr lang="en-US" sz="1000" dirty="0"/>
          </a:p>
        </p:txBody>
      </p:sp>
      <p:sp>
        <p:nvSpPr>
          <p:cNvPr id="8" name="Text 6"/>
          <p:cNvSpPr/>
          <p:nvPr/>
        </p:nvSpPr>
        <p:spPr>
          <a:xfrm>
            <a:off x="868680" y="2377440"/>
            <a:ext cx="2263140" cy="5943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1. Vấn đề của phương pháp tìm kiếm từ khóa truyền thống</a:t>
            </a:r>
            <a:endParaRPr lang="en-US" sz="1200" dirty="0"/>
          </a:p>
        </p:txBody>
      </p:sp>
      <p:sp>
        <p:nvSpPr>
          <p:cNvPr id="9" name="Text 7"/>
          <p:cNvSpPr/>
          <p:nvPr/>
        </p:nvSpPr>
        <p:spPr>
          <a:xfrm>
            <a:off x="868680" y="3017520"/>
            <a:ext cx="2263140" cy="20116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Tìm kiếm từ khóa thuần túy trả về hàng ngàn kết quả rời rạc, không phản ánh được lịch sử phát triển và cấu trúc phân nhánh của đề tài.</a:t>
            </a:r>
            <a:endParaRPr lang="en-US" sz="950" dirty="0"/>
          </a:p>
        </p:txBody>
      </p:sp>
      <p:sp>
        <p:nvSpPr>
          <p:cNvPr id="10" name="Shape 8"/>
          <p:cNvSpPr/>
          <p:nvPr/>
        </p:nvSpPr>
        <p:spPr>
          <a:xfrm>
            <a:off x="3451860" y="1828800"/>
            <a:ext cx="2537460" cy="3474720"/>
          </a:xfrm>
          <a:prstGeom prst="roundRect">
            <a:avLst>
              <a:gd name="adj" fmla="val 3604"/>
            </a:avLst>
          </a:prstGeom>
          <a:solidFill>
            <a:srgbClr val="161F33"/>
          </a:solidFill>
          <a:ln w="12700">
            <a:solidFill>
              <a:srgbClr val="2A374F"/>
            </a:solidFill>
            <a:prstDash val="solid"/>
          </a:ln>
        </p:spPr>
      </p:sp>
      <p:sp>
        <p:nvSpPr>
          <p:cNvPr id="11" name="Text 9"/>
          <p:cNvSpPr/>
          <p:nvPr/>
        </p:nvSpPr>
        <p:spPr>
          <a:xfrm>
            <a:off x="3589020" y="2011680"/>
            <a:ext cx="226314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Bước undefined</a:t>
            </a:r>
            <a:endParaRPr lang="en-US" sz="1000" dirty="0"/>
          </a:p>
        </p:txBody>
      </p:sp>
      <p:sp>
        <p:nvSpPr>
          <p:cNvPr id="12" name="Text 10"/>
          <p:cNvSpPr/>
          <p:nvPr/>
        </p:nvSpPr>
        <p:spPr>
          <a:xfrm>
            <a:off x="3589020" y="2377440"/>
            <a:ext cx="2263140" cy="5943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2. Nguyên lý phân tích trích dẫn đồng xuất hiện (Co-citation Analysis)</a:t>
            </a:r>
            <a:endParaRPr lang="en-US" sz="1200" dirty="0"/>
          </a:p>
        </p:txBody>
      </p:sp>
      <p:sp>
        <p:nvSpPr>
          <p:cNvPr id="13" name="Text 11"/>
          <p:cNvSpPr/>
          <p:nvPr/>
        </p:nvSpPr>
        <p:spPr>
          <a:xfrm>
            <a:off x="3589020" y="3017520"/>
            <a:ext cx="2263140" cy="20116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Đo lường mức độ tương đồng giữa hai bài báo dựa trên tần suất chúng được trích dẫn cùng nhau bởi các công trình nghiên cứu khác trong cùng lĩnh vực.</a:t>
            </a:r>
            <a:endParaRPr lang="en-US" sz="950" dirty="0"/>
          </a:p>
        </p:txBody>
      </p:sp>
      <p:sp>
        <p:nvSpPr>
          <p:cNvPr id="14" name="Shape 12"/>
          <p:cNvSpPr/>
          <p:nvPr/>
        </p:nvSpPr>
        <p:spPr>
          <a:xfrm>
            <a:off x="6172200" y="1828800"/>
            <a:ext cx="2537460" cy="3474720"/>
          </a:xfrm>
          <a:prstGeom prst="roundRect">
            <a:avLst>
              <a:gd name="adj" fmla="val 3604"/>
            </a:avLst>
          </a:prstGeom>
          <a:solidFill>
            <a:srgbClr val="161F33"/>
          </a:solidFill>
          <a:ln w="12700">
            <a:solidFill>
              <a:srgbClr val="2A374F"/>
            </a:solidFill>
            <a:prstDash val="solid"/>
          </a:ln>
        </p:spPr>
      </p:sp>
      <p:sp>
        <p:nvSpPr>
          <p:cNvPr id="15" name="Text 13"/>
          <p:cNvSpPr/>
          <p:nvPr/>
        </p:nvSpPr>
        <p:spPr>
          <a:xfrm>
            <a:off x="6309360" y="2011680"/>
            <a:ext cx="226314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Bước undefined</a:t>
            </a:r>
            <a:endParaRPr lang="en-US" sz="1000" dirty="0"/>
          </a:p>
        </p:txBody>
      </p:sp>
      <p:sp>
        <p:nvSpPr>
          <p:cNvPr id="16" name="Text 14"/>
          <p:cNvSpPr/>
          <p:nvPr/>
        </p:nvSpPr>
        <p:spPr>
          <a:xfrm>
            <a:off x="6309360" y="2377440"/>
            <a:ext cx="2263140" cy="5943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3. Xác định các bài báo đặt nền móng (Seminal / Prior Works)</a:t>
            </a:r>
            <a:endParaRPr lang="en-US" sz="1200" dirty="0"/>
          </a:p>
        </p:txBody>
      </p:sp>
      <p:sp>
        <p:nvSpPr>
          <p:cNvPr id="17" name="Text 15"/>
          <p:cNvSpPr/>
          <p:nvPr/>
        </p:nvSpPr>
        <p:spPr>
          <a:xfrm>
            <a:off x="6309360" y="3017520"/>
            <a:ext cx="2263140" cy="20116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Các nút mạng có kích thước lớn và độ kết nối tập trung đại diện cho các công trình kinh điển bắt buộc phải trích dẫn và nghiên cứu kỹ lưỡng.</a:t>
            </a:r>
            <a:endParaRPr lang="en-US" sz="950" dirty="0"/>
          </a:p>
        </p:txBody>
      </p:sp>
      <p:sp>
        <p:nvSpPr>
          <p:cNvPr id="18" name="Shape 16"/>
          <p:cNvSpPr/>
          <p:nvPr/>
        </p:nvSpPr>
        <p:spPr>
          <a:xfrm>
            <a:off x="8892540" y="1828800"/>
            <a:ext cx="2537460" cy="3474720"/>
          </a:xfrm>
          <a:prstGeom prst="roundRect">
            <a:avLst>
              <a:gd name="adj" fmla="val 3604"/>
            </a:avLst>
          </a:prstGeom>
          <a:solidFill>
            <a:srgbClr val="161F33"/>
          </a:solidFill>
          <a:ln w="12700">
            <a:solidFill>
              <a:srgbClr val="2A374F"/>
            </a:solidFill>
            <a:prstDash val="solid"/>
          </a:ln>
        </p:spPr>
      </p:sp>
      <p:sp>
        <p:nvSpPr>
          <p:cNvPr id="19" name="Text 17"/>
          <p:cNvSpPr/>
          <p:nvPr/>
        </p:nvSpPr>
        <p:spPr>
          <a:xfrm>
            <a:off x="9029700" y="2011680"/>
            <a:ext cx="226314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Bước undefined</a:t>
            </a:r>
            <a:endParaRPr lang="en-US" sz="1000" dirty="0"/>
          </a:p>
        </p:txBody>
      </p:sp>
      <p:sp>
        <p:nvSpPr>
          <p:cNvPr id="20" name="Text 18"/>
          <p:cNvSpPr/>
          <p:nvPr/>
        </p:nvSpPr>
        <p:spPr>
          <a:xfrm>
            <a:off x="9029700" y="2377440"/>
            <a:ext cx="2263140" cy="5943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4. Lần theo các hướng phát triển tiên tiến nhất (Derivative Works)</a:t>
            </a:r>
            <a:endParaRPr lang="en-US" sz="1200" dirty="0"/>
          </a:p>
        </p:txBody>
      </p:sp>
      <p:sp>
        <p:nvSpPr>
          <p:cNvPr id="21" name="Text 19"/>
          <p:cNvSpPr/>
          <p:nvPr/>
        </p:nvSpPr>
        <p:spPr>
          <a:xfrm>
            <a:off x="9029700" y="3017520"/>
            <a:ext cx="2263140" cy="20116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Xác định các công trình mới xuất bản (2024-2025) nằm ở các nhánh biên của đồ thị để nắm bắt trạng thái công nghệ hiện đại nhất (State-of-the-Art).</a:t>
            </a:r>
            <a:endParaRPr lang="en-US" sz="950" dirty="0"/>
          </a:p>
        </p:txBody>
      </p:sp>
      <p:sp>
        <p:nvSpPr>
          <p:cNvPr id="22" name="Shape 20"/>
          <p:cNvSpPr/>
          <p:nvPr/>
        </p:nvSpPr>
        <p:spPr>
          <a:xfrm>
            <a:off x="731520" y="5486400"/>
            <a:ext cx="10698480" cy="640080"/>
          </a:xfrm>
          <a:prstGeom prst="roundRect">
            <a:avLst>
              <a:gd name="adj" fmla="val 11429"/>
            </a:avLst>
          </a:prstGeom>
          <a:solidFill>
            <a:srgbClr val="111F38"/>
          </a:solidFill>
          <a:ln w="12700">
            <a:solidFill>
              <a:srgbClr val="38BDF8"/>
            </a:solidFill>
            <a:prstDash val="solid"/>
          </a:ln>
        </p:spPr>
      </p:sp>
      <p:sp>
        <p:nvSpPr>
          <p:cNvPr id="23" name="Text 21"/>
          <p:cNvSpPr/>
          <p:nvPr/>
        </p:nvSpPr>
        <p:spPr>
          <a:xfrm>
            <a:off x="914400" y="5486400"/>
            <a:ext cx="10332720" cy="640080"/>
          </a:xfrm>
          <a:prstGeom prst="rect">
            <a:avLst/>
          </a:prstGeom>
          <a:noFill/>
          <a:ln/>
        </p:spPr>
        <p:txBody>
          <a:bodyPr wrap="square" rtlCol="0" anchor="ctr"/>
          <a:lstStyle/>
          <a:p>
            <a:pPr indent="0" marL="0">
              <a:buNone/>
            </a:pPr>
            <a:r>
              <a:rPr lang="en-US" sz="1000" i="1" dirty="0">
                <a:solidFill>
                  <a:srgbClr val="38BDF8"/>
                </a:solidFill>
                <a:latin typeface="Calibri" pitchFamily="34" charset="0"/>
                <a:ea typeface="Calibri" pitchFamily="34" charset="-122"/>
                <a:cs typeface="Calibri" pitchFamily="34" charset="-120"/>
              </a:rPr>
              <a:t>📌 Kết luận kiến trúc: Đồ thị trích dẫn biến danh mục tài liệu tham khảo tĩnh thành một bản đồ cấu trúc tri thức trực quan, giúp nhà nghiên cứu nắm bắt toàn cảnh lĩnh vực chỉ trong thời gian ngắn.</a:t>
            </a:r>
            <a:endParaRPr lang="en-US" sz="1000" dirty="0"/>
          </a:p>
        </p:txBody>
      </p:sp>
      <p:sp>
        <p:nvSpPr>
          <p:cNvPr id="24" name="Shape 22"/>
          <p:cNvSpPr/>
          <p:nvPr/>
        </p:nvSpPr>
        <p:spPr>
          <a:xfrm>
            <a:off x="731520" y="6400800"/>
            <a:ext cx="10698480" cy="0"/>
          </a:xfrm>
          <a:prstGeom prst="line">
            <a:avLst/>
          </a:prstGeom>
          <a:noFill/>
          <a:ln w="12700">
            <a:solidFill>
              <a:srgbClr val="2A374F"/>
            </a:solidFill>
            <a:prstDash val="solid"/>
          </a:ln>
        </p:spPr>
      </p:sp>
      <p:sp>
        <p:nvSpPr>
          <p:cNvPr id="25" name="Text 23"/>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26" name="Text 24"/>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27" name="Text 2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29 / 50</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30 • Chương 3: AI Trong Nghiên Cứu Khoa Học</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Kỹ Thuật Đọc &amp; Bóc Tách Bài Báo Chuẩn IEEE/ACM Cùng AI</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Ứng dụng các công cụ Source-Grounded (NotebookLM) để trích xuất cấu trúc phương pháp luận</a:t>
            </a:r>
            <a:endParaRPr lang="en-US" sz="1150" dirty="0"/>
          </a:p>
        </p:txBody>
      </p:sp>
      <p:sp>
        <p:nvSpPr>
          <p:cNvPr id="6" name="Shape 4"/>
          <p:cNvSpPr/>
          <p:nvPr/>
        </p:nvSpPr>
        <p:spPr>
          <a:xfrm>
            <a:off x="731520" y="1828800"/>
            <a:ext cx="6583680" cy="1097280"/>
          </a:xfrm>
          <a:prstGeom prst="roundRect">
            <a:avLst>
              <a:gd name="adj" fmla="val 8333"/>
            </a:avLst>
          </a:prstGeom>
          <a:solidFill>
            <a:srgbClr val="161F33"/>
          </a:solidFill>
          <a:ln w="12700">
            <a:solidFill>
              <a:srgbClr val="2A374F"/>
            </a:solidFill>
            <a:prstDash val="solid"/>
          </a:ln>
        </p:spPr>
      </p:sp>
      <p:sp>
        <p:nvSpPr>
          <p:cNvPr id="7" name="Text 5"/>
          <p:cNvSpPr/>
          <p:nvPr/>
        </p:nvSpPr>
        <p:spPr>
          <a:xfrm>
            <a:off x="914400" y="190195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1  Ứng dụng cơ chế Source-Grounded (NotebookLM)
</a:t>
            </a:r>
            <a:pPr indent="0" marL="0">
              <a:buNone/>
            </a:pPr>
            <a:r>
              <a:rPr lang="en-US" sz="1000" dirty="0">
                <a:solidFill>
                  <a:srgbClr val="FFFFFF"/>
                </a:solidFill>
                <a:latin typeface="Calibri" pitchFamily="34" charset="0"/>
                <a:ea typeface="Calibri" pitchFamily="34" charset="-122"/>
                <a:cs typeface="Calibri" pitchFamily="34" charset="-120"/>
              </a:rPr>
              <a:t>Tải trực tiếp tệp PDF bài báo gốc vào hệ thống NotebookLM. Mô hình chỉ trích xuất thông tin có trong tài liệu và dẫn xuất trực tiếp số trang, triệt tiêu nguy cơ ảo giác bịa đặt.</a:t>
            </a:r>
            <a:endParaRPr lang="en-US" sz="1100" dirty="0"/>
          </a:p>
        </p:txBody>
      </p:sp>
      <p:sp>
        <p:nvSpPr>
          <p:cNvPr id="8" name="Shape 6"/>
          <p:cNvSpPr/>
          <p:nvPr/>
        </p:nvSpPr>
        <p:spPr>
          <a:xfrm>
            <a:off x="731520" y="3017520"/>
            <a:ext cx="6583680" cy="1097280"/>
          </a:xfrm>
          <a:prstGeom prst="roundRect">
            <a:avLst>
              <a:gd name="adj" fmla="val 8333"/>
            </a:avLst>
          </a:prstGeom>
          <a:solidFill>
            <a:srgbClr val="161F33"/>
          </a:solidFill>
          <a:ln w="12700">
            <a:solidFill>
              <a:srgbClr val="2A374F"/>
            </a:solidFill>
            <a:prstDash val="solid"/>
          </a:ln>
        </p:spPr>
      </p:sp>
      <p:sp>
        <p:nvSpPr>
          <p:cNvPr id="9" name="Text 7"/>
          <p:cNvSpPr/>
          <p:nvPr/>
        </p:nvSpPr>
        <p:spPr>
          <a:xfrm>
            <a:off x="914400" y="309067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2  Bộ câu hỏi bóc tách 4 thành phần cốt lõi của công trình
</a:t>
            </a:r>
            <a:pPr indent="0" marL="0">
              <a:buNone/>
            </a:pPr>
            <a:r>
              <a:rPr lang="en-US" sz="1000" dirty="0">
                <a:solidFill>
                  <a:srgbClr val="FFFFFF"/>
                </a:solidFill>
                <a:latin typeface="Calibri" pitchFamily="34" charset="0"/>
                <a:ea typeface="Calibri" pitchFamily="34" charset="-122"/>
                <a:cs typeface="Calibri" pitchFamily="34" charset="-120"/>
              </a:rPr>
              <a:t>Truy vấn: (1) Mục tiêu và bài toán kỹ thuật mà bài báo giải quyết? (2) Điểm mới của phương pháp đề xuất so với các nghiên cứu trước? (3) Tập dữ liệu và Baseline so sánh là gì? (4) Giới hạn hoặc giả định mà công trình chưa xử lý được?</a:t>
            </a:r>
            <a:endParaRPr lang="en-US" sz="1100" dirty="0"/>
          </a:p>
        </p:txBody>
      </p:sp>
      <p:sp>
        <p:nvSpPr>
          <p:cNvPr id="10" name="Shape 8"/>
          <p:cNvSpPr/>
          <p:nvPr/>
        </p:nvSpPr>
        <p:spPr>
          <a:xfrm>
            <a:off x="731520" y="4206240"/>
            <a:ext cx="6583680" cy="1097280"/>
          </a:xfrm>
          <a:prstGeom prst="roundRect">
            <a:avLst>
              <a:gd name="adj" fmla="val 8333"/>
            </a:avLst>
          </a:prstGeom>
          <a:solidFill>
            <a:srgbClr val="161F33"/>
          </a:solidFill>
          <a:ln w="12700">
            <a:solidFill>
              <a:srgbClr val="2A374F"/>
            </a:solidFill>
            <a:prstDash val="solid"/>
          </a:ln>
        </p:spPr>
      </p:sp>
      <p:sp>
        <p:nvSpPr>
          <p:cNvPr id="11" name="Text 9"/>
          <p:cNvSpPr/>
          <p:nvPr/>
        </p:nvSpPr>
        <p:spPr>
          <a:xfrm>
            <a:off x="914400" y="427939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3  Đọc phản biện phương pháp thực nghiệm
</a:t>
            </a:r>
            <a:pPr indent="0" marL="0">
              <a:buNone/>
            </a:pPr>
            <a:r>
              <a:rPr lang="en-US" sz="1000" dirty="0">
                <a:solidFill>
                  <a:srgbClr val="FFFFFF"/>
                </a:solidFill>
                <a:latin typeface="Calibri" pitchFamily="34" charset="0"/>
                <a:ea typeface="Calibri" pitchFamily="34" charset="-122"/>
                <a:cs typeface="Calibri" pitchFamily="34" charset="-120"/>
              </a:rPr>
              <a:t>Đánh giá tính khách quan của số liệu: Kiểm tra xem tác giả có thực hiện kiểm định thống kê (Statistical Significance Test) hay có dấu hiệu quá khớp (Overfitting) trên tập dữ liệu nhỏ hay không.</a:t>
            </a:r>
            <a:endParaRPr lang="en-US" sz="1100" dirty="0"/>
          </a:p>
        </p:txBody>
      </p:sp>
      <p:sp>
        <p:nvSpPr>
          <p:cNvPr id="12" name="Shape 10"/>
          <p:cNvSpPr/>
          <p:nvPr/>
        </p:nvSpPr>
        <p:spPr>
          <a:xfrm>
            <a:off x="731520" y="5440680"/>
            <a:ext cx="6583680" cy="594360"/>
          </a:xfrm>
          <a:prstGeom prst="roundRect">
            <a:avLst>
              <a:gd name="adj" fmla="val 12308"/>
            </a:avLst>
          </a:prstGeom>
          <a:solidFill>
            <a:srgbClr val="111F38"/>
          </a:solidFill>
          <a:ln w="12700">
            <a:solidFill>
              <a:srgbClr val="38BDF8"/>
            </a:solidFill>
            <a:prstDash val="solid"/>
          </a:ln>
        </p:spPr>
      </p:sp>
      <p:sp>
        <p:nvSpPr>
          <p:cNvPr id="13" name="Text 11"/>
          <p:cNvSpPr/>
          <p:nvPr/>
        </p:nvSpPr>
        <p:spPr>
          <a:xfrm>
            <a:off x="868680" y="5440680"/>
            <a:ext cx="6309360" cy="594360"/>
          </a:xfrm>
          <a:prstGeom prst="rect">
            <a:avLst/>
          </a:prstGeom>
          <a:noFill/>
          <a:ln/>
        </p:spPr>
        <p:txBody>
          <a:bodyPr wrap="square" rtlCol="0" anchor="ctr"/>
          <a:lstStyle/>
          <a:p>
            <a:pPr indent="0" marL="0">
              <a:buNone/>
            </a:pPr>
            <a:r>
              <a:rPr lang="en-US" sz="950" i="1" dirty="0">
                <a:solidFill>
                  <a:srgbClr val="38BDF8"/>
                </a:solidFill>
                <a:latin typeface="Calibri" pitchFamily="34" charset="0"/>
                <a:ea typeface="Calibri" pitchFamily="34" charset="-122"/>
                <a:cs typeface="Calibri" pitchFamily="34" charset="-120"/>
              </a:rPr>
              <a:t>💡 Điểm cốt lõi: Đọc bài báo khoa học là quá trình phân tích phản biện cấu trúc phương pháp luận và kiểm chứng độ tin cậy của thực nghiệm, không phải là việc tiếp nhận thông tin thụ động.</a:t>
            </a:r>
            <a:endParaRPr lang="en-US" sz="950" dirty="0"/>
          </a:p>
        </p:txBody>
      </p:sp>
      <p:pic>
        <p:nvPicPr>
          <p:cNvPr id="14" name="Image 0" descr="D:\Linh tinh\web_thay_thuan\assets\images\slide-30-find-papers.jpg">    </p:cNvPr>
          <p:cNvPicPr>
            <a:picLocks noChangeAspect="1"/>
          </p:cNvPicPr>
          <p:nvPr/>
        </p:nvPicPr>
        <p:blipFill>
          <a:blip r:embed="rId1"/>
          <a:srcRect l="0" r="0" t="0" b="0"/>
          <a:stretch/>
        </p:blipFill>
        <p:spPr>
          <a:xfrm>
            <a:off x="7589520" y="1737360"/>
            <a:ext cx="3840480" cy="4389120"/>
          </a:xfrm>
          <a:prstGeom prst="rect">
            <a:avLst/>
          </a:prstGeom>
        </p:spPr>
      </p:pic>
      <p:sp>
        <p:nvSpPr>
          <p:cNvPr id="15" name="Text 12"/>
          <p:cNvSpPr/>
          <p:nvPr/>
        </p:nvSpPr>
        <p:spPr>
          <a:xfrm>
            <a:off x="7589520" y="5897880"/>
            <a:ext cx="3840480" cy="320040"/>
          </a:xfrm>
          <a:prstGeom prst="rect">
            <a:avLst/>
          </a:prstGeom>
          <a:noFill/>
          <a:ln/>
        </p:spPr>
        <p:txBody>
          <a:bodyPr wrap="square"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Bóc tách cấu trúc bài báo khoa học chuẩn IEEE Transactions</a:t>
            </a:r>
            <a:endParaRPr lang="en-US" sz="800" dirty="0"/>
          </a:p>
        </p:txBody>
      </p:sp>
      <p:sp>
        <p:nvSpPr>
          <p:cNvPr id="16" name="Shape 13"/>
          <p:cNvSpPr/>
          <p:nvPr/>
        </p:nvSpPr>
        <p:spPr>
          <a:xfrm>
            <a:off x="731520" y="6400800"/>
            <a:ext cx="10698480" cy="0"/>
          </a:xfrm>
          <a:prstGeom prst="line">
            <a:avLst/>
          </a:prstGeom>
          <a:noFill/>
          <a:ln w="12700">
            <a:solidFill>
              <a:srgbClr val="2A374F"/>
            </a:solidFill>
            <a:prstDash val="solid"/>
          </a:ln>
        </p:spPr>
      </p:sp>
      <p:sp>
        <p:nvSpPr>
          <p:cNvPr id="17" name="Text 14"/>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8" name="Text 15"/>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9" name="Text 16"/>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30 / 50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31 • Chương 3: AI Trong Nghiên Cứu Khoa Học</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Xác Thực Nguồn Trích Dẫn: Quy Trình Kiểm Tra Mã Định Danh DOI</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Quy chuẩn ba bước loại trừ triệt để hiện tượng trích dẫn ma và đảm bảo liêm chính học thuật</a:t>
            </a:r>
            <a:endParaRPr lang="en-US" sz="1150" dirty="0"/>
          </a:p>
        </p:txBody>
      </p:sp>
      <p:sp>
        <p:nvSpPr>
          <p:cNvPr id="6" name="Shape 4"/>
          <p:cNvSpPr/>
          <p:nvPr/>
        </p:nvSpPr>
        <p:spPr>
          <a:xfrm>
            <a:off x="731520" y="1828800"/>
            <a:ext cx="2072640" cy="1051560"/>
          </a:xfrm>
          <a:prstGeom prst="roundRect">
            <a:avLst>
              <a:gd name="adj" fmla="val 8696"/>
            </a:avLst>
          </a:prstGeom>
          <a:solidFill>
            <a:srgbClr val="161F33"/>
          </a:solidFill>
          <a:ln w="12700">
            <a:solidFill>
              <a:srgbClr val="2A374F"/>
            </a:solidFill>
            <a:prstDash val="solid"/>
          </a:ln>
        </p:spPr>
      </p:sp>
      <p:sp>
        <p:nvSpPr>
          <p:cNvPr id="7" name="Text 5"/>
          <p:cNvSpPr/>
          <p:nvPr/>
        </p:nvSpPr>
        <p:spPr>
          <a:xfrm>
            <a:off x="822960" y="1920240"/>
            <a:ext cx="1889760" cy="457200"/>
          </a:xfrm>
          <a:prstGeom prst="rect">
            <a:avLst/>
          </a:prstGeom>
          <a:noFill/>
          <a:ln/>
        </p:spPr>
        <p:txBody>
          <a:bodyPr wrap="square" rtlCol="0" anchor="ctr"/>
          <a:lstStyle/>
          <a:p>
            <a:pPr algn="ctr" indent="0" marL="0">
              <a:buNone/>
            </a:pPr>
            <a:r>
              <a:rPr lang="en-US" sz="1800" b="1" dirty="0">
                <a:solidFill>
                  <a:srgbClr val="38BDF8"/>
                </a:solidFill>
                <a:latin typeface="Arial" pitchFamily="34" charset="0"/>
                <a:ea typeface="Arial" pitchFamily="34" charset="-122"/>
                <a:cs typeface="Arial" pitchFamily="34" charset="-120"/>
              </a:rPr>
              <a:t>DOI</a:t>
            </a:r>
            <a:endParaRPr lang="en-US" sz="1800" dirty="0"/>
          </a:p>
        </p:txBody>
      </p:sp>
      <p:sp>
        <p:nvSpPr>
          <p:cNvPr id="8" name="Text 6"/>
          <p:cNvSpPr/>
          <p:nvPr/>
        </p:nvSpPr>
        <p:spPr>
          <a:xfrm>
            <a:off x="82296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Digital Object Identifier (Định danh đối tượng số)</a:t>
            </a:r>
            <a:endParaRPr lang="en-US" sz="950" dirty="0"/>
          </a:p>
        </p:txBody>
      </p:sp>
      <p:sp>
        <p:nvSpPr>
          <p:cNvPr id="9" name="Shape 7"/>
          <p:cNvSpPr/>
          <p:nvPr/>
        </p:nvSpPr>
        <p:spPr>
          <a:xfrm>
            <a:off x="2987040" y="1828800"/>
            <a:ext cx="2072640" cy="1051560"/>
          </a:xfrm>
          <a:prstGeom prst="roundRect">
            <a:avLst>
              <a:gd name="adj" fmla="val 8696"/>
            </a:avLst>
          </a:prstGeom>
          <a:solidFill>
            <a:srgbClr val="161F33"/>
          </a:solidFill>
          <a:ln w="12700">
            <a:solidFill>
              <a:srgbClr val="2A374F"/>
            </a:solidFill>
            <a:prstDash val="solid"/>
          </a:ln>
        </p:spPr>
      </p:sp>
      <p:sp>
        <p:nvSpPr>
          <p:cNvPr id="10" name="Text 8"/>
          <p:cNvSpPr/>
          <p:nvPr/>
        </p:nvSpPr>
        <p:spPr>
          <a:xfrm>
            <a:off x="3078480" y="1920240"/>
            <a:ext cx="1889760" cy="457200"/>
          </a:xfrm>
          <a:prstGeom prst="rect">
            <a:avLst/>
          </a:prstGeom>
          <a:noFill/>
          <a:ln/>
        </p:spPr>
        <p:txBody>
          <a:bodyPr wrap="square" rtlCol="0" anchor="ctr"/>
          <a:lstStyle/>
          <a:p>
            <a:pPr algn="ctr" indent="0" marL="0">
              <a:buNone/>
            </a:pPr>
            <a:r>
              <a:rPr lang="en-US" sz="1800" b="1" dirty="0">
                <a:solidFill>
                  <a:srgbClr val="10B981"/>
                </a:solidFill>
                <a:latin typeface="Arial" pitchFamily="34" charset="0"/>
                <a:ea typeface="Arial" pitchFamily="34" charset="-122"/>
                <a:cs typeface="Arial" pitchFamily="34" charset="-120"/>
              </a:rPr>
              <a:t>doi.org</a:t>
            </a:r>
            <a:endParaRPr lang="en-US" sz="1800" dirty="0"/>
          </a:p>
        </p:txBody>
      </p:sp>
      <p:sp>
        <p:nvSpPr>
          <p:cNvPr id="11" name="Text 9"/>
          <p:cNvSpPr/>
          <p:nvPr/>
        </p:nvSpPr>
        <p:spPr>
          <a:xfrm>
            <a:off x="307848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Cổng phân giải định danh quốc tế chính thức</a:t>
            </a:r>
            <a:endParaRPr lang="en-US" sz="950" dirty="0"/>
          </a:p>
        </p:txBody>
      </p:sp>
      <p:sp>
        <p:nvSpPr>
          <p:cNvPr id="12" name="Shape 10"/>
          <p:cNvSpPr/>
          <p:nvPr/>
        </p:nvSpPr>
        <p:spPr>
          <a:xfrm>
            <a:off x="5242560" y="1828800"/>
            <a:ext cx="2072640" cy="1051560"/>
          </a:xfrm>
          <a:prstGeom prst="roundRect">
            <a:avLst>
              <a:gd name="adj" fmla="val 8696"/>
            </a:avLst>
          </a:prstGeom>
          <a:solidFill>
            <a:srgbClr val="161F33"/>
          </a:solidFill>
          <a:ln w="12700">
            <a:solidFill>
              <a:srgbClr val="2A374F"/>
            </a:solidFill>
            <a:prstDash val="solid"/>
          </a:ln>
        </p:spPr>
      </p:sp>
      <p:sp>
        <p:nvSpPr>
          <p:cNvPr id="13" name="Text 11"/>
          <p:cNvSpPr/>
          <p:nvPr/>
        </p:nvSpPr>
        <p:spPr>
          <a:xfrm>
            <a:off x="5334000" y="1920240"/>
            <a:ext cx="1889760" cy="457200"/>
          </a:xfrm>
          <a:prstGeom prst="rect">
            <a:avLst/>
          </a:prstGeom>
          <a:noFill/>
          <a:ln/>
        </p:spPr>
        <p:txBody>
          <a:bodyPr wrap="square" rtlCol="0" anchor="ctr"/>
          <a:lstStyle/>
          <a:p>
            <a:pPr algn="ctr" indent="0" marL="0">
              <a:buNone/>
            </a:pPr>
            <a:r>
              <a:rPr lang="en-US" sz="1800" b="1" dirty="0">
                <a:solidFill>
                  <a:srgbClr val="F59E0B"/>
                </a:solidFill>
                <a:latin typeface="Arial" pitchFamily="34" charset="0"/>
                <a:ea typeface="Arial" pitchFamily="34" charset="-122"/>
                <a:cs typeface="Arial" pitchFamily="34" charset="-120"/>
              </a:rPr>
              <a:t>0 Điểm</a:t>
            </a:r>
            <a:endParaRPr lang="en-US" sz="1800" dirty="0"/>
          </a:p>
        </p:txBody>
      </p:sp>
      <p:sp>
        <p:nvSpPr>
          <p:cNvPr id="14" name="Text 12"/>
          <p:cNvSpPr/>
          <p:nvPr/>
        </p:nvSpPr>
        <p:spPr>
          <a:xfrm>
            <a:off x="533400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Chế tài xử lý trích dẫn ngụy tạo trong nghiên cứu</a:t>
            </a:r>
            <a:endParaRPr lang="en-US" sz="950" dirty="0"/>
          </a:p>
        </p:txBody>
      </p:sp>
      <p:sp>
        <p:nvSpPr>
          <p:cNvPr id="15" name="Shape 13"/>
          <p:cNvSpPr/>
          <p:nvPr/>
        </p:nvSpPr>
        <p:spPr>
          <a:xfrm>
            <a:off x="731520" y="3063240"/>
            <a:ext cx="6583680" cy="746760"/>
          </a:xfrm>
          <a:prstGeom prst="roundRect">
            <a:avLst>
              <a:gd name="adj" fmla="val 12245"/>
            </a:avLst>
          </a:prstGeom>
          <a:solidFill>
            <a:srgbClr val="161F33"/>
          </a:solidFill>
          <a:ln w="12700">
            <a:solidFill>
              <a:srgbClr val="2A374F"/>
            </a:solidFill>
            <a:prstDash val="solid"/>
          </a:ln>
        </p:spPr>
      </p:sp>
      <p:sp>
        <p:nvSpPr>
          <p:cNvPr id="16" name="Text 14"/>
          <p:cNvSpPr/>
          <p:nvPr/>
        </p:nvSpPr>
        <p:spPr>
          <a:xfrm>
            <a:off x="914400" y="31363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Bước 1: Kiểm tra phân giải mã DOI trên cổng doi.org
</a:t>
            </a:r>
            <a:pPr indent="0" marL="0">
              <a:buNone/>
            </a:pPr>
            <a:r>
              <a:rPr lang="en-US" sz="1000" dirty="0">
                <a:solidFill>
                  <a:srgbClr val="FFFFFF"/>
                </a:solidFill>
                <a:latin typeface="Calibri" pitchFamily="34" charset="0"/>
                <a:ea typeface="Calibri" pitchFamily="34" charset="-122"/>
                <a:cs typeface="Calibri" pitchFamily="34" charset="-120"/>
              </a:rPr>
              <a:t>Mọi bài báo khoa học xuất bản chính quy đều được cấp một chuỗi định danh duy nhất (ví dụ: `10.1109/TIT.2023.1234567`). Truy cập `https://doi.org/[Mã_DOI]` — nếu hệ thống báo lỗi 404, bài báo đó không tồn tại.</a:t>
            </a:r>
            <a:endParaRPr lang="en-US" sz="1100" dirty="0"/>
          </a:p>
        </p:txBody>
      </p:sp>
      <p:sp>
        <p:nvSpPr>
          <p:cNvPr id="17" name="Shape 15"/>
          <p:cNvSpPr/>
          <p:nvPr/>
        </p:nvSpPr>
        <p:spPr>
          <a:xfrm>
            <a:off x="731520" y="3901440"/>
            <a:ext cx="6583680" cy="746760"/>
          </a:xfrm>
          <a:prstGeom prst="roundRect">
            <a:avLst>
              <a:gd name="adj" fmla="val 12245"/>
            </a:avLst>
          </a:prstGeom>
          <a:solidFill>
            <a:srgbClr val="161F33"/>
          </a:solidFill>
          <a:ln w="12700">
            <a:solidFill>
              <a:srgbClr val="2A374F"/>
            </a:solidFill>
            <a:prstDash val="solid"/>
          </a:ln>
        </p:spPr>
      </p:sp>
      <p:sp>
        <p:nvSpPr>
          <p:cNvPr id="18" name="Text 16"/>
          <p:cNvSpPr/>
          <p:nvPr/>
        </p:nvSpPr>
        <p:spPr>
          <a:xfrm>
            <a:off x="914400" y="39745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Bước 2: Đối soát trên cơ sở dữ liệu Google Scholar / DBLP
</a:t>
            </a:r>
            <a:pPr indent="0" marL="0">
              <a:buNone/>
            </a:pPr>
            <a:r>
              <a:rPr lang="en-US" sz="1000" dirty="0">
                <a:solidFill>
                  <a:srgbClr val="FFFFFF"/>
                </a:solidFill>
                <a:latin typeface="Calibri" pitchFamily="34" charset="0"/>
                <a:ea typeface="Calibri" pitchFamily="34" charset="-122"/>
                <a:cs typeface="Calibri" pitchFamily="34" charset="-120"/>
              </a:rPr>
              <a:t>Tìm kiếm chính xác tiêu đề bài báo trên Google Scholar và DBLP Computer Science Bibliography để xác thực tác giả, hội thảo/tạp chí và năm xuất bản thực tế.</a:t>
            </a:r>
            <a:endParaRPr lang="en-US" sz="1100" dirty="0"/>
          </a:p>
        </p:txBody>
      </p:sp>
      <p:sp>
        <p:nvSpPr>
          <p:cNvPr id="19" name="Shape 17"/>
          <p:cNvSpPr/>
          <p:nvPr/>
        </p:nvSpPr>
        <p:spPr>
          <a:xfrm>
            <a:off x="731520" y="4739640"/>
            <a:ext cx="6583680" cy="746760"/>
          </a:xfrm>
          <a:prstGeom prst="roundRect">
            <a:avLst>
              <a:gd name="adj" fmla="val 12245"/>
            </a:avLst>
          </a:prstGeom>
          <a:solidFill>
            <a:srgbClr val="161F33"/>
          </a:solidFill>
          <a:ln w="12700">
            <a:solidFill>
              <a:srgbClr val="2A374F"/>
            </a:solidFill>
            <a:prstDash val="solid"/>
          </a:ln>
        </p:spPr>
      </p:sp>
      <p:sp>
        <p:nvSpPr>
          <p:cNvPr id="20" name="Text 18"/>
          <p:cNvSpPr/>
          <p:nvPr/>
        </p:nvSpPr>
        <p:spPr>
          <a:xfrm>
            <a:off x="914400" y="48127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Bước 3: Thẩm định trực tiếp văn bản gốc
</a:t>
            </a:r>
            <a:pPr indent="0" marL="0">
              <a:buNone/>
            </a:pPr>
            <a:r>
              <a:rPr lang="en-US" sz="1000" dirty="0">
                <a:solidFill>
                  <a:srgbClr val="FFFFFF"/>
                </a:solidFill>
                <a:latin typeface="Calibri" pitchFamily="34" charset="0"/>
                <a:ea typeface="Calibri" pitchFamily="34" charset="-122"/>
                <a:cs typeface="Calibri" pitchFamily="34" charset="-120"/>
              </a:rPr>
              <a:t>Nguyên tắc bất di bất dịch của người làm nghiên cứu: Chỉ đưa vào danh mục tài liệu tham khảo những công trình mà bản thân nhà nghiên cứu đã trực tiếp đọc và hiểu nội dung trong tệp PDF gốc.</a:t>
            </a:r>
            <a:endParaRPr lang="en-US" sz="1100" dirty="0"/>
          </a:p>
        </p:txBody>
      </p:sp>
      <p:sp>
        <p:nvSpPr>
          <p:cNvPr id="21" name="Shape 19"/>
          <p:cNvSpPr/>
          <p:nvPr/>
        </p:nvSpPr>
        <p:spPr>
          <a:xfrm>
            <a:off x="731520" y="5623560"/>
            <a:ext cx="6583680" cy="594360"/>
          </a:xfrm>
          <a:prstGeom prst="roundRect">
            <a:avLst>
              <a:gd name="adj" fmla="val 12308"/>
            </a:avLst>
          </a:prstGeom>
          <a:solidFill>
            <a:srgbClr val="111F38"/>
          </a:solidFill>
          <a:ln w="12700">
            <a:solidFill>
              <a:srgbClr val="38BDF8"/>
            </a:solidFill>
            <a:prstDash val="solid"/>
          </a:ln>
        </p:spPr>
      </p:sp>
      <p:sp>
        <p:nvSpPr>
          <p:cNvPr id="22" name="Text 20"/>
          <p:cNvSpPr/>
          <p:nvPr/>
        </p:nvSpPr>
        <p:spPr>
          <a:xfrm>
            <a:off x="868680" y="5623560"/>
            <a:ext cx="6309360" cy="594360"/>
          </a:xfrm>
          <a:prstGeom prst="rect">
            <a:avLst/>
          </a:prstGeom>
          <a:noFill/>
          <a:ln/>
        </p:spPr>
        <p:txBody>
          <a:bodyPr wrap="square" rtlCol="0" anchor="ctr"/>
          <a:lstStyle/>
          <a:p>
            <a:pPr indent="0" marL="0">
              <a:buNone/>
            </a:pPr>
            <a:r>
              <a:rPr lang="en-US" sz="950" i="1" dirty="0">
                <a:solidFill>
                  <a:srgbClr val="38BDF8"/>
                </a:solidFill>
                <a:latin typeface="Calibri" pitchFamily="34" charset="0"/>
                <a:ea typeface="Calibri" pitchFamily="34" charset="-122"/>
                <a:cs typeface="Calibri" pitchFamily="34" charset="-120"/>
              </a:rPr>
              <a:t>💡 Điểm cốt lõi: Tại Học viện Kỹ thuật Mật mã: Hành vi trích dẫn tài liệu ngụy tạo do AI sinh ra bị xếp vào nhóm vi phạm liêm chính học thuật nghiêm trọng, tương đương với hành vi làm giả số liệu thực nghiệm.</a:t>
            </a:r>
            <a:endParaRPr lang="en-US" sz="950" dirty="0"/>
          </a:p>
        </p:txBody>
      </p:sp>
      <p:pic>
        <p:nvPicPr>
          <p:cNvPr id="23" name="Image 0" descr="D:\Linh tinh\web_thay_thuan\assets\images\slide-31-literature-review.jpg">    </p:cNvPr>
          <p:cNvPicPr>
            <a:picLocks noChangeAspect="1"/>
          </p:cNvPicPr>
          <p:nvPr/>
        </p:nvPicPr>
        <p:blipFill>
          <a:blip r:embed="rId1"/>
          <a:srcRect l="0" r="0" t="0" b="0"/>
          <a:stretch/>
        </p:blipFill>
        <p:spPr>
          <a:xfrm>
            <a:off x="7589520" y="1737360"/>
            <a:ext cx="3840480" cy="4389120"/>
          </a:xfrm>
          <a:prstGeom prst="rect">
            <a:avLst/>
          </a:prstGeom>
        </p:spPr>
      </p:pic>
      <p:sp>
        <p:nvSpPr>
          <p:cNvPr id="24" name="Text 21"/>
          <p:cNvSpPr/>
          <p:nvPr/>
        </p:nvSpPr>
        <p:spPr>
          <a:xfrm>
            <a:off x="7589520" y="5897880"/>
            <a:ext cx="3840480" cy="320040"/>
          </a:xfrm>
          <a:prstGeom prst="rect">
            <a:avLst/>
          </a:prstGeom>
          <a:noFill/>
          <a:ln/>
        </p:spPr>
        <p:txBody>
          <a:bodyPr wrap="square"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Quy trình xác thực mã số định danh DOI quốc tế</a:t>
            </a:r>
            <a:endParaRPr lang="en-US" sz="800" dirty="0"/>
          </a:p>
        </p:txBody>
      </p:sp>
      <p:sp>
        <p:nvSpPr>
          <p:cNvPr id="25" name="Shape 22"/>
          <p:cNvSpPr/>
          <p:nvPr/>
        </p:nvSpPr>
        <p:spPr>
          <a:xfrm>
            <a:off x="731520" y="6400800"/>
            <a:ext cx="10698480" cy="0"/>
          </a:xfrm>
          <a:prstGeom prst="line">
            <a:avLst/>
          </a:prstGeom>
          <a:noFill/>
          <a:ln w="12700">
            <a:solidFill>
              <a:srgbClr val="2A374F"/>
            </a:solidFill>
            <a:prstDash val="solid"/>
          </a:ln>
        </p:spPr>
      </p:sp>
      <p:sp>
        <p:nvSpPr>
          <p:cNvPr id="26" name="Text 23"/>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27" name="Text 24"/>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28" name="Text 2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31 / 50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32 • Chương 3: AI Trong Nghiên Cứu Khoa Học</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Phân Tích Thực Nghiệm: Tự Động Hóa Xử Lý &amp; Trực Quan Hóa Dữ Liệu</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Ứng dụng AI xây dựng mã nguồn Python (Matplotlib, Seaborn) xuất bản đồ thị véc-tơ chuẩn 300 DPI</a:t>
            </a:r>
            <a:endParaRPr lang="en-US" sz="1150" dirty="0"/>
          </a:p>
        </p:txBody>
      </p:sp>
      <p:sp>
        <p:nvSpPr>
          <p:cNvPr id="6" name="Shape 4"/>
          <p:cNvSpPr/>
          <p:nvPr/>
        </p:nvSpPr>
        <p:spPr>
          <a:xfrm>
            <a:off x="731520" y="1828800"/>
            <a:ext cx="6217920" cy="4206240"/>
          </a:xfrm>
          <a:prstGeom prst="roundRect">
            <a:avLst>
              <a:gd name="adj" fmla="val 2174"/>
            </a:avLst>
          </a:prstGeom>
          <a:solidFill>
            <a:srgbClr val="050A14"/>
          </a:solidFill>
          <a:ln w="12700">
            <a:solidFill>
              <a:srgbClr val="1E3A5F"/>
            </a:solidFill>
            <a:prstDash val="solid"/>
          </a:ln>
        </p:spPr>
      </p:sp>
      <p:sp>
        <p:nvSpPr>
          <p:cNvPr id="7" name="Text 5"/>
          <p:cNvSpPr/>
          <p:nvPr/>
        </p:nvSpPr>
        <p:spPr>
          <a:xfrm>
            <a:off x="914400" y="1965960"/>
            <a:ext cx="5852160" cy="320040"/>
          </a:xfrm>
          <a:prstGeom prst="rect">
            <a:avLst/>
          </a:prstGeom>
          <a:noFill/>
          <a:ln/>
        </p:spPr>
        <p:txBody>
          <a:bodyPr wrap="square" rtlCol="0" anchor="ctr"/>
          <a:lstStyle/>
          <a:p>
            <a:pPr indent="0" marL="0">
              <a:buNone/>
            </a:pPr>
            <a:r>
              <a:rPr lang="en-US" sz="950" b="1" dirty="0">
                <a:solidFill>
                  <a:srgbClr val="38BDF8"/>
                </a:solidFill>
                <a:latin typeface="Courier New" pitchFamily="34" charset="0"/>
                <a:ea typeface="Courier New" pitchFamily="34" charset="-122"/>
                <a:cs typeface="Courier New" pitchFamily="34" charset="-120"/>
              </a:rPr>
              <a:t>💻 Mã nguồn minh họa (C++):</a:t>
            </a:r>
            <a:endParaRPr lang="en-US" sz="950" dirty="0"/>
          </a:p>
        </p:txBody>
      </p:sp>
      <p:sp>
        <p:nvSpPr>
          <p:cNvPr id="8" name="Text 6"/>
          <p:cNvSpPr/>
          <p:nvPr/>
        </p:nvSpPr>
        <p:spPr>
          <a:xfrm>
            <a:off x="914400" y="2331720"/>
            <a:ext cx="5852160" cy="3474720"/>
          </a:xfrm>
          <a:prstGeom prst="rect">
            <a:avLst/>
          </a:prstGeom>
          <a:noFill/>
          <a:ln/>
        </p:spPr>
        <p:txBody>
          <a:bodyPr wrap="square" rtlCol="0" anchor="ctr"/>
          <a:lstStyle/>
          <a:p>
            <a:pPr indent="0" marL="0">
              <a:buNone/>
            </a:pPr>
            <a:r>
              <a:rPr lang="en-US" sz="900" dirty="0">
                <a:solidFill>
                  <a:srgbClr val="A7F3D0"/>
                </a:solidFill>
                <a:latin typeface="Courier New" pitchFamily="34" charset="0"/>
                <a:ea typeface="Courier New" pitchFamily="34" charset="-122"/>
                <a:cs typeface="Courier New" pitchFamily="34" charset="-120"/>
              </a:rPr>
              <a:t>// Demo code</a:t>
            </a:r>
            <a:endParaRPr lang="en-US" sz="900" dirty="0"/>
          </a:p>
          <a:p>
            <a:pPr indent="0" marL="0">
              <a:buNone/>
            </a:pPr>
            <a:r>
              <a:rPr lang="en-US" sz="900" dirty="0">
                <a:solidFill>
                  <a:srgbClr val="A7F3D0"/>
                </a:solidFill>
                <a:latin typeface="Courier New" pitchFamily="34" charset="0"/>
                <a:ea typeface="Courier New" pitchFamily="34" charset="-122"/>
                <a:cs typeface="Courier New" pitchFamily="34" charset="-120"/>
              </a:rPr>
              <a:t>int main() { return 0; }</a:t>
            </a:r>
            <a:endParaRPr lang="en-US" sz="900" dirty="0"/>
          </a:p>
        </p:txBody>
      </p:sp>
      <p:sp>
        <p:nvSpPr>
          <p:cNvPr id="9" name="Shape 7"/>
          <p:cNvSpPr/>
          <p:nvPr/>
        </p:nvSpPr>
        <p:spPr>
          <a:xfrm>
            <a:off x="7132320" y="1828800"/>
            <a:ext cx="4297680" cy="4206240"/>
          </a:xfrm>
          <a:prstGeom prst="roundRect">
            <a:avLst>
              <a:gd name="adj" fmla="val 2174"/>
            </a:avLst>
          </a:prstGeom>
          <a:solidFill>
            <a:srgbClr val="161F33"/>
          </a:solidFill>
          <a:ln w="12700">
            <a:solidFill>
              <a:srgbClr val="2A374F"/>
            </a:solidFill>
            <a:prstDash val="solid"/>
          </a:ln>
        </p:spPr>
      </p:sp>
      <p:sp>
        <p:nvSpPr>
          <p:cNvPr id="10" name="Text 8"/>
          <p:cNvSpPr/>
          <p:nvPr/>
        </p:nvSpPr>
        <p:spPr>
          <a:xfrm>
            <a:off x="7315200" y="2011680"/>
            <a:ext cx="3931920" cy="320040"/>
          </a:xfrm>
          <a:prstGeom prst="rect">
            <a:avLst/>
          </a:prstGeom>
          <a:noFill/>
          <a:ln/>
        </p:spPr>
        <p:txBody>
          <a:bodyPr wrap="square" rtlCol="0" anchor="ctr"/>
          <a:lstStyle/>
          <a:p>
            <a:pPr indent="0" marL="0">
              <a:buNone/>
            </a:pPr>
            <a:r>
              <a:rPr lang="en-US" sz="1100" b="1" dirty="0">
                <a:solidFill>
                  <a:srgbClr val="F59E0B"/>
                </a:solidFill>
                <a:latin typeface="Arial" pitchFamily="34" charset="0"/>
                <a:ea typeface="Arial" pitchFamily="34" charset="-122"/>
                <a:cs typeface="Arial" pitchFamily="34" charset="-120"/>
              </a:rPr>
              <a:t>PHÂN TÍCH THUẬT TOÁN</a:t>
            </a:r>
            <a:endParaRPr lang="en-US" sz="1100" dirty="0"/>
          </a:p>
        </p:txBody>
      </p:sp>
      <p:sp>
        <p:nvSpPr>
          <p:cNvPr id="11" name="Text 9"/>
          <p:cNvSpPr/>
          <p:nvPr/>
        </p:nvSpPr>
        <p:spPr>
          <a:xfrm>
            <a:off x="7315200" y="2423160"/>
            <a:ext cx="3931920" cy="3383280"/>
          </a:xfrm>
          <a:prstGeom prst="rect">
            <a:avLst/>
          </a:prstGeom>
          <a:noFill/>
          <a:ln/>
        </p:spPr>
        <p:txBody>
          <a:bodyPr wrap="square" rtlCol="0" anchor="ctr"/>
          <a:lstStyle/>
          <a:p>
            <a:pPr indent="0" marL="0">
              <a:buNone/>
            </a:pPr>
            <a:r>
              <a:rPr lang="en-US" sz="1000" b="1" dirty="0">
                <a:solidFill>
                  <a:srgbClr val="38BDF8"/>
                </a:solidFill>
                <a:latin typeface="Calibri" pitchFamily="34" charset="0"/>
                <a:ea typeface="Calibri" pitchFamily="34" charset="-122"/>
                <a:cs typeface="Calibri" pitchFamily="34" charset="-120"/>
              </a:rPr>
              <a:t>Nguyên lý hoạt động:
</a:t>
            </a:r>
            <a:pPr indent="0" marL="0">
              <a:buNone/>
            </a:pPr>
            <a:r>
              <a:rPr lang="en-US" sz="950" dirty="0">
                <a:solidFill>
                  <a:srgbClr val="FFFFFF"/>
                </a:solidFill>
                <a:latin typeface="Calibri" pitchFamily="34" charset="0"/>
                <a:ea typeface="Calibri" pitchFamily="34" charset="-122"/>
                <a:cs typeface="Calibri" pitchFamily="34" charset="-120"/>
              </a:rPr>
              <a:t>
</a:t>
            </a:r>
            <a:pPr indent="0" marL="0">
              <a:buNone/>
            </a:pPr>
            <a:r>
              <a:rPr lang="en-US" sz="1000" b="1" dirty="0">
                <a:solidFill>
                  <a:srgbClr val="10B981"/>
                </a:solidFill>
                <a:latin typeface="Calibri" pitchFamily="34" charset="0"/>
                <a:ea typeface="Calibri" pitchFamily="34" charset="-122"/>
                <a:cs typeface="Calibri" pitchFamily="34" charset="-120"/>
              </a:rPr>
              <a:t>Kết quả thực nghiệm:
</a:t>
            </a:r>
            <a:pPr indent="0" marL="0">
              <a:buNone/>
            </a:pPr>
            <a:r>
              <a:rPr lang="en-US" sz="900" dirty="0">
                <a:solidFill>
                  <a:srgbClr val="94A3B8"/>
                </a:solidFill>
                <a:latin typeface="Calibri" pitchFamily="34" charset="0"/>
                <a:ea typeface="Calibri" pitchFamily="34" charset="-122"/>
                <a:cs typeface="Calibri" pitchFamily="34" charset="-120"/>
              </a:rPr>
              <a:t>
</a:t>
            </a:r>
            <a:pPr indent="0" marL="0">
              <a:buNone/>
            </a:pPr>
            <a:r>
              <a:rPr lang="en-US" sz="1000" b="1" dirty="0">
                <a:solidFill>
                  <a:srgbClr val="F59E0B"/>
                </a:solidFill>
                <a:latin typeface="Calibri" pitchFamily="34" charset="0"/>
                <a:ea typeface="Calibri" pitchFamily="34" charset="-122"/>
                <a:cs typeface="Calibri" pitchFamily="34" charset="-120"/>
              </a:rPr>
              <a:t>Lưu ý cho lập trình viên:
</a:t>
            </a:r>
            <a:pPr indent="0" marL="0">
              <a:buNone/>
            </a:pPr>
            <a:endParaRPr lang="en-US" sz="1000" dirty="0"/>
          </a:p>
        </p:txBody>
      </p:sp>
      <p:sp>
        <p:nvSpPr>
          <p:cNvPr id="12" name="Shape 10"/>
          <p:cNvSpPr/>
          <p:nvPr/>
        </p:nvSpPr>
        <p:spPr>
          <a:xfrm>
            <a:off x="731520" y="6400800"/>
            <a:ext cx="10698480" cy="0"/>
          </a:xfrm>
          <a:prstGeom prst="line">
            <a:avLst/>
          </a:prstGeom>
          <a:noFill/>
          <a:ln w="12700">
            <a:solidFill>
              <a:srgbClr val="2A374F"/>
            </a:solidFill>
            <a:prstDash val="solid"/>
          </a:ln>
        </p:spPr>
      </p:sp>
      <p:sp>
        <p:nvSpPr>
          <p:cNvPr id="13" name="Text 11"/>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4" name="Text 12"/>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5" name="Text 13"/>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32 / 50</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33 • Chương 3: AI Trong Nghiên Cứu Khoa Học</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Soạn Thảo Văn Bản Khoa Học Chuẩn Mực Với LaTeX &amp; Overleaf</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Ứng dụng AI trong việc sinh công thức toán học, bảng biểu phức tạp và quản lý tệp trích dẫn BibTeX</a:t>
            </a:r>
            <a:endParaRPr lang="en-US" sz="1150" dirty="0"/>
          </a:p>
        </p:txBody>
      </p:sp>
      <p:sp>
        <p:nvSpPr>
          <p:cNvPr id="6" name="Shape 4"/>
          <p:cNvSpPr/>
          <p:nvPr/>
        </p:nvSpPr>
        <p:spPr>
          <a:xfrm>
            <a:off x="731520" y="1828800"/>
            <a:ext cx="6583680" cy="1097280"/>
          </a:xfrm>
          <a:prstGeom prst="roundRect">
            <a:avLst>
              <a:gd name="adj" fmla="val 8333"/>
            </a:avLst>
          </a:prstGeom>
          <a:solidFill>
            <a:srgbClr val="161F33"/>
          </a:solidFill>
          <a:ln w="12700">
            <a:solidFill>
              <a:srgbClr val="2A374F"/>
            </a:solidFill>
            <a:prstDash val="solid"/>
          </a:ln>
        </p:spPr>
      </p:sp>
      <p:sp>
        <p:nvSpPr>
          <p:cNvPr id="7" name="Text 5"/>
          <p:cNvSpPr/>
          <p:nvPr/>
        </p:nvSpPr>
        <p:spPr>
          <a:xfrm>
            <a:off x="914400" y="190195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Tự động hóa chuyển đổi ký hiệu toán học sang mã LaTeX
</a:t>
            </a:r>
            <a:pPr indent="0" marL="0">
              <a:buNone/>
            </a:pPr>
            <a:r>
              <a:rPr lang="en-US" sz="1000" dirty="0">
                <a:solidFill>
                  <a:srgbClr val="FFFFFF"/>
                </a:solidFill>
                <a:latin typeface="Calibri" pitchFamily="34" charset="0"/>
                <a:ea typeface="Calibri" pitchFamily="34" charset="-122"/>
                <a:cs typeface="Calibri" pitchFamily="34" charset="-120"/>
              </a:rPr>
              <a:t>Cung cấp công thức hoặc ảnh chụp phương trình: AI hỗ trợ sinh mã nguồn môi trường `equation` hoặc `align` chính xác theo chuẩn cú pháp AMS-LaTeX.</a:t>
            </a:r>
            <a:endParaRPr lang="en-US" sz="1100" dirty="0"/>
          </a:p>
        </p:txBody>
      </p:sp>
      <p:sp>
        <p:nvSpPr>
          <p:cNvPr id="8" name="Shape 6"/>
          <p:cNvSpPr/>
          <p:nvPr/>
        </p:nvSpPr>
        <p:spPr>
          <a:xfrm>
            <a:off x="731520" y="3017520"/>
            <a:ext cx="6583680" cy="1097280"/>
          </a:xfrm>
          <a:prstGeom prst="roundRect">
            <a:avLst>
              <a:gd name="adj" fmla="val 8333"/>
            </a:avLst>
          </a:prstGeom>
          <a:solidFill>
            <a:srgbClr val="161F33"/>
          </a:solidFill>
          <a:ln w="12700">
            <a:solidFill>
              <a:srgbClr val="2A374F"/>
            </a:solidFill>
            <a:prstDash val="solid"/>
          </a:ln>
        </p:spPr>
      </p:sp>
      <p:sp>
        <p:nvSpPr>
          <p:cNvPr id="9" name="Text 7"/>
          <p:cNvSpPr/>
          <p:nvPr/>
        </p:nvSpPr>
        <p:spPr>
          <a:xfrm>
            <a:off x="914400" y="309067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Sinh mã bảng biểu phức tạp theo chuẩn IEEE Conference
</a:t>
            </a:r>
            <a:pPr indent="0" marL="0">
              <a:buNone/>
            </a:pPr>
            <a:r>
              <a:rPr lang="en-US" sz="1000" dirty="0">
                <a:solidFill>
                  <a:srgbClr val="FFFFFF"/>
                </a:solidFill>
                <a:latin typeface="Calibri" pitchFamily="34" charset="0"/>
                <a:ea typeface="Calibri" pitchFamily="34" charset="-122"/>
                <a:cs typeface="Calibri" pitchFamily="34" charset="-120"/>
              </a:rPr>
              <a:t>Cung cấp dữ liệu thô: AI sinh mã `tabular` với đầy đủ nhãn (label), chú thích (caption) và căn chỉnh độ rộng cột chuẩn mực.</a:t>
            </a:r>
            <a:endParaRPr lang="en-US" sz="1100" dirty="0"/>
          </a:p>
        </p:txBody>
      </p:sp>
      <p:sp>
        <p:nvSpPr>
          <p:cNvPr id="10" name="Shape 8"/>
          <p:cNvSpPr/>
          <p:nvPr/>
        </p:nvSpPr>
        <p:spPr>
          <a:xfrm>
            <a:off x="731520" y="4251960"/>
            <a:ext cx="6583680" cy="594360"/>
          </a:xfrm>
          <a:prstGeom prst="roundRect">
            <a:avLst>
              <a:gd name="adj" fmla="val 12308"/>
            </a:avLst>
          </a:prstGeom>
          <a:solidFill>
            <a:srgbClr val="111F38"/>
          </a:solidFill>
          <a:ln w="12700">
            <a:solidFill>
              <a:srgbClr val="38BDF8"/>
            </a:solidFill>
            <a:prstDash val="solid"/>
          </a:ln>
        </p:spPr>
      </p:sp>
      <p:sp>
        <p:nvSpPr>
          <p:cNvPr id="11" name="Text 9"/>
          <p:cNvSpPr/>
          <p:nvPr/>
        </p:nvSpPr>
        <p:spPr>
          <a:xfrm>
            <a:off x="868680" y="4251960"/>
            <a:ext cx="6309360" cy="594360"/>
          </a:xfrm>
          <a:prstGeom prst="rect">
            <a:avLst/>
          </a:prstGeom>
          <a:noFill/>
          <a:ln/>
        </p:spPr>
        <p:txBody>
          <a:bodyPr wrap="square" rtlCol="0" anchor="ctr"/>
          <a:lstStyle/>
          <a:p>
            <a:pPr indent="0" marL="0">
              <a:buNone/>
            </a:pPr>
            <a:r>
              <a:rPr lang="en-US" sz="950" i="1" dirty="0">
                <a:solidFill>
                  <a:srgbClr val="38BDF8"/>
                </a:solidFill>
                <a:latin typeface="Calibri" pitchFamily="34" charset="0"/>
                <a:ea typeface="Calibri" pitchFamily="34" charset="-122"/>
                <a:cs typeface="Calibri" pitchFamily="34" charset="-120"/>
              </a:rPr>
              <a:t>💡 Điểm cốt lõi: LaTeX là ngôn ngữ soạn thảo tiêu chuẩn quốc tế bắt buộc của cộng đồng khoa học máy tính (IEEE, ACM, Springer). Làm chủ LaTeX kết hợp AI là kỹ năng cốt lõi của người làm nghiên cứu.</a:t>
            </a:r>
            <a:endParaRPr lang="en-US" sz="950" dirty="0"/>
          </a:p>
        </p:txBody>
      </p:sp>
      <p:pic>
        <p:nvPicPr>
          <p:cNvPr id="12" name="Image 0" descr="D:\Linh tinh\web_thay_thuan\assets\images\slide-33-case-study.jpg">    </p:cNvPr>
          <p:cNvPicPr>
            <a:picLocks noChangeAspect="1"/>
          </p:cNvPicPr>
          <p:nvPr/>
        </p:nvPicPr>
        <p:blipFill>
          <a:blip r:embed="rId1"/>
          <a:srcRect l="0" r="0" t="0" b="0"/>
          <a:stretch/>
        </p:blipFill>
        <p:spPr>
          <a:xfrm>
            <a:off x="7589520" y="1737360"/>
            <a:ext cx="3840480" cy="4389120"/>
          </a:xfrm>
          <a:prstGeom prst="rect">
            <a:avLst/>
          </a:prstGeom>
        </p:spPr>
      </p:pic>
      <p:sp>
        <p:nvSpPr>
          <p:cNvPr id="13" name="Text 10"/>
          <p:cNvSpPr/>
          <p:nvPr/>
        </p:nvSpPr>
        <p:spPr>
          <a:xfrm>
            <a:off x="7589520" y="5897880"/>
            <a:ext cx="3840480" cy="320040"/>
          </a:xfrm>
          <a:prstGeom prst="rect">
            <a:avLst/>
          </a:prstGeom>
          <a:noFill/>
          <a:ln/>
        </p:spPr>
        <p:txBody>
          <a:bodyPr wrap="square"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Soạn thảo bài báo khoa học chuẩn mực với LaTeX và Overleaf</a:t>
            </a:r>
            <a:endParaRPr lang="en-US" sz="800" dirty="0"/>
          </a:p>
        </p:txBody>
      </p:sp>
      <p:sp>
        <p:nvSpPr>
          <p:cNvPr id="14" name="Shape 11"/>
          <p:cNvSpPr/>
          <p:nvPr/>
        </p:nvSpPr>
        <p:spPr>
          <a:xfrm>
            <a:off x="731520" y="6400800"/>
            <a:ext cx="10698480" cy="0"/>
          </a:xfrm>
          <a:prstGeom prst="line">
            <a:avLst/>
          </a:prstGeom>
          <a:noFill/>
          <a:ln w="12700">
            <a:solidFill>
              <a:srgbClr val="2A374F"/>
            </a:solidFill>
            <a:prstDash val="solid"/>
          </a:ln>
        </p:spPr>
      </p:sp>
      <p:sp>
        <p:nvSpPr>
          <p:cNvPr id="15" name="Text 12"/>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6" name="Text 13"/>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7" name="Text 14"/>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33 / 50</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34 • Chương 3: AI Trong Nghiên Cứu Khoa Học</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Chuẩn Hóa Văn Phong Học Thuật: Ngôn Ngữ Giao Tiếp vs IEEE Tone</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Chuyển hóa câu cú tiếng Anh thông thường sang văn phong khoa học khách quan, trang trọng và chính xác</a:t>
            </a:r>
            <a:endParaRPr lang="en-US" sz="1150" dirty="0"/>
          </a:p>
        </p:txBody>
      </p:sp>
      <p:sp>
        <p:nvSpPr>
          <p:cNvPr id="6" name="Shape 4"/>
          <p:cNvSpPr/>
          <p:nvPr/>
        </p:nvSpPr>
        <p:spPr>
          <a:xfrm>
            <a:off x="731520" y="1828800"/>
            <a:ext cx="5212080" cy="4206240"/>
          </a:xfrm>
          <a:prstGeom prst="roundRect">
            <a:avLst>
              <a:gd name="adj" fmla="val 2609"/>
            </a:avLst>
          </a:prstGeom>
          <a:solidFill>
            <a:srgbClr val="1C1622"/>
          </a:solidFill>
          <a:ln w="12700">
            <a:solidFill>
              <a:srgbClr val="4B2635"/>
            </a:solidFill>
            <a:prstDash val="solid"/>
          </a:ln>
        </p:spPr>
      </p:sp>
      <p:sp>
        <p:nvSpPr>
          <p:cNvPr id="7" name="Text 5"/>
          <p:cNvSpPr/>
          <p:nvPr/>
        </p:nvSpPr>
        <p:spPr>
          <a:xfrm>
            <a:off x="914400" y="2011680"/>
            <a:ext cx="4846320" cy="457200"/>
          </a:xfrm>
          <a:prstGeom prst="rect">
            <a:avLst/>
          </a:prstGeom>
          <a:noFill/>
          <a:ln/>
        </p:spPr>
        <p:txBody>
          <a:bodyPr wrap="square" rtlCol="0" anchor="ctr"/>
          <a:lstStyle/>
          <a:p>
            <a:pPr indent="0" marL="0">
              <a:buNone/>
            </a:pPr>
            <a:r>
              <a:rPr lang="en-US" sz="1400" b="1" dirty="0">
                <a:solidFill>
                  <a:srgbClr val="F43F5E"/>
                </a:solidFill>
                <a:latin typeface="Arial" pitchFamily="34" charset="0"/>
                <a:ea typeface="Arial" pitchFamily="34" charset="-122"/>
                <a:cs typeface="Arial" pitchFamily="34" charset="-120"/>
              </a:rPr>
              <a:t>Truyền Thống</a:t>
            </a:r>
            <a:endParaRPr lang="en-US" sz="1400" dirty="0"/>
          </a:p>
        </p:txBody>
      </p:sp>
      <p:sp>
        <p:nvSpPr>
          <p:cNvPr id="8" name="Text 6"/>
          <p:cNvSpPr/>
          <p:nvPr/>
        </p:nvSpPr>
        <p:spPr>
          <a:xfrm>
            <a:off x="914400" y="2560320"/>
            <a:ext cx="4846320" cy="3200400"/>
          </a:xfrm>
          <a:prstGeom prst="rect">
            <a:avLst/>
          </a:prstGeom>
          <a:noFill/>
          <a:ln/>
        </p:spPr>
        <p:txBody>
          <a:bodyPr wrap="square" rtlCol="0" anchor="ctr"/>
          <a:lstStyle/>
          <a:p>
            <a:pPr indent="0" marL="0">
              <a:buNone/>
            </a:pPr>
            <a:endParaRPr lang="en-US" sz="1050" dirty="0"/>
          </a:p>
        </p:txBody>
      </p:sp>
      <p:sp>
        <p:nvSpPr>
          <p:cNvPr id="9" name="Shape 7"/>
          <p:cNvSpPr/>
          <p:nvPr/>
        </p:nvSpPr>
        <p:spPr>
          <a:xfrm>
            <a:off x="6217920" y="1828800"/>
            <a:ext cx="5212080" cy="4206240"/>
          </a:xfrm>
          <a:prstGeom prst="roundRect">
            <a:avLst>
              <a:gd name="adj" fmla="val 2609"/>
            </a:avLst>
          </a:prstGeom>
          <a:solidFill>
            <a:srgbClr val="122624"/>
          </a:solidFill>
          <a:ln w="12700">
            <a:solidFill>
              <a:srgbClr val="1C4C42"/>
            </a:solidFill>
            <a:prstDash val="solid"/>
          </a:ln>
        </p:spPr>
      </p:sp>
      <p:sp>
        <p:nvSpPr>
          <p:cNvPr id="10" name="Text 8"/>
          <p:cNvSpPr/>
          <p:nvPr/>
        </p:nvSpPr>
        <p:spPr>
          <a:xfrm>
            <a:off x="6400800" y="2011680"/>
            <a:ext cx="4846320" cy="457200"/>
          </a:xfrm>
          <a:prstGeom prst="rect">
            <a:avLst/>
          </a:prstGeom>
          <a:noFill/>
          <a:ln/>
        </p:spPr>
        <p:txBody>
          <a:bodyPr wrap="square" rtlCol="0" anchor="ctr"/>
          <a:lstStyle/>
          <a:p>
            <a:pPr indent="0" marL="0">
              <a:buNone/>
            </a:pPr>
            <a:r>
              <a:rPr lang="en-US" sz="1400" b="1" dirty="0">
                <a:solidFill>
                  <a:srgbClr val="10B981"/>
                </a:solidFill>
                <a:latin typeface="Arial" pitchFamily="34" charset="0"/>
                <a:ea typeface="Arial" pitchFamily="34" charset="-122"/>
                <a:cs typeface="Arial" pitchFamily="34" charset="-120"/>
              </a:rPr>
              <a:t>Ứng Dụng AI</a:t>
            </a:r>
            <a:endParaRPr lang="en-US" sz="1400" dirty="0"/>
          </a:p>
        </p:txBody>
      </p:sp>
      <p:sp>
        <p:nvSpPr>
          <p:cNvPr id="11" name="Text 9"/>
          <p:cNvSpPr/>
          <p:nvPr/>
        </p:nvSpPr>
        <p:spPr>
          <a:xfrm>
            <a:off x="6400800" y="2560320"/>
            <a:ext cx="4846320" cy="3200400"/>
          </a:xfrm>
          <a:prstGeom prst="rect">
            <a:avLst/>
          </a:prstGeom>
          <a:noFill/>
          <a:ln/>
        </p:spPr>
        <p:txBody>
          <a:bodyPr wrap="square" rtlCol="0" anchor="ctr"/>
          <a:lstStyle/>
          <a:p>
            <a:pPr indent="0" marL="0">
              <a:buNone/>
            </a:pPr>
            <a:endParaRPr lang="en-US" sz="1050" dirty="0"/>
          </a:p>
        </p:txBody>
      </p:sp>
      <p:sp>
        <p:nvSpPr>
          <p:cNvPr id="12" name="Shape 10"/>
          <p:cNvSpPr/>
          <p:nvPr/>
        </p:nvSpPr>
        <p:spPr>
          <a:xfrm>
            <a:off x="731520" y="6400800"/>
            <a:ext cx="10698480" cy="0"/>
          </a:xfrm>
          <a:prstGeom prst="line">
            <a:avLst/>
          </a:prstGeom>
          <a:noFill/>
          <a:ln w="12700">
            <a:solidFill>
              <a:srgbClr val="2A374F"/>
            </a:solidFill>
            <a:prstDash val="solid"/>
          </a:ln>
        </p:spPr>
      </p:sp>
      <p:sp>
        <p:nvSpPr>
          <p:cNvPr id="13" name="Text 11"/>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4" name="Text 12"/>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5" name="Text 13"/>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34 / 50</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35 • Chương 3: AI Trong Nghiên Cứu Khoa Học</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Khủng Hoảng Tái Lập (Reproducibility Crisis) &amp; Phân Tích Mã Nguồn</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Ứng dụng AI trong việc phân tích mã nguồn thí nghiệm trên GitHub và thiết lập môi trường kiểm chứng độc lập</a:t>
            </a:r>
            <a:endParaRPr lang="en-US" sz="1150" dirty="0"/>
          </a:p>
        </p:txBody>
      </p:sp>
      <p:sp>
        <p:nvSpPr>
          <p:cNvPr id="6" name="Shape 4"/>
          <p:cNvSpPr/>
          <p:nvPr/>
        </p:nvSpPr>
        <p:spPr>
          <a:xfrm>
            <a:off x="731520" y="1828800"/>
            <a:ext cx="6583680" cy="1097280"/>
          </a:xfrm>
          <a:prstGeom prst="roundRect">
            <a:avLst>
              <a:gd name="adj" fmla="val 8333"/>
            </a:avLst>
          </a:prstGeom>
          <a:solidFill>
            <a:srgbClr val="161F33"/>
          </a:solidFill>
          <a:ln w="12700">
            <a:solidFill>
              <a:srgbClr val="2A374F"/>
            </a:solidFill>
            <a:prstDash val="solid"/>
          </a:ln>
        </p:spPr>
      </p:sp>
      <p:sp>
        <p:nvSpPr>
          <p:cNvPr id="7" name="Text 5"/>
          <p:cNvSpPr/>
          <p:nvPr/>
        </p:nvSpPr>
        <p:spPr>
          <a:xfrm>
            <a:off x="914400" y="190195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Thực trạng khủng hoảng tái lập trong Khoa học máy tính
</a:t>
            </a:r>
            <a:pPr indent="0" marL="0">
              <a:buNone/>
            </a:pPr>
            <a:r>
              <a:rPr lang="en-US" sz="1000" dirty="0">
                <a:solidFill>
                  <a:srgbClr val="FFFFFF"/>
                </a:solidFill>
                <a:latin typeface="Calibri" pitchFamily="34" charset="0"/>
                <a:ea typeface="Calibri" pitchFamily="34" charset="-122"/>
                <a:cs typeface="Calibri" pitchFamily="34" charset="-120"/>
              </a:rPr>
              <a:t>Nhiều công trình công bố kết quả đo kiểm rất cao, nhưng mã nguồn thực tế thiếu tệp cấu hình môi trường, phụ thuộc phiên bản thư viện cũ hoặc dữ liệu thử nghiệm bị rò rỉ (Data Leakage).</a:t>
            </a:r>
            <a:endParaRPr lang="en-US" sz="1100" dirty="0"/>
          </a:p>
        </p:txBody>
      </p:sp>
      <p:sp>
        <p:nvSpPr>
          <p:cNvPr id="8" name="Shape 6"/>
          <p:cNvSpPr/>
          <p:nvPr/>
        </p:nvSpPr>
        <p:spPr>
          <a:xfrm>
            <a:off x="731520" y="3017520"/>
            <a:ext cx="6583680" cy="1097280"/>
          </a:xfrm>
          <a:prstGeom prst="roundRect">
            <a:avLst>
              <a:gd name="adj" fmla="val 8333"/>
            </a:avLst>
          </a:prstGeom>
          <a:solidFill>
            <a:srgbClr val="161F33"/>
          </a:solidFill>
          <a:ln w="12700">
            <a:solidFill>
              <a:srgbClr val="2A374F"/>
            </a:solidFill>
            <a:prstDash val="solid"/>
          </a:ln>
        </p:spPr>
      </p:sp>
      <p:sp>
        <p:nvSpPr>
          <p:cNvPr id="9" name="Text 7"/>
          <p:cNvSpPr/>
          <p:nvPr/>
        </p:nvSpPr>
        <p:spPr>
          <a:xfrm>
            <a:off x="914400" y="309067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Sử dụng AI phân tích tệp Dockerfile và cây phụ thuộc
</a:t>
            </a:r>
            <a:pPr indent="0" marL="0">
              <a:buNone/>
            </a:pPr>
            <a:r>
              <a:rPr lang="en-US" sz="1000" dirty="0">
                <a:solidFill>
                  <a:srgbClr val="FFFFFF"/>
                </a:solidFill>
                <a:latin typeface="Calibri" pitchFamily="34" charset="0"/>
                <a:ea typeface="Calibri" pitchFamily="34" charset="-122"/>
                <a:cs typeface="Calibri" pitchFamily="34" charset="-120"/>
              </a:rPr>
              <a:t>Truy vấn: "Phân tích tệp requirements.txt và mã nguồn này: Xác định các phiên bản thư viện xung đột tiềm ẩn và sinh tệp Dockerfile chuẩn hóa để đóng gói môi trường thực nghiệm độc lập."</a:t>
            </a:r>
            <a:endParaRPr lang="en-US" sz="1100" dirty="0"/>
          </a:p>
        </p:txBody>
      </p:sp>
      <p:sp>
        <p:nvSpPr>
          <p:cNvPr id="10" name="Shape 8"/>
          <p:cNvSpPr/>
          <p:nvPr/>
        </p:nvSpPr>
        <p:spPr>
          <a:xfrm>
            <a:off x="731520" y="4206240"/>
            <a:ext cx="6583680" cy="1097280"/>
          </a:xfrm>
          <a:prstGeom prst="roundRect">
            <a:avLst>
              <a:gd name="adj" fmla="val 8333"/>
            </a:avLst>
          </a:prstGeom>
          <a:solidFill>
            <a:srgbClr val="161F33"/>
          </a:solidFill>
          <a:ln w="12700">
            <a:solidFill>
              <a:srgbClr val="2A374F"/>
            </a:solidFill>
            <a:prstDash val="solid"/>
          </a:ln>
        </p:spPr>
      </p:sp>
      <p:sp>
        <p:nvSpPr>
          <p:cNvPr id="11" name="Text 9"/>
          <p:cNvSpPr/>
          <p:nvPr/>
        </p:nvSpPr>
        <p:spPr>
          <a:xfrm>
            <a:off x="914400" y="427939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Giá trị khoa học của kiểm chứng độc lập
</a:t>
            </a:r>
            <a:pPr indent="0" marL="0">
              <a:buNone/>
            </a:pPr>
            <a:r>
              <a:rPr lang="en-US" sz="1000" dirty="0">
                <a:solidFill>
                  <a:srgbClr val="FFFFFF"/>
                </a:solidFill>
                <a:latin typeface="Calibri" pitchFamily="34" charset="0"/>
                <a:ea typeface="Calibri" pitchFamily="34" charset="-122"/>
                <a:cs typeface="Calibri" pitchFamily="34" charset="-120"/>
              </a:rPr>
              <a:t>Việc tái lập thành công một thuật toán quốc tế và chỉ ra được các điểm giới hạn trong phương pháp đo kiểm của tác giả là đóng góp khoa học có giá trị cao.</a:t>
            </a:r>
            <a:endParaRPr lang="en-US" sz="1100" dirty="0"/>
          </a:p>
        </p:txBody>
      </p:sp>
      <p:sp>
        <p:nvSpPr>
          <p:cNvPr id="12" name="Shape 10"/>
          <p:cNvSpPr/>
          <p:nvPr/>
        </p:nvSpPr>
        <p:spPr>
          <a:xfrm>
            <a:off x="731520" y="5440680"/>
            <a:ext cx="6583680" cy="594360"/>
          </a:xfrm>
          <a:prstGeom prst="roundRect">
            <a:avLst>
              <a:gd name="adj" fmla="val 12308"/>
            </a:avLst>
          </a:prstGeom>
          <a:solidFill>
            <a:srgbClr val="111F38"/>
          </a:solidFill>
          <a:ln w="12700">
            <a:solidFill>
              <a:srgbClr val="38BDF8"/>
            </a:solidFill>
            <a:prstDash val="solid"/>
          </a:ln>
        </p:spPr>
      </p:sp>
      <p:sp>
        <p:nvSpPr>
          <p:cNvPr id="13" name="Text 11"/>
          <p:cNvSpPr/>
          <p:nvPr/>
        </p:nvSpPr>
        <p:spPr>
          <a:xfrm>
            <a:off x="868680" y="5440680"/>
            <a:ext cx="6309360" cy="594360"/>
          </a:xfrm>
          <a:prstGeom prst="rect">
            <a:avLst/>
          </a:prstGeom>
          <a:noFill/>
          <a:ln/>
        </p:spPr>
        <p:txBody>
          <a:bodyPr wrap="square" rtlCol="0" anchor="ctr"/>
          <a:lstStyle/>
          <a:p>
            <a:pPr indent="0" marL="0">
              <a:buNone/>
            </a:pPr>
            <a:r>
              <a:rPr lang="en-US" sz="950" i="1" dirty="0">
                <a:solidFill>
                  <a:srgbClr val="38BDF8"/>
                </a:solidFill>
                <a:latin typeface="Calibri" pitchFamily="34" charset="0"/>
                <a:ea typeface="Calibri" pitchFamily="34" charset="-122"/>
                <a:cs typeface="Calibri" pitchFamily="34" charset="-120"/>
              </a:rPr>
              <a:t>💡 Điểm cốt lõi: Tính tái lập (Reproducibility) là nguyên lý cốt lõi của phương pháp luận khoa học: Một kết quả nghiên cứu chỉ được công nhận khi các nhà khoa học độc lập có thể tái lập lại kết quả đó trên cùng điều kiện thử nghiệm.</a:t>
            </a:r>
            <a:endParaRPr lang="en-US" sz="950" dirty="0"/>
          </a:p>
        </p:txBody>
      </p:sp>
      <p:pic>
        <p:nvPicPr>
          <p:cNvPr id="14" name="Image 0" descr="D:\Linh tinh\web_thay_thuan\assets\images\slide-04-ai-everywhere.jpg">    </p:cNvPr>
          <p:cNvPicPr>
            <a:picLocks noChangeAspect="1"/>
          </p:cNvPicPr>
          <p:nvPr/>
        </p:nvPicPr>
        <p:blipFill>
          <a:blip r:embed="rId1"/>
          <a:srcRect l="0" r="0" t="0" b="0"/>
          <a:stretch/>
        </p:blipFill>
        <p:spPr>
          <a:xfrm>
            <a:off x="7589520" y="1737360"/>
            <a:ext cx="3840480" cy="4389120"/>
          </a:xfrm>
          <a:prstGeom prst="rect">
            <a:avLst/>
          </a:prstGeom>
        </p:spPr>
      </p:pic>
      <p:sp>
        <p:nvSpPr>
          <p:cNvPr id="15" name="Text 12"/>
          <p:cNvSpPr/>
          <p:nvPr/>
        </p:nvSpPr>
        <p:spPr>
          <a:xfrm>
            <a:off x="7589520" y="5897880"/>
            <a:ext cx="3840480" cy="320040"/>
          </a:xfrm>
          <a:prstGeom prst="rect">
            <a:avLst/>
          </a:prstGeom>
          <a:noFill/>
          <a:ln/>
        </p:spPr>
        <p:txBody>
          <a:bodyPr wrap="square"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Tái lập thí nghiệm khoa học từ kho mã nguồn GitHub</a:t>
            </a:r>
            <a:endParaRPr lang="en-US" sz="800" dirty="0"/>
          </a:p>
        </p:txBody>
      </p:sp>
      <p:sp>
        <p:nvSpPr>
          <p:cNvPr id="16" name="Shape 13"/>
          <p:cNvSpPr/>
          <p:nvPr/>
        </p:nvSpPr>
        <p:spPr>
          <a:xfrm>
            <a:off x="731520" y="6400800"/>
            <a:ext cx="10698480" cy="0"/>
          </a:xfrm>
          <a:prstGeom prst="line">
            <a:avLst/>
          </a:prstGeom>
          <a:noFill/>
          <a:ln w="12700">
            <a:solidFill>
              <a:srgbClr val="2A374F"/>
            </a:solidFill>
            <a:prstDash val="solid"/>
          </a:ln>
        </p:spPr>
      </p:sp>
      <p:sp>
        <p:nvSpPr>
          <p:cNvPr id="17" name="Text 14"/>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8" name="Text 15"/>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9" name="Text 16"/>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35 / 50</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36 • Chương 3: AI Trong Nghiên Cứu Khoa Học</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Liêm Chính Học Thuật: Quy Định Của IEEE, ACM &amp; Bộ GD&amp;ĐT Về AI</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Khung pháp lý và đạo đức bắt buộc về việc công bố và minh bạch mức độ sử dụng AI trong nghiên cứu</a:t>
            </a:r>
            <a:endParaRPr lang="en-US" sz="1150" dirty="0"/>
          </a:p>
        </p:txBody>
      </p:sp>
      <p:sp>
        <p:nvSpPr>
          <p:cNvPr id="6" name="Shape 4"/>
          <p:cNvSpPr/>
          <p:nvPr/>
        </p:nvSpPr>
        <p:spPr>
          <a:xfrm>
            <a:off x="731520" y="6400800"/>
            <a:ext cx="10698480" cy="0"/>
          </a:xfrm>
          <a:prstGeom prst="line">
            <a:avLst/>
          </a:prstGeom>
          <a:noFill/>
          <a:ln w="12700">
            <a:solidFill>
              <a:srgbClr val="2A374F"/>
            </a:solidFill>
            <a:prstDash val="solid"/>
          </a:ln>
        </p:spPr>
      </p:sp>
      <p:sp>
        <p:nvSpPr>
          <p:cNvPr id="7" name="Text 5"/>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8" name="Text 6"/>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9" name="Text 7"/>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36 / 50</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37 • Chương 3: AI Trong Nghiên Cứu Khoa Học</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Cơ Chế AI Detectors: Bản Chất Toán Học Của Perplexity &amp; Burstiness</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Nguyên lý phát hiện văn bản máy sinh và rủi ro báo sai (False Positive) trong môi trường học thuật</a:t>
            </a:r>
            <a:endParaRPr lang="en-US" sz="1150" dirty="0"/>
          </a:p>
        </p:txBody>
      </p:sp>
      <p:sp>
        <p:nvSpPr>
          <p:cNvPr id="6" name="Shape 4"/>
          <p:cNvSpPr/>
          <p:nvPr/>
        </p:nvSpPr>
        <p:spPr>
          <a:xfrm>
            <a:off x="731520" y="1828800"/>
            <a:ext cx="2072640" cy="1051560"/>
          </a:xfrm>
          <a:prstGeom prst="roundRect">
            <a:avLst>
              <a:gd name="adj" fmla="val 8696"/>
            </a:avLst>
          </a:prstGeom>
          <a:solidFill>
            <a:srgbClr val="161F33"/>
          </a:solidFill>
          <a:ln w="12700">
            <a:solidFill>
              <a:srgbClr val="2A374F"/>
            </a:solidFill>
            <a:prstDash val="solid"/>
          </a:ln>
        </p:spPr>
      </p:sp>
      <p:sp>
        <p:nvSpPr>
          <p:cNvPr id="7" name="Text 5"/>
          <p:cNvSpPr/>
          <p:nvPr/>
        </p:nvSpPr>
        <p:spPr>
          <a:xfrm>
            <a:off x="822960" y="1920240"/>
            <a:ext cx="1889760" cy="457200"/>
          </a:xfrm>
          <a:prstGeom prst="rect">
            <a:avLst/>
          </a:prstGeom>
          <a:noFill/>
          <a:ln/>
        </p:spPr>
        <p:txBody>
          <a:bodyPr wrap="square" rtlCol="0" anchor="ctr"/>
          <a:lstStyle/>
          <a:p>
            <a:pPr algn="ctr" indent="0" marL="0">
              <a:buNone/>
            </a:pPr>
            <a:r>
              <a:rPr lang="en-US" sz="1800" b="1" dirty="0">
                <a:solidFill>
                  <a:srgbClr val="38BDF8"/>
                </a:solidFill>
                <a:latin typeface="Arial" pitchFamily="34" charset="0"/>
                <a:ea typeface="Arial" pitchFamily="34" charset="-122"/>
                <a:cs typeface="Arial" pitchFamily="34" charset="-120"/>
              </a:rPr>
              <a:t>Perplexity</a:t>
            </a:r>
            <a:endParaRPr lang="en-US" sz="1800" dirty="0"/>
          </a:p>
        </p:txBody>
      </p:sp>
      <p:sp>
        <p:nvSpPr>
          <p:cNvPr id="8" name="Text 6"/>
          <p:cNvSpPr/>
          <p:nvPr/>
        </p:nvSpPr>
        <p:spPr>
          <a:xfrm>
            <a:off x="82296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Độ hỗn loạn: PPL = exp(-1/N ∑ log P(wᵢ))</a:t>
            </a:r>
            <a:endParaRPr lang="en-US" sz="950" dirty="0"/>
          </a:p>
        </p:txBody>
      </p:sp>
      <p:sp>
        <p:nvSpPr>
          <p:cNvPr id="9" name="Shape 7"/>
          <p:cNvSpPr/>
          <p:nvPr/>
        </p:nvSpPr>
        <p:spPr>
          <a:xfrm>
            <a:off x="2987040" y="1828800"/>
            <a:ext cx="2072640" cy="1051560"/>
          </a:xfrm>
          <a:prstGeom prst="roundRect">
            <a:avLst>
              <a:gd name="adj" fmla="val 8696"/>
            </a:avLst>
          </a:prstGeom>
          <a:solidFill>
            <a:srgbClr val="161F33"/>
          </a:solidFill>
          <a:ln w="12700">
            <a:solidFill>
              <a:srgbClr val="2A374F"/>
            </a:solidFill>
            <a:prstDash val="solid"/>
          </a:ln>
        </p:spPr>
      </p:sp>
      <p:sp>
        <p:nvSpPr>
          <p:cNvPr id="10" name="Text 8"/>
          <p:cNvSpPr/>
          <p:nvPr/>
        </p:nvSpPr>
        <p:spPr>
          <a:xfrm>
            <a:off x="3078480" y="1920240"/>
            <a:ext cx="1889760" cy="457200"/>
          </a:xfrm>
          <a:prstGeom prst="rect">
            <a:avLst/>
          </a:prstGeom>
          <a:noFill/>
          <a:ln/>
        </p:spPr>
        <p:txBody>
          <a:bodyPr wrap="square" rtlCol="0" anchor="ctr"/>
          <a:lstStyle/>
          <a:p>
            <a:pPr algn="ctr" indent="0" marL="0">
              <a:buNone/>
            </a:pPr>
            <a:r>
              <a:rPr lang="en-US" sz="1800" b="1" dirty="0">
                <a:solidFill>
                  <a:srgbClr val="10B981"/>
                </a:solidFill>
                <a:latin typeface="Arial" pitchFamily="34" charset="0"/>
                <a:ea typeface="Arial" pitchFamily="34" charset="-122"/>
                <a:cs typeface="Arial" pitchFamily="34" charset="-120"/>
              </a:rPr>
              <a:t>Burstiness</a:t>
            </a:r>
            <a:endParaRPr lang="en-US" sz="1800" dirty="0"/>
          </a:p>
        </p:txBody>
      </p:sp>
      <p:sp>
        <p:nvSpPr>
          <p:cNvPr id="11" name="Text 9"/>
          <p:cNvSpPr/>
          <p:nvPr/>
        </p:nvSpPr>
        <p:spPr>
          <a:xfrm>
            <a:off x="307848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Độ đột biến: Độ biến thiên chiều dài câu</a:t>
            </a:r>
            <a:endParaRPr lang="en-US" sz="950" dirty="0"/>
          </a:p>
        </p:txBody>
      </p:sp>
      <p:sp>
        <p:nvSpPr>
          <p:cNvPr id="12" name="Shape 10"/>
          <p:cNvSpPr/>
          <p:nvPr/>
        </p:nvSpPr>
        <p:spPr>
          <a:xfrm>
            <a:off x="5242560" y="1828800"/>
            <a:ext cx="2072640" cy="1051560"/>
          </a:xfrm>
          <a:prstGeom prst="roundRect">
            <a:avLst>
              <a:gd name="adj" fmla="val 8696"/>
            </a:avLst>
          </a:prstGeom>
          <a:solidFill>
            <a:srgbClr val="161F33"/>
          </a:solidFill>
          <a:ln w="12700">
            <a:solidFill>
              <a:srgbClr val="2A374F"/>
            </a:solidFill>
            <a:prstDash val="solid"/>
          </a:ln>
        </p:spPr>
      </p:sp>
      <p:sp>
        <p:nvSpPr>
          <p:cNvPr id="13" name="Text 11"/>
          <p:cNvSpPr/>
          <p:nvPr/>
        </p:nvSpPr>
        <p:spPr>
          <a:xfrm>
            <a:off x="5334000" y="1920240"/>
            <a:ext cx="1889760" cy="457200"/>
          </a:xfrm>
          <a:prstGeom prst="rect">
            <a:avLst/>
          </a:prstGeom>
          <a:noFill/>
          <a:ln/>
        </p:spPr>
        <p:txBody>
          <a:bodyPr wrap="square" rtlCol="0" anchor="ctr"/>
          <a:lstStyle/>
          <a:p>
            <a:pPr algn="ctr" indent="0" marL="0">
              <a:buNone/>
            </a:pPr>
            <a:r>
              <a:rPr lang="en-US" sz="1800" b="1" dirty="0">
                <a:solidFill>
                  <a:srgbClr val="F59E0B"/>
                </a:solidFill>
                <a:latin typeface="Arial" pitchFamily="34" charset="0"/>
                <a:ea typeface="Arial" pitchFamily="34" charset="-122"/>
                <a:cs typeface="Arial" pitchFamily="34" charset="-120"/>
              </a:rPr>
              <a:t>False +</a:t>
            </a:r>
            <a:endParaRPr lang="en-US" sz="1800" dirty="0"/>
          </a:p>
        </p:txBody>
      </p:sp>
      <p:sp>
        <p:nvSpPr>
          <p:cNvPr id="14" name="Text 12"/>
          <p:cNvSpPr/>
          <p:nvPr/>
        </p:nvSpPr>
        <p:spPr>
          <a:xfrm>
            <a:off x="533400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Rủi ro báo sai người viết thành máy</a:t>
            </a:r>
            <a:endParaRPr lang="en-US" sz="950" dirty="0"/>
          </a:p>
        </p:txBody>
      </p:sp>
      <p:sp>
        <p:nvSpPr>
          <p:cNvPr id="15" name="Shape 13"/>
          <p:cNvSpPr/>
          <p:nvPr/>
        </p:nvSpPr>
        <p:spPr>
          <a:xfrm>
            <a:off x="731520" y="3063240"/>
            <a:ext cx="6583680" cy="746760"/>
          </a:xfrm>
          <a:prstGeom prst="roundRect">
            <a:avLst>
              <a:gd name="adj" fmla="val 12245"/>
            </a:avLst>
          </a:prstGeom>
          <a:solidFill>
            <a:srgbClr val="161F33"/>
          </a:solidFill>
          <a:ln w="12700">
            <a:solidFill>
              <a:srgbClr val="2A374F"/>
            </a:solidFill>
            <a:prstDash val="solid"/>
          </a:ln>
        </p:spPr>
      </p:sp>
      <p:sp>
        <p:nvSpPr>
          <p:cNvPr id="16" name="Text 14"/>
          <p:cNvSpPr/>
          <p:nvPr/>
        </p:nvSpPr>
        <p:spPr>
          <a:xfrm>
            <a:off x="914400" y="31363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Chỉ số Perplexity (Độ hỗn loạn của chuỗi ký hiệu)
</a:t>
            </a:r>
            <a:pPr indent="0" marL="0">
              <a:buNone/>
            </a:pPr>
            <a:r>
              <a:rPr lang="en-US" sz="1000" dirty="0">
                <a:solidFill>
                  <a:srgbClr val="FFFFFF"/>
                </a:solidFill>
                <a:latin typeface="Calibri" pitchFamily="34" charset="0"/>
                <a:ea typeface="Calibri" pitchFamily="34" charset="-122"/>
                <a:cs typeface="Calibri" pitchFamily="34" charset="-120"/>
              </a:rPr>
              <a:t>Văn bản do AI sinh ra có Perplexity rất thấp do mô hình luôn lựa chọn các từ ngữ có xác suất cao nhất. Văn bản con người viết có Perplexity cao hơn do sự sáng tạo trong việc sử dụng từ vựng đa dạng.</a:t>
            </a:r>
            <a:endParaRPr lang="en-US" sz="1100" dirty="0"/>
          </a:p>
        </p:txBody>
      </p:sp>
      <p:sp>
        <p:nvSpPr>
          <p:cNvPr id="17" name="Shape 15"/>
          <p:cNvSpPr/>
          <p:nvPr/>
        </p:nvSpPr>
        <p:spPr>
          <a:xfrm>
            <a:off x="731520" y="3901440"/>
            <a:ext cx="6583680" cy="746760"/>
          </a:xfrm>
          <a:prstGeom prst="roundRect">
            <a:avLst>
              <a:gd name="adj" fmla="val 12245"/>
            </a:avLst>
          </a:prstGeom>
          <a:solidFill>
            <a:srgbClr val="161F33"/>
          </a:solidFill>
          <a:ln w="12700">
            <a:solidFill>
              <a:srgbClr val="2A374F"/>
            </a:solidFill>
            <a:prstDash val="solid"/>
          </a:ln>
        </p:spPr>
      </p:sp>
      <p:sp>
        <p:nvSpPr>
          <p:cNvPr id="18" name="Text 16"/>
          <p:cNvSpPr/>
          <p:nvPr/>
        </p:nvSpPr>
        <p:spPr>
          <a:xfrm>
            <a:off x="914400" y="39745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Chỉ số Burstiness (Độ đột biến về nhịp điệu câu văn)
</a:t>
            </a:r>
            <a:pPr indent="0" marL="0">
              <a:buNone/>
            </a:pPr>
            <a:r>
              <a:rPr lang="en-US" sz="1000" dirty="0">
                <a:solidFill>
                  <a:srgbClr val="FFFFFF"/>
                </a:solidFill>
                <a:latin typeface="Calibri" pitchFamily="34" charset="0"/>
                <a:ea typeface="Calibri" pitchFamily="34" charset="-122"/>
                <a:cs typeface="Calibri" pitchFamily="34" charset="-120"/>
              </a:rPr>
              <a:t>Con người có xu hướng đan xen giữa các câu rất dài phức tạp và các câu ngắn dứt khoát (phương sai chiều dài câu lớn). AI có xu hướng duy trì cấu trúc câu đều đặn (phương sai nhỏ).</a:t>
            </a:r>
            <a:endParaRPr lang="en-US" sz="1100" dirty="0"/>
          </a:p>
        </p:txBody>
      </p:sp>
      <p:sp>
        <p:nvSpPr>
          <p:cNvPr id="19" name="Shape 17"/>
          <p:cNvSpPr/>
          <p:nvPr/>
        </p:nvSpPr>
        <p:spPr>
          <a:xfrm>
            <a:off x="731520" y="4739640"/>
            <a:ext cx="6583680" cy="746760"/>
          </a:xfrm>
          <a:prstGeom prst="roundRect">
            <a:avLst>
              <a:gd name="adj" fmla="val 12245"/>
            </a:avLst>
          </a:prstGeom>
          <a:solidFill>
            <a:srgbClr val="161F33"/>
          </a:solidFill>
          <a:ln w="12700">
            <a:solidFill>
              <a:srgbClr val="2A374F"/>
            </a:solidFill>
            <a:prstDash val="solid"/>
          </a:ln>
        </p:spPr>
      </p:sp>
      <p:sp>
        <p:nvSpPr>
          <p:cNvPr id="20" name="Text 18"/>
          <p:cNvSpPr/>
          <p:nvPr/>
        </p:nvSpPr>
        <p:spPr>
          <a:xfrm>
            <a:off x="914400" y="48127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Hạn chế kỹ thuật và rủi ro nhận định sai lệch
</a:t>
            </a:r>
            <a:pPr indent="0" marL="0">
              <a:buNone/>
            </a:pPr>
            <a:r>
              <a:rPr lang="en-US" sz="1000" dirty="0">
                <a:solidFill>
                  <a:srgbClr val="FFFFFF"/>
                </a:solidFill>
                <a:latin typeface="Calibri" pitchFamily="34" charset="0"/>
                <a:ea typeface="Calibri" pitchFamily="34" charset="-122"/>
                <a:cs typeface="Calibri" pitchFamily="34" charset="-120"/>
              </a:rPr>
              <a:t>Các hệ thống AI Detector (như Turnitin AI, GPTZero) không mang tính xác định tuyệt đối. Sinh viên không phải người bản xứ khi viết tiếng Anh đơn giản thường vô tình có chỉ số Perplexity thấp, dẫn tới nguy cơ bị hệ thống nhận định nhầm.</a:t>
            </a:r>
            <a:endParaRPr lang="en-US" sz="1100" dirty="0"/>
          </a:p>
        </p:txBody>
      </p:sp>
      <p:sp>
        <p:nvSpPr>
          <p:cNvPr id="21" name="Shape 19"/>
          <p:cNvSpPr/>
          <p:nvPr/>
        </p:nvSpPr>
        <p:spPr>
          <a:xfrm>
            <a:off x="731520" y="5623560"/>
            <a:ext cx="6583680" cy="594360"/>
          </a:xfrm>
          <a:prstGeom prst="roundRect">
            <a:avLst>
              <a:gd name="adj" fmla="val 12308"/>
            </a:avLst>
          </a:prstGeom>
          <a:solidFill>
            <a:srgbClr val="111F38"/>
          </a:solidFill>
          <a:ln w="12700">
            <a:solidFill>
              <a:srgbClr val="38BDF8"/>
            </a:solidFill>
            <a:prstDash val="solid"/>
          </a:ln>
        </p:spPr>
      </p:sp>
      <p:sp>
        <p:nvSpPr>
          <p:cNvPr id="22" name="Text 20"/>
          <p:cNvSpPr/>
          <p:nvPr/>
        </p:nvSpPr>
        <p:spPr>
          <a:xfrm>
            <a:off x="868680" y="5623560"/>
            <a:ext cx="6309360" cy="594360"/>
          </a:xfrm>
          <a:prstGeom prst="rect">
            <a:avLst/>
          </a:prstGeom>
          <a:noFill/>
          <a:ln/>
        </p:spPr>
        <p:txBody>
          <a:bodyPr wrap="square" rtlCol="0" anchor="ctr"/>
          <a:lstStyle/>
          <a:p>
            <a:pPr indent="0" marL="0">
              <a:buNone/>
            </a:pPr>
            <a:r>
              <a:rPr lang="en-US" sz="950" i="1" dirty="0">
                <a:solidFill>
                  <a:srgbClr val="38BDF8"/>
                </a:solidFill>
                <a:latin typeface="Calibri" pitchFamily="34" charset="0"/>
                <a:ea typeface="Calibri" pitchFamily="34" charset="-122"/>
                <a:cs typeface="Calibri" pitchFamily="34" charset="-120"/>
              </a:rPr>
              <a:t>💡 Điểm cốt lõi: Minh chứng bảo vệ tính nguyên bản của công trình khoa học không nằm ở điểm số của các phần mềm kiểm tra tự động, mà nằm ở nhật ký thực nghiệm chi tiết và năng lực giải trình trực tiếp của tác giả.</a:t>
            </a:r>
            <a:endParaRPr lang="en-US" sz="950" dirty="0"/>
          </a:p>
        </p:txBody>
      </p:sp>
      <p:pic>
        <p:nvPicPr>
          <p:cNvPr id="23" name="Image 0" descr="D:\Linh tinh\web_thay_thuan\assets\images\slide-37-privacy-security.jpg">    </p:cNvPr>
          <p:cNvPicPr>
            <a:picLocks noChangeAspect="1"/>
          </p:cNvPicPr>
          <p:nvPr/>
        </p:nvPicPr>
        <p:blipFill>
          <a:blip r:embed="rId1"/>
          <a:srcRect l="0" r="0" t="0" b="0"/>
          <a:stretch/>
        </p:blipFill>
        <p:spPr>
          <a:xfrm>
            <a:off x="7589520" y="1737360"/>
            <a:ext cx="3840480" cy="4389120"/>
          </a:xfrm>
          <a:prstGeom prst="rect">
            <a:avLst/>
          </a:prstGeom>
        </p:spPr>
      </p:pic>
      <p:sp>
        <p:nvSpPr>
          <p:cNvPr id="24" name="Text 21"/>
          <p:cNvSpPr/>
          <p:nvPr/>
        </p:nvSpPr>
        <p:spPr>
          <a:xfrm>
            <a:off x="7589520" y="5897880"/>
            <a:ext cx="3840480" cy="320040"/>
          </a:xfrm>
          <a:prstGeom prst="rect">
            <a:avLst/>
          </a:prstGeom>
          <a:noFill/>
          <a:ln/>
        </p:spPr>
        <p:txBody>
          <a:bodyPr wrap="square"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Đo lường độ hỗn loạn Perplexity và độ đột biến Burstiness của văn bản</a:t>
            </a:r>
            <a:endParaRPr lang="en-US" sz="800" dirty="0"/>
          </a:p>
        </p:txBody>
      </p:sp>
      <p:sp>
        <p:nvSpPr>
          <p:cNvPr id="25" name="Shape 22"/>
          <p:cNvSpPr/>
          <p:nvPr/>
        </p:nvSpPr>
        <p:spPr>
          <a:xfrm>
            <a:off x="731520" y="6400800"/>
            <a:ext cx="10698480" cy="0"/>
          </a:xfrm>
          <a:prstGeom prst="line">
            <a:avLst/>
          </a:prstGeom>
          <a:noFill/>
          <a:ln w="12700">
            <a:solidFill>
              <a:srgbClr val="2A374F"/>
            </a:solidFill>
            <a:prstDash val="solid"/>
          </a:ln>
        </p:spPr>
      </p:sp>
      <p:sp>
        <p:nvSpPr>
          <p:cNvPr id="26" name="Text 23"/>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27" name="Text 24"/>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28" name="Text 2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37 / 50</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38 • Chương 3: AI Trong Nghiên Cứu Khoa Học</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An Ninh Thông Tin: Nguy Cơ Rò Rỉ Dữ Liệu Khi Sử Dụng AI Công Cộng</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Phân tích các lỗ hổng bảo vệ sở hữu trí tuệ và giải pháp triển khai mô hình cục bộ (Local LLMs)</a:t>
            </a:r>
            <a:endParaRPr lang="en-US" sz="1150" dirty="0"/>
          </a:p>
        </p:txBody>
      </p:sp>
      <p:sp>
        <p:nvSpPr>
          <p:cNvPr id="6" name="Shape 4"/>
          <p:cNvSpPr/>
          <p:nvPr/>
        </p:nvSpPr>
        <p:spPr>
          <a:xfrm>
            <a:off x="731520" y="1828800"/>
            <a:ext cx="2072640" cy="1051560"/>
          </a:xfrm>
          <a:prstGeom prst="roundRect">
            <a:avLst>
              <a:gd name="adj" fmla="val 8696"/>
            </a:avLst>
          </a:prstGeom>
          <a:solidFill>
            <a:srgbClr val="161F33"/>
          </a:solidFill>
          <a:ln w="12700">
            <a:solidFill>
              <a:srgbClr val="2A374F"/>
            </a:solidFill>
            <a:prstDash val="solid"/>
          </a:ln>
        </p:spPr>
      </p:sp>
      <p:sp>
        <p:nvSpPr>
          <p:cNvPr id="7" name="Text 5"/>
          <p:cNvSpPr/>
          <p:nvPr/>
        </p:nvSpPr>
        <p:spPr>
          <a:xfrm>
            <a:off x="822960" y="1920240"/>
            <a:ext cx="1889760" cy="457200"/>
          </a:xfrm>
          <a:prstGeom prst="rect">
            <a:avLst/>
          </a:prstGeom>
          <a:noFill/>
          <a:ln/>
        </p:spPr>
        <p:txBody>
          <a:bodyPr wrap="square" rtlCol="0" anchor="ctr"/>
          <a:lstStyle/>
          <a:p>
            <a:pPr algn="ctr" indent="0" marL="0">
              <a:buNone/>
            </a:pPr>
            <a:r>
              <a:rPr lang="en-US" sz="1800" b="1" dirty="0">
                <a:solidFill>
                  <a:srgbClr val="F59E0B"/>
                </a:solidFill>
                <a:latin typeface="Arial" pitchFamily="34" charset="0"/>
                <a:ea typeface="Arial" pitchFamily="34" charset="-122"/>
                <a:cs typeface="Arial" pitchFamily="34" charset="-120"/>
              </a:rPr>
              <a:t>Cloud API</a:t>
            </a:r>
            <a:endParaRPr lang="en-US" sz="1800" dirty="0"/>
          </a:p>
        </p:txBody>
      </p:sp>
      <p:sp>
        <p:nvSpPr>
          <p:cNvPr id="8" name="Text 6"/>
          <p:cNvSpPr/>
          <p:nvPr/>
        </p:nvSpPr>
        <p:spPr>
          <a:xfrm>
            <a:off x="82296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Mặc định: Dữ liệu có thể dùng để tái huấn luyện</a:t>
            </a:r>
            <a:endParaRPr lang="en-US" sz="950" dirty="0"/>
          </a:p>
        </p:txBody>
      </p:sp>
      <p:sp>
        <p:nvSpPr>
          <p:cNvPr id="9" name="Shape 7"/>
          <p:cNvSpPr/>
          <p:nvPr/>
        </p:nvSpPr>
        <p:spPr>
          <a:xfrm>
            <a:off x="2987040" y="1828800"/>
            <a:ext cx="2072640" cy="1051560"/>
          </a:xfrm>
          <a:prstGeom prst="roundRect">
            <a:avLst>
              <a:gd name="adj" fmla="val 8696"/>
            </a:avLst>
          </a:prstGeom>
          <a:solidFill>
            <a:srgbClr val="161F33"/>
          </a:solidFill>
          <a:ln w="12700">
            <a:solidFill>
              <a:srgbClr val="2A374F"/>
            </a:solidFill>
            <a:prstDash val="solid"/>
          </a:ln>
        </p:spPr>
      </p:sp>
      <p:sp>
        <p:nvSpPr>
          <p:cNvPr id="10" name="Text 8"/>
          <p:cNvSpPr/>
          <p:nvPr/>
        </p:nvSpPr>
        <p:spPr>
          <a:xfrm>
            <a:off x="3078480" y="1920240"/>
            <a:ext cx="1889760" cy="457200"/>
          </a:xfrm>
          <a:prstGeom prst="rect">
            <a:avLst/>
          </a:prstGeom>
          <a:noFill/>
          <a:ln/>
        </p:spPr>
        <p:txBody>
          <a:bodyPr wrap="square" rtlCol="0" anchor="ctr"/>
          <a:lstStyle/>
          <a:p>
            <a:pPr algn="ctr" indent="0" marL="0">
              <a:buNone/>
            </a:pPr>
            <a:r>
              <a:rPr lang="en-US" sz="1800" b="1" dirty="0">
                <a:solidFill>
                  <a:srgbClr val="10B981"/>
                </a:solidFill>
                <a:latin typeface="Arial" pitchFamily="34" charset="0"/>
                <a:ea typeface="Arial" pitchFamily="34" charset="-122"/>
                <a:cs typeface="Arial" pitchFamily="34" charset="-120"/>
              </a:rPr>
              <a:t>Zero Ret</a:t>
            </a:r>
            <a:endParaRPr lang="en-US" sz="1800" dirty="0"/>
          </a:p>
        </p:txBody>
      </p:sp>
      <p:sp>
        <p:nvSpPr>
          <p:cNvPr id="11" name="Text 9"/>
          <p:cNvSpPr/>
          <p:nvPr/>
        </p:nvSpPr>
        <p:spPr>
          <a:xfrm>
            <a:off x="307848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Cam kết không lưu trữ dữ liệu (Zero Retention)</a:t>
            </a:r>
            <a:endParaRPr lang="en-US" sz="950" dirty="0"/>
          </a:p>
        </p:txBody>
      </p:sp>
      <p:sp>
        <p:nvSpPr>
          <p:cNvPr id="12" name="Shape 10"/>
          <p:cNvSpPr/>
          <p:nvPr/>
        </p:nvSpPr>
        <p:spPr>
          <a:xfrm>
            <a:off x="5242560" y="1828800"/>
            <a:ext cx="2072640" cy="1051560"/>
          </a:xfrm>
          <a:prstGeom prst="roundRect">
            <a:avLst>
              <a:gd name="adj" fmla="val 8696"/>
            </a:avLst>
          </a:prstGeom>
          <a:solidFill>
            <a:srgbClr val="161F33"/>
          </a:solidFill>
          <a:ln w="12700">
            <a:solidFill>
              <a:srgbClr val="2A374F"/>
            </a:solidFill>
            <a:prstDash val="solid"/>
          </a:ln>
        </p:spPr>
      </p:sp>
      <p:sp>
        <p:nvSpPr>
          <p:cNvPr id="13" name="Text 11"/>
          <p:cNvSpPr/>
          <p:nvPr/>
        </p:nvSpPr>
        <p:spPr>
          <a:xfrm>
            <a:off x="5334000" y="1920240"/>
            <a:ext cx="1889760" cy="457200"/>
          </a:xfrm>
          <a:prstGeom prst="rect">
            <a:avLst/>
          </a:prstGeom>
          <a:noFill/>
          <a:ln/>
        </p:spPr>
        <p:txBody>
          <a:bodyPr wrap="square" rtlCol="0" anchor="ctr"/>
          <a:lstStyle/>
          <a:p>
            <a:pPr algn="ctr" indent="0" marL="0">
              <a:buNone/>
            </a:pPr>
            <a:r>
              <a:rPr lang="en-US" sz="1800" b="1" dirty="0">
                <a:solidFill>
                  <a:srgbClr val="10B981"/>
                </a:solidFill>
                <a:latin typeface="Arial" pitchFamily="34" charset="0"/>
                <a:ea typeface="Arial" pitchFamily="34" charset="-122"/>
                <a:cs typeface="Arial" pitchFamily="34" charset="-120"/>
              </a:rPr>
              <a:t>On-Prem</a:t>
            </a:r>
            <a:endParaRPr lang="en-US" sz="1800" dirty="0"/>
          </a:p>
        </p:txBody>
      </p:sp>
      <p:sp>
        <p:nvSpPr>
          <p:cNvPr id="14" name="Text 12"/>
          <p:cNvSpPr/>
          <p:nvPr/>
        </p:nvSpPr>
        <p:spPr>
          <a:xfrm>
            <a:off x="5334000" y="2377440"/>
            <a:ext cx="1889760" cy="41148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Mô hình mã nguồn mở chạy hoàn toàn Offline</a:t>
            </a:r>
            <a:endParaRPr lang="en-US" sz="950" dirty="0"/>
          </a:p>
        </p:txBody>
      </p:sp>
      <p:sp>
        <p:nvSpPr>
          <p:cNvPr id="15" name="Shape 13"/>
          <p:cNvSpPr/>
          <p:nvPr/>
        </p:nvSpPr>
        <p:spPr>
          <a:xfrm>
            <a:off x="731520" y="3063240"/>
            <a:ext cx="6583680" cy="746760"/>
          </a:xfrm>
          <a:prstGeom prst="roundRect">
            <a:avLst>
              <a:gd name="adj" fmla="val 12245"/>
            </a:avLst>
          </a:prstGeom>
          <a:solidFill>
            <a:srgbClr val="161F33"/>
          </a:solidFill>
          <a:ln w="12700">
            <a:solidFill>
              <a:srgbClr val="2A374F"/>
            </a:solidFill>
            <a:prstDash val="solid"/>
          </a:ln>
        </p:spPr>
      </p:sp>
      <p:sp>
        <p:nvSpPr>
          <p:cNvPr id="16" name="Text 14"/>
          <p:cNvSpPr/>
          <p:nvPr/>
        </p:nvSpPr>
        <p:spPr>
          <a:xfrm>
            <a:off x="914400" y="31363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Nguy cơ mất quyền sở hữu trí tuệ và lộ bí mật sáng chế
</a:t>
            </a:r>
            <a:pPr indent="0" marL="0">
              <a:buNone/>
            </a:pPr>
            <a:r>
              <a:rPr lang="en-US" sz="1000" dirty="0">
                <a:solidFill>
                  <a:srgbClr val="FFFFFF"/>
                </a:solidFill>
                <a:latin typeface="Calibri" pitchFamily="34" charset="0"/>
                <a:ea typeface="Calibri" pitchFamily="34" charset="-122"/>
                <a:cs typeface="Calibri" pitchFamily="34" charset="-120"/>
              </a:rPr>
              <a:t>Khi tải lên mã nguồn giải thuật mật mã mới hoặc dữ liệu thực nghiệm chưa công bố lên các dịch vụ AI miễn phí công cộng, dữ liệu có thể được lưu trữ trên máy chủ bên ngoài và có nguy cơ bị rò rỉ trong các phiên bản mô hình tiếp theo.</a:t>
            </a:r>
            <a:endParaRPr lang="en-US" sz="1100" dirty="0"/>
          </a:p>
        </p:txBody>
      </p:sp>
      <p:sp>
        <p:nvSpPr>
          <p:cNvPr id="17" name="Shape 15"/>
          <p:cNvSpPr/>
          <p:nvPr/>
        </p:nvSpPr>
        <p:spPr>
          <a:xfrm>
            <a:off x="731520" y="3901440"/>
            <a:ext cx="6583680" cy="746760"/>
          </a:xfrm>
          <a:prstGeom prst="roundRect">
            <a:avLst>
              <a:gd name="adj" fmla="val 12245"/>
            </a:avLst>
          </a:prstGeom>
          <a:solidFill>
            <a:srgbClr val="161F33"/>
          </a:solidFill>
          <a:ln w="12700">
            <a:solidFill>
              <a:srgbClr val="2A374F"/>
            </a:solidFill>
            <a:prstDash val="solid"/>
          </a:ln>
        </p:spPr>
      </p:sp>
      <p:sp>
        <p:nvSpPr>
          <p:cNvPr id="18" name="Text 16"/>
          <p:cNvSpPr/>
          <p:nvPr/>
        </p:nvSpPr>
        <p:spPr>
          <a:xfrm>
            <a:off x="914400" y="39745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Rủi ro lộ lọt khóa mật mã và thông tin xác thực
</a:t>
            </a:r>
            <a:pPr indent="0" marL="0">
              <a:buNone/>
            </a:pPr>
            <a:r>
              <a:rPr lang="en-US" sz="1000" dirty="0">
                <a:solidFill>
                  <a:srgbClr val="FFFFFF"/>
                </a:solidFill>
                <a:latin typeface="Calibri" pitchFamily="34" charset="0"/>
                <a:ea typeface="Calibri" pitchFamily="34" charset="-122"/>
                <a:cs typeface="Calibri" pitchFamily="34" charset="-120"/>
              </a:rPr>
              <a:t>Bất cẩn đưa mã nguồn chứa Private Key, API Key hoặc chuỗi kết nối cơ sở dữ liệu lên giao diện chatbot công cộng là hành vi vi phạm an ninh thông tin nghiêm trọng.</a:t>
            </a:r>
            <a:endParaRPr lang="en-US" sz="1100" dirty="0"/>
          </a:p>
        </p:txBody>
      </p:sp>
      <p:sp>
        <p:nvSpPr>
          <p:cNvPr id="19" name="Shape 17"/>
          <p:cNvSpPr/>
          <p:nvPr/>
        </p:nvSpPr>
        <p:spPr>
          <a:xfrm>
            <a:off x="731520" y="4739640"/>
            <a:ext cx="6583680" cy="746760"/>
          </a:xfrm>
          <a:prstGeom prst="roundRect">
            <a:avLst>
              <a:gd name="adj" fmla="val 12245"/>
            </a:avLst>
          </a:prstGeom>
          <a:solidFill>
            <a:srgbClr val="161F33"/>
          </a:solidFill>
          <a:ln w="12700">
            <a:solidFill>
              <a:srgbClr val="2A374F"/>
            </a:solidFill>
            <a:prstDash val="solid"/>
          </a:ln>
        </p:spPr>
      </p:sp>
      <p:sp>
        <p:nvSpPr>
          <p:cNvPr id="20" name="Text 18"/>
          <p:cNvSpPr/>
          <p:nvPr/>
        </p:nvSpPr>
        <p:spPr>
          <a:xfrm>
            <a:off x="914400" y="4812792"/>
            <a:ext cx="6217920" cy="60045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Kiến trúc triển khai mô hình an toàn cho KMA
</a:t>
            </a:r>
            <a:pPr indent="0" marL="0">
              <a:buNone/>
            </a:pPr>
            <a:r>
              <a:rPr lang="en-US" sz="1000" dirty="0">
                <a:solidFill>
                  <a:srgbClr val="FFFFFF"/>
                </a:solidFill>
                <a:latin typeface="Calibri" pitchFamily="34" charset="0"/>
                <a:ea typeface="Calibri" pitchFamily="34" charset="-122"/>
                <a:cs typeface="Calibri" pitchFamily="34" charset="-120"/>
              </a:rPr>
              <a:t>Triển khai các mô hình mã nguồn mở (Llama 3, DeepSeek-R1) trực tiếp trên các máy trạm phòng thí nghiệm có GPU chuyên dụng, ngắt kết nối Internet ngoài để bảo vệ tuyệt đối dữ liệu nghiên cứu.</a:t>
            </a:r>
            <a:endParaRPr lang="en-US" sz="1100" dirty="0"/>
          </a:p>
        </p:txBody>
      </p:sp>
      <p:sp>
        <p:nvSpPr>
          <p:cNvPr id="21" name="Shape 19"/>
          <p:cNvSpPr/>
          <p:nvPr/>
        </p:nvSpPr>
        <p:spPr>
          <a:xfrm>
            <a:off x="731520" y="5623560"/>
            <a:ext cx="6583680" cy="594360"/>
          </a:xfrm>
          <a:prstGeom prst="roundRect">
            <a:avLst>
              <a:gd name="adj" fmla="val 12308"/>
            </a:avLst>
          </a:prstGeom>
          <a:solidFill>
            <a:srgbClr val="111F38"/>
          </a:solidFill>
          <a:ln w="12700">
            <a:solidFill>
              <a:srgbClr val="38BDF8"/>
            </a:solidFill>
            <a:prstDash val="solid"/>
          </a:ln>
        </p:spPr>
      </p:sp>
      <p:sp>
        <p:nvSpPr>
          <p:cNvPr id="22" name="Text 20"/>
          <p:cNvSpPr/>
          <p:nvPr/>
        </p:nvSpPr>
        <p:spPr>
          <a:xfrm>
            <a:off x="868680" y="5623560"/>
            <a:ext cx="6309360" cy="594360"/>
          </a:xfrm>
          <a:prstGeom prst="rect">
            <a:avLst/>
          </a:prstGeom>
          <a:noFill/>
          <a:ln/>
        </p:spPr>
        <p:txBody>
          <a:bodyPr wrap="square" rtlCol="0" anchor="ctr"/>
          <a:lstStyle/>
          <a:p>
            <a:pPr indent="0" marL="0">
              <a:buNone/>
            </a:pPr>
            <a:r>
              <a:rPr lang="en-US" sz="950" i="1" dirty="0">
                <a:solidFill>
                  <a:srgbClr val="38BDF8"/>
                </a:solidFill>
                <a:latin typeface="Calibri" pitchFamily="34" charset="0"/>
                <a:ea typeface="Calibri" pitchFamily="34" charset="-122"/>
                <a:cs typeface="Calibri" pitchFamily="34" charset="-120"/>
              </a:rPr>
              <a:t>💡 Điểm cốt lõi: Sinh viên Học viện Kỹ thuật Mật mã bắt buộc phải tuân thủ nghiêm ngặt các quy định an toàn thông tin: Tuyệt đối không đưa dữ liệu mật mã, mã nguồn nhạy cảm và công trình chưa công bố lên các nền tảng đám mây công cộng.</a:t>
            </a:r>
            <a:endParaRPr lang="en-US" sz="950" dirty="0"/>
          </a:p>
        </p:txBody>
      </p:sp>
      <p:pic>
        <p:nvPicPr>
          <p:cNvPr id="23" name="Image 0" descr="D:\Linh tinh\web_thay_thuan\assets\images\slide-38-citation-standards.jpg">    </p:cNvPr>
          <p:cNvPicPr>
            <a:picLocks noChangeAspect="1"/>
          </p:cNvPicPr>
          <p:nvPr/>
        </p:nvPicPr>
        <p:blipFill>
          <a:blip r:embed="rId1"/>
          <a:srcRect l="0" r="0" t="0" b="0"/>
          <a:stretch/>
        </p:blipFill>
        <p:spPr>
          <a:xfrm>
            <a:off x="7589520" y="1737360"/>
            <a:ext cx="3840480" cy="4389120"/>
          </a:xfrm>
          <a:prstGeom prst="rect">
            <a:avLst/>
          </a:prstGeom>
        </p:spPr>
      </p:pic>
      <p:sp>
        <p:nvSpPr>
          <p:cNvPr id="24" name="Text 21"/>
          <p:cNvSpPr/>
          <p:nvPr/>
        </p:nvSpPr>
        <p:spPr>
          <a:xfrm>
            <a:off x="7589520" y="5897880"/>
            <a:ext cx="3840480" cy="320040"/>
          </a:xfrm>
          <a:prstGeom prst="rect">
            <a:avLst/>
          </a:prstGeom>
          <a:noFill/>
          <a:ln/>
        </p:spPr>
        <p:txBody>
          <a:bodyPr wrap="square"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Bảo vệ tài sản trí tuệ và bí mật dữ liệu nghiên cứu</a:t>
            </a:r>
            <a:endParaRPr lang="en-US" sz="800" dirty="0"/>
          </a:p>
        </p:txBody>
      </p:sp>
      <p:sp>
        <p:nvSpPr>
          <p:cNvPr id="25" name="Shape 22"/>
          <p:cNvSpPr/>
          <p:nvPr/>
        </p:nvSpPr>
        <p:spPr>
          <a:xfrm>
            <a:off x="731520" y="6400800"/>
            <a:ext cx="10698480" cy="0"/>
          </a:xfrm>
          <a:prstGeom prst="line">
            <a:avLst/>
          </a:prstGeom>
          <a:noFill/>
          <a:ln w="12700">
            <a:solidFill>
              <a:srgbClr val="2A374F"/>
            </a:solidFill>
            <a:prstDash val="solid"/>
          </a:ln>
        </p:spPr>
      </p:sp>
      <p:sp>
        <p:nvSpPr>
          <p:cNvPr id="26" name="Text 23"/>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27" name="Text 24"/>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28" name="Text 2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38 / 50</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39 • Chương 4: Thực Hành &amp; Hành Trang</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Workshop Thực Hành Kỹ Thuật: 20 Phút Thử Nghiệm Chuyên Đề</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Áp dụng phương pháp luận học thuật vào ba bài toán kỹ thuật chuyên sâu tại hội trường</a:t>
            </a:r>
            <a:endParaRPr lang="en-US" sz="1150" dirty="0"/>
          </a:p>
        </p:txBody>
      </p:sp>
      <p:sp>
        <p:nvSpPr>
          <p:cNvPr id="6" name="Shape 4"/>
          <p:cNvSpPr/>
          <p:nvPr/>
        </p:nvSpPr>
        <p:spPr>
          <a:xfrm>
            <a:off x="731520" y="1828800"/>
            <a:ext cx="6583680" cy="4206240"/>
          </a:xfrm>
          <a:prstGeom prst="roundRect">
            <a:avLst>
              <a:gd name="adj" fmla="val 2609"/>
            </a:avLst>
          </a:prstGeom>
          <a:solidFill>
            <a:srgbClr val="161F33"/>
          </a:solidFill>
          <a:ln w="12700">
            <a:solidFill>
              <a:srgbClr val="2A374F"/>
            </a:solidFill>
            <a:prstDash val="solid"/>
          </a:ln>
        </p:spPr>
      </p:sp>
      <p:sp>
        <p:nvSpPr>
          <p:cNvPr id="7" name="Text 5"/>
          <p:cNvSpPr/>
          <p:nvPr/>
        </p:nvSpPr>
        <p:spPr>
          <a:xfrm>
            <a:off x="914400" y="2011680"/>
            <a:ext cx="6217920" cy="365760"/>
          </a:xfrm>
          <a:prstGeom prst="rect">
            <a:avLst/>
          </a:prstGeom>
          <a:noFill/>
          <a:ln/>
        </p:spPr>
        <p:txBody>
          <a:bodyPr wrap="square" rtlCol="0" anchor="ctr"/>
          <a:lstStyle/>
          <a:p>
            <a:pPr indent="0" marL="0">
              <a:buNone/>
            </a:pPr>
            <a:r>
              <a:rPr lang="en-US" sz="1300" b="1" dirty="0">
                <a:solidFill>
                  <a:srgbClr val="F59E0B"/>
                </a:solidFill>
                <a:latin typeface="Arial" pitchFamily="34" charset="0"/>
                <a:ea typeface="Arial" pitchFamily="34" charset="-122"/>
                <a:cs typeface="Arial" pitchFamily="34" charset="-120"/>
              </a:rPr>
              <a:t>⚡ THỰC HÀNH TẠI CHỖ: Workshop Thực Hành Kỹ Thuật: 20 Phút Thử Nghiệm Chuyên Đề</a:t>
            </a:r>
            <a:endParaRPr lang="en-US" sz="1300" dirty="0"/>
          </a:p>
        </p:txBody>
      </p:sp>
      <p:sp>
        <p:nvSpPr>
          <p:cNvPr id="8" name="Text 6"/>
          <p:cNvSpPr/>
          <p:nvPr/>
        </p:nvSpPr>
        <p:spPr>
          <a:xfrm>
            <a:off x="914400" y="2468880"/>
            <a:ext cx="6217920" cy="338328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Tiến hành bài tập thực hành theo hướng dẫn.</a:t>
            </a:r>
            <a:endParaRPr lang="en-US" sz="1050" dirty="0"/>
          </a:p>
        </p:txBody>
      </p:sp>
      <p:pic>
        <p:nvPicPr>
          <p:cNvPr id="9" name="Image 0" descr="D:\Linh tinh\web_thay_thuan\assets\images\slide-39-honor-code.jpg">    </p:cNvPr>
          <p:cNvPicPr>
            <a:picLocks noChangeAspect="1"/>
          </p:cNvPicPr>
          <p:nvPr/>
        </p:nvPicPr>
        <p:blipFill>
          <a:blip r:embed="rId1"/>
          <a:srcRect l="0" r="0" t="0" b="0"/>
          <a:stretch/>
        </p:blipFill>
        <p:spPr>
          <a:xfrm>
            <a:off x="7589520" y="1828800"/>
            <a:ext cx="3840480" cy="4206240"/>
          </a:xfrm>
          <a:prstGeom prst="rect">
            <a:avLst/>
          </a:prstGeom>
        </p:spPr>
      </p:pic>
      <p:sp>
        <p:nvSpPr>
          <p:cNvPr id="10" name="Shape 7"/>
          <p:cNvSpPr/>
          <p:nvPr/>
        </p:nvSpPr>
        <p:spPr>
          <a:xfrm>
            <a:off x="731520" y="6400800"/>
            <a:ext cx="10698480" cy="0"/>
          </a:xfrm>
          <a:prstGeom prst="line">
            <a:avLst/>
          </a:prstGeom>
          <a:noFill/>
          <a:ln w="12700">
            <a:solidFill>
              <a:srgbClr val="2A374F"/>
            </a:solidFill>
            <a:prstDash val="solid"/>
          </a:ln>
        </p:spPr>
      </p:sp>
      <p:sp>
        <p:nvSpPr>
          <p:cNvPr id="11" name="Text 8"/>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2" name="Text 9"/>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3" name="Text 10"/>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39 / 50</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40 • Chương 4: Thực Hành &amp; Hành Trang</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Workshop Chuyên Đề 1: Kiểm Thử An Ninh Mã Nguồn C/C++</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Thực hành phát hiện và xử lý lỗ hổng tràn bộ đệm đối với hàm chuỗi nguy hiểm</a:t>
            </a:r>
            <a:endParaRPr lang="en-US" sz="1150" dirty="0"/>
          </a:p>
        </p:txBody>
      </p:sp>
      <p:sp>
        <p:nvSpPr>
          <p:cNvPr id="6" name="Shape 4"/>
          <p:cNvSpPr/>
          <p:nvPr/>
        </p:nvSpPr>
        <p:spPr>
          <a:xfrm>
            <a:off x="731520" y="1828800"/>
            <a:ext cx="6217920" cy="4206240"/>
          </a:xfrm>
          <a:prstGeom prst="roundRect">
            <a:avLst>
              <a:gd name="adj" fmla="val 2174"/>
            </a:avLst>
          </a:prstGeom>
          <a:solidFill>
            <a:srgbClr val="050A14"/>
          </a:solidFill>
          <a:ln w="12700">
            <a:solidFill>
              <a:srgbClr val="1E3A5F"/>
            </a:solidFill>
            <a:prstDash val="solid"/>
          </a:ln>
        </p:spPr>
      </p:sp>
      <p:sp>
        <p:nvSpPr>
          <p:cNvPr id="7" name="Text 5"/>
          <p:cNvSpPr/>
          <p:nvPr/>
        </p:nvSpPr>
        <p:spPr>
          <a:xfrm>
            <a:off x="914400" y="1965960"/>
            <a:ext cx="5852160" cy="320040"/>
          </a:xfrm>
          <a:prstGeom prst="rect">
            <a:avLst/>
          </a:prstGeom>
          <a:noFill/>
          <a:ln/>
        </p:spPr>
        <p:txBody>
          <a:bodyPr wrap="square" rtlCol="0" anchor="ctr"/>
          <a:lstStyle/>
          <a:p>
            <a:pPr indent="0" marL="0">
              <a:buNone/>
            </a:pPr>
            <a:r>
              <a:rPr lang="en-US" sz="950" b="1" dirty="0">
                <a:solidFill>
                  <a:srgbClr val="38BDF8"/>
                </a:solidFill>
                <a:latin typeface="Courier New" pitchFamily="34" charset="0"/>
                <a:ea typeface="Courier New" pitchFamily="34" charset="-122"/>
                <a:cs typeface="Courier New" pitchFamily="34" charset="-120"/>
              </a:rPr>
              <a:t>💻 Mã nguồn minh họa (C++):</a:t>
            </a:r>
            <a:endParaRPr lang="en-US" sz="950" dirty="0"/>
          </a:p>
        </p:txBody>
      </p:sp>
      <p:sp>
        <p:nvSpPr>
          <p:cNvPr id="8" name="Text 6"/>
          <p:cNvSpPr/>
          <p:nvPr/>
        </p:nvSpPr>
        <p:spPr>
          <a:xfrm>
            <a:off x="914400" y="2331720"/>
            <a:ext cx="5852160" cy="3474720"/>
          </a:xfrm>
          <a:prstGeom prst="rect">
            <a:avLst/>
          </a:prstGeom>
          <a:noFill/>
          <a:ln/>
        </p:spPr>
        <p:txBody>
          <a:bodyPr wrap="square" rtlCol="0" anchor="ctr"/>
          <a:lstStyle/>
          <a:p>
            <a:pPr indent="0" marL="0">
              <a:buNone/>
            </a:pPr>
            <a:r>
              <a:rPr lang="en-US" sz="900" dirty="0">
                <a:solidFill>
                  <a:srgbClr val="A7F3D0"/>
                </a:solidFill>
                <a:latin typeface="Courier New" pitchFamily="34" charset="0"/>
                <a:ea typeface="Courier New" pitchFamily="34" charset="-122"/>
                <a:cs typeface="Courier New" pitchFamily="34" charset="-120"/>
              </a:rPr>
              <a:t>// Demo code</a:t>
            </a:r>
            <a:endParaRPr lang="en-US" sz="900" dirty="0"/>
          </a:p>
          <a:p>
            <a:pPr indent="0" marL="0">
              <a:buNone/>
            </a:pPr>
            <a:r>
              <a:rPr lang="en-US" sz="900" dirty="0">
                <a:solidFill>
                  <a:srgbClr val="A7F3D0"/>
                </a:solidFill>
                <a:latin typeface="Courier New" pitchFamily="34" charset="0"/>
                <a:ea typeface="Courier New" pitchFamily="34" charset="-122"/>
                <a:cs typeface="Courier New" pitchFamily="34" charset="-120"/>
              </a:rPr>
              <a:t>int main() { return 0; }</a:t>
            </a:r>
            <a:endParaRPr lang="en-US" sz="900" dirty="0"/>
          </a:p>
        </p:txBody>
      </p:sp>
      <p:sp>
        <p:nvSpPr>
          <p:cNvPr id="9" name="Shape 7"/>
          <p:cNvSpPr/>
          <p:nvPr/>
        </p:nvSpPr>
        <p:spPr>
          <a:xfrm>
            <a:off x="7132320" y="1828800"/>
            <a:ext cx="4297680" cy="4206240"/>
          </a:xfrm>
          <a:prstGeom prst="roundRect">
            <a:avLst>
              <a:gd name="adj" fmla="val 2174"/>
            </a:avLst>
          </a:prstGeom>
          <a:solidFill>
            <a:srgbClr val="161F33"/>
          </a:solidFill>
          <a:ln w="12700">
            <a:solidFill>
              <a:srgbClr val="2A374F"/>
            </a:solidFill>
            <a:prstDash val="solid"/>
          </a:ln>
        </p:spPr>
      </p:sp>
      <p:sp>
        <p:nvSpPr>
          <p:cNvPr id="10" name="Text 8"/>
          <p:cNvSpPr/>
          <p:nvPr/>
        </p:nvSpPr>
        <p:spPr>
          <a:xfrm>
            <a:off x="7315200" y="2011680"/>
            <a:ext cx="3931920" cy="320040"/>
          </a:xfrm>
          <a:prstGeom prst="rect">
            <a:avLst/>
          </a:prstGeom>
          <a:noFill/>
          <a:ln/>
        </p:spPr>
        <p:txBody>
          <a:bodyPr wrap="square" rtlCol="0" anchor="ctr"/>
          <a:lstStyle/>
          <a:p>
            <a:pPr indent="0" marL="0">
              <a:buNone/>
            </a:pPr>
            <a:r>
              <a:rPr lang="en-US" sz="1100" b="1" dirty="0">
                <a:solidFill>
                  <a:srgbClr val="F59E0B"/>
                </a:solidFill>
                <a:latin typeface="Arial" pitchFamily="34" charset="0"/>
                <a:ea typeface="Arial" pitchFamily="34" charset="-122"/>
                <a:cs typeface="Arial" pitchFamily="34" charset="-120"/>
              </a:rPr>
              <a:t>PHÂN TÍCH THUẬT TOÁN</a:t>
            </a:r>
            <a:endParaRPr lang="en-US" sz="1100" dirty="0"/>
          </a:p>
        </p:txBody>
      </p:sp>
      <p:sp>
        <p:nvSpPr>
          <p:cNvPr id="11" name="Text 9"/>
          <p:cNvSpPr/>
          <p:nvPr/>
        </p:nvSpPr>
        <p:spPr>
          <a:xfrm>
            <a:off x="7315200" y="2423160"/>
            <a:ext cx="3931920" cy="3383280"/>
          </a:xfrm>
          <a:prstGeom prst="rect">
            <a:avLst/>
          </a:prstGeom>
          <a:noFill/>
          <a:ln/>
        </p:spPr>
        <p:txBody>
          <a:bodyPr wrap="square" rtlCol="0" anchor="ctr"/>
          <a:lstStyle/>
          <a:p>
            <a:pPr indent="0" marL="0">
              <a:buNone/>
            </a:pPr>
            <a:r>
              <a:rPr lang="en-US" sz="1000" b="1" dirty="0">
                <a:solidFill>
                  <a:srgbClr val="38BDF8"/>
                </a:solidFill>
                <a:latin typeface="Calibri" pitchFamily="34" charset="0"/>
                <a:ea typeface="Calibri" pitchFamily="34" charset="-122"/>
                <a:cs typeface="Calibri" pitchFamily="34" charset="-120"/>
              </a:rPr>
              <a:t>Nguyên lý hoạt động:
</a:t>
            </a:r>
            <a:pPr indent="0" marL="0">
              <a:buNone/>
            </a:pPr>
            <a:r>
              <a:rPr lang="en-US" sz="950" dirty="0">
                <a:solidFill>
                  <a:srgbClr val="FFFFFF"/>
                </a:solidFill>
                <a:latin typeface="Calibri" pitchFamily="34" charset="0"/>
                <a:ea typeface="Calibri" pitchFamily="34" charset="-122"/>
                <a:cs typeface="Calibri" pitchFamily="34" charset="-120"/>
              </a:rPr>
              <a:t>
</a:t>
            </a:r>
            <a:pPr indent="0" marL="0">
              <a:buNone/>
            </a:pPr>
            <a:r>
              <a:rPr lang="en-US" sz="1000" b="1" dirty="0">
                <a:solidFill>
                  <a:srgbClr val="10B981"/>
                </a:solidFill>
                <a:latin typeface="Calibri" pitchFamily="34" charset="0"/>
                <a:ea typeface="Calibri" pitchFamily="34" charset="-122"/>
                <a:cs typeface="Calibri" pitchFamily="34" charset="-120"/>
              </a:rPr>
              <a:t>Kết quả thực nghiệm:
</a:t>
            </a:r>
            <a:pPr indent="0" marL="0">
              <a:buNone/>
            </a:pPr>
            <a:r>
              <a:rPr lang="en-US" sz="900" dirty="0">
                <a:solidFill>
                  <a:srgbClr val="94A3B8"/>
                </a:solidFill>
                <a:latin typeface="Calibri" pitchFamily="34" charset="0"/>
                <a:ea typeface="Calibri" pitchFamily="34" charset="-122"/>
                <a:cs typeface="Calibri" pitchFamily="34" charset="-120"/>
              </a:rPr>
              <a:t>
</a:t>
            </a:r>
            <a:pPr indent="0" marL="0">
              <a:buNone/>
            </a:pPr>
            <a:r>
              <a:rPr lang="en-US" sz="1000" b="1" dirty="0">
                <a:solidFill>
                  <a:srgbClr val="F59E0B"/>
                </a:solidFill>
                <a:latin typeface="Calibri" pitchFamily="34" charset="0"/>
                <a:ea typeface="Calibri" pitchFamily="34" charset="-122"/>
                <a:cs typeface="Calibri" pitchFamily="34" charset="-120"/>
              </a:rPr>
              <a:t>Lưu ý cho lập trình viên:
</a:t>
            </a:r>
            <a:pPr indent="0" marL="0">
              <a:buNone/>
            </a:pPr>
            <a:endParaRPr lang="en-US" sz="1000" dirty="0"/>
          </a:p>
        </p:txBody>
      </p:sp>
      <p:sp>
        <p:nvSpPr>
          <p:cNvPr id="12" name="Shape 10"/>
          <p:cNvSpPr/>
          <p:nvPr/>
        </p:nvSpPr>
        <p:spPr>
          <a:xfrm>
            <a:off x="731520" y="6400800"/>
            <a:ext cx="10698480" cy="0"/>
          </a:xfrm>
          <a:prstGeom prst="line">
            <a:avLst/>
          </a:prstGeom>
          <a:noFill/>
          <a:ln w="12700">
            <a:solidFill>
              <a:srgbClr val="2A374F"/>
            </a:solidFill>
            <a:prstDash val="solid"/>
          </a:ln>
        </p:spPr>
      </p:sp>
      <p:sp>
        <p:nvSpPr>
          <p:cNvPr id="13" name="Text 11"/>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4" name="Text 12"/>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5" name="Text 13"/>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40 / 50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41 • Chương 4: Thực Hành &amp; Hành Trang</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Workshop Chuyên Đề 2: Khảo Cứu Học Thuật Về Mật Mã Khóa Công Khai</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Thực hành đối chiếu hiệu năng giữa RSA và Elliptic Curve Cryptography (ECC) trên Semantic Scholar</a:t>
            </a:r>
            <a:endParaRPr lang="en-US" sz="1150" dirty="0"/>
          </a:p>
        </p:txBody>
      </p:sp>
      <p:sp>
        <p:nvSpPr>
          <p:cNvPr id="6" name="Shape 4"/>
          <p:cNvSpPr/>
          <p:nvPr/>
        </p:nvSpPr>
        <p:spPr>
          <a:xfrm>
            <a:off x="731520" y="1828800"/>
            <a:ext cx="6583680" cy="1097280"/>
          </a:xfrm>
          <a:prstGeom prst="roundRect">
            <a:avLst>
              <a:gd name="adj" fmla="val 8333"/>
            </a:avLst>
          </a:prstGeom>
          <a:solidFill>
            <a:srgbClr val="161F33"/>
          </a:solidFill>
          <a:ln w="12700">
            <a:solidFill>
              <a:srgbClr val="2A374F"/>
            </a:solidFill>
            <a:prstDash val="solid"/>
          </a:ln>
        </p:spPr>
      </p:sp>
      <p:sp>
        <p:nvSpPr>
          <p:cNvPr id="7" name="Text 5"/>
          <p:cNvSpPr/>
          <p:nvPr/>
        </p:nvSpPr>
        <p:spPr>
          <a:xfrm>
            <a:off x="914400" y="190195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1  Nhiệm vụ tra cứu học thuật độc lập
</a:t>
            </a:r>
            <a:pPr indent="0" marL="0">
              <a:buNone/>
            </a:pPr>
            <a:r>
              <a:rPr lang="en-US" sz="1000" dirty="0">
                <a:solidFill>
                  <a:srgbClr val="FFFFFF"/>
                </a:solidFill>
                <a:latin typeface="Calibri" pitchFamily="34" charset="0"/>
                <a:ea typeface="Calibri" pitchFamily="34" charset="-122"/>
                <a:cs typeface="Calibri" pitchFamily="34" charset="-120"/>
              </a:rPr>
              <a:t>Truy cập cơ sở dữ liệu Semantic Scholar, tìm kiếm 3 bài báo khoa học xuất bản trên các tạp chí IEEE/ACM so sánh chi phí tính toán giữa RSA và ECC.</a:t>
            </a:r>
            <a:endParaRPr lang="en-US" sz="1100" dirty="0"/>
          </a:p>
        </p:txBody>
      </p:sp>
      <p:sp>
        <p:nvSpPr>
          <p:cNvPr id="8" name="Shape 6"/>
          <p:cNvSpPr/>
          <p:nvPr/>
        </p:nvSpPr>
        <p:spPr>
          <a:xfrm>
            <a:off x="731520" y="3017520"/>
            <a:ext cx="6583680" cy="1097280"/>
          </a:xfrm>
          <a:prstGeom prst="roundRect">
            <a:avLst>
              <a:gd name="adj" fmla="val 8333"/>
            </a:avLst>
          </a:prstGeom>
          <a:solidFill>
            <a:srgbClr val="161F33"/>
          </a:solidFill>
          <a:ln w="12700">
            <a:solidFill>
              <a:srgbClr val="2A374F"/>
            </a:solidFill>
            <a:prstDash val="solid"/>
          </a:ln>
        </p:spPr>
      </p:sp>
      <p:sp>
        <p:nvSpPr>
          <p:cNvPr id="9" name="Text 7"/>
          <p:cNvSpPr/>
          <p:nvPr/>
        </p:nvSpPr>
        <p:spPr>
          <a:xfrm>
            <a:off x="914400" y="309067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2  Trích xuất bảng tham số an toàn chuẩn NIST
</a:t>
            </a:r>
            <a:pPr indent="0" marL="0">
              <a:buNone/>
            </a:pPr>
            <a:r>
              <a:rPr lang="en-US" sz="1000" dirty="0">
                <a:solidFill>
                  <a:srgbClr val="FFFFFF"/>
                </a:solidFill>
                <a:latin typeface="Calibri" pitchFamily="34" charset="0"/>
                <a:ea typeface="Calibri" pitchFamily="34" charset="-122"/>
                <a:cs typeface="Calibri" pitchFamily="34" charset="-120"/>
              </a:rPr>
              <a:t>Xác thực mức an toàn: Để đạt mức bảo mật tương đương 128-bit security, hệ mật RSA yêu cầu kích thước khóa 3072 bits, trong khi hệ mật ECC chỉ yêu cầu khóa 256 bits.</a:t>
            </a:r>
            <a:endParaRPr lang="en-US" sz="1100" dirty="0"/>
          </a:p>
        </p:txBody>
      </p:sp>
      <p:sp>
        <p:nvSpPr>
          <p:cNvPr id="10" name="Shape 8"/>
          <p:cNvSpPr/>
          <p:nvPr/>
        </p:nvSpPr>
        <p:spPr>
          <a:xfrm>
            <a:off x="731520" y="4206240"/>
            <a:ext cx="6583680" cy="1097280"/>
          </a:xfrm>
          <a:prstGeom prst="roundRect">
            <a:avLst>
              <a:gd name="adj" fmla="val 8333"/>
            </a:avLst>
          </a:prstGeom>
          <a:solidFill>
            <a:srgbClr val="161F33"/>
          </a:solidFill>
          <a:ln w="12700">
            <a:solidFill>
              <a:srgbClr val="2A374F"/>
            </a:solidFill>
            <a:prstDash val="solid"/>
          </a:ln>
        </p:spPr>
      </p:sp>
      <p:sp>
        <p:nvSpPr>
          <p:cNvPr id="11" name="Text 9"/>
          <p:cNvSpPr/>
          <p:nvPr/>
        </p:nvSpPr>
        <p:spPr>
          <a:xfrm>
            <a:off x="914400" y="427939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3  Thực nghiệm đối chứng hiện tượng ảo giác
</a:t>
            </a:r>
            <a:pPr indent="0" marL="0">
              <a:buNone/>
            </a:pPr>
            <a:r>
              <a:rPr lang="en-US" sz="1000" dirty="0">
                <a:solidFill>
                  <a:srgbClr val="FFFFFF"/>
                </a:solidFill>
                <a:latin typeface="Calibri" pitchFamily="34" charset="0"/>
                <a:ea typeface="Calibri" pitchFamily="34" charset="-122"/>
                <a:cs typeface="Calibri" pitchFamily="34" charset="-120"/>
              </a:rPr>
              <a:t>Đặt cùng câu hỏi tra cứu trên một mô hình LLM thông thường và kiểm tra mã DOI của các bài báo được gợi ý trên cổng `doi.org` để đo lường tỷ lệ ảo giác thực tế.</a:t>
            </a:r>
            <a:endParaRPr lang="en-US" sz="1100" dirty="0"/>
          </a:p>
        </p:txBody>
      </p:sp>
      <p:sp>
        <p:nvSpPr>
          <p:cNvPr id="12" name="Shape 10"/>
          <p:cNvSpPr/>
          <p:nvPr/>
        </p:nvSpPr>
        <p:spPr>
          <a:xfrm>
            <a:off x="731520" y="5440680"/>
            <a:ext cx="6583680" cy="594360"/>
          </a:xfrm>
          <a:prstGeom prst="roundRect">
            <a:avLst>
              <a:gd name="adj" fmla="val 12308"/>
            </a:avLst>
          </a:prstGeom>
          <a:solidFill>
            <a:srgbClr val="111F38"/>
          </a:solidFill>
          <a:ln w="12700">
            <a:solidFill>
              <a:srgbClr val="38BDF8"/>
            </a:solidFill>
            <a:prstDash val="solid"/>
          </a:ln>
        </p:spPr>
      </p:sp>
      <p:sp>
        <p:nvSpPr>
          <p:cNvPr id="13" name="Text 11"/>
          <p:cNvSpPr/>
          <p:nvPr/>
        </p:nvSpPr>
        <p:spPr>
          <a:xfrm>
            <a:off x="868680" y="5440680"/>
            <a:ext cx="6309360" cy="594360"/>
          </a:xfrm>
          <a:prstGeom prst="rect">
            <a:avLst/>
          </a:prstGeom>
          <a:noFill/>
          <a:ln/>
        </p:spPr>
        <p:txBody>
          <a:bodyPr wrap="square" rtlCol="0" anchor="ctr"/>
          <a:lstStyle/>
          <a:p>
            <a:pPr indent="0" marL="0">
              <a:buNone/>
            </a:pPr>
            <a:r>
              <a:rPr lang="en-US" sz="950" i="1" dirty="0">
                <a:solidFill>
                  <a:srgbClr val="38BDF8"/>
                </a:solidFill>
                <a:latin typeface="Calibri" pitchFamily="34" charset="0"/>
                <a:ea typeface="Calibri" pitchFamily="34" charset="-122"/>
                <a:cs typeface="Calibri" pitchFamily="34" charset="-120"/>
              </a:rPr>
              <a:t>💡 Điểm cốt lõi: Mục tiêu chuyên đề 2: Xác lập phương pháp luận khảo cứu học thuật chuẩn mực, phân biệt rõ giữa dữ liệu nghiên cứu có thẩm định và nội dung do mô hình tạo sinh tự suy diễn.</a:t>
            </a:r>
            <a:endParaRPr lang="en-US" sz="950" dirty="0"/>
          </a:p>
        </p:txBody>
      </p:sp>
      <p:pic>
        <p:nvPicPr>
          <p:cNvPr id="14" name="Image 0" descr="D:\Linh tinh\web_thay_thuan\assets\images\slide-41-step1-problem.jpg">    </p:cNvPr>
          <p:cNvPicPr>
            <a:picLocks noChangeAspect="1"/>
          </p:cNvPicPr>
          <p:nvPr/>
        </p:nvPicPr>
        <p:blipFill>
          <a:blip r:embed="rId1"/>
          <a:srcRect l="0" r="0" t="0" b="0"/>
          <a:stretch/>
        </p:blipFill>
        <p:spPr>
          <a:xfrm>
            <a:off x="7589520" y="1737360"/>
            <a:ext cx="3840480" cy="4389120"/>
          </a:xfrm>
          <a:prstGeom prst="rect">
            <a:avLst/>
          </a:prstGeom>
        </p:spPr>
      </p:pic>
      <p:sp>
        <p:nvSpPr>
          <p:cNvPr id="15" name="Text 12"/>
          <p:cNvSpPr/>
          <p:nvPr/>
        </p:nvSpPr>
        <p:spPr>
          <a:xfrm>
            <a:off x="7589520" y="5897880"/>
            <a:ext cx="3840480" cy="320040"/>
          </a:xfrm>
          <a:prstGeom prst="rect">
            <a:avLst/>
          </a:prstGeom>
          <a:noFill/>
          <a:ln/>
        </p:spPr>
        <p:txBody>
          <a:bodyPr wrap="square"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Khảo sát tài liệu học thuật về mật mã khóa công khai</a:t>
            </a:r>
            <a:endParaRPr lang="en-US" sz="800" dirty="0"/>
          </a:p>
        </p:txBody>
      </p:sp>
      <p:sp>
        <p:nvSpPr>
          <p:cNvPr id="16" name="Shape 13"/>
          <p:cNvSpPr/>
          <p:nvPr/>
        </p:nvSpPr>
        <p:spPr>
          <a:xfrm>
            <a:off x="731520" y="6400800"/>
            <a:ext cx="10698480" cy="0"/>
          </a:xfrm>
          <a:prstGeom prst="line">
            <a:avLst/>
          </a:prstGeom>
          <a:noFill/>
          <a:ln w="12700">
            <a:solidFill>
              <a:srgbClr val="2A374F"/>
            </a:solidFill>
            <a:prstDash val="solid"/>
          </a:ln>
        </p:spPr>
      </p:sp>
      <p:sp>
        <p:nvSpPr>
          <p:cNvPr id="17" name="Text 14"/>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8" name="Text 15"/>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9" name="Text 16"/>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41 / 50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42 • Chương 4: Thực Hành &amp; Hành Trang</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Workshop Chuyên Đề 3: Thiết Kế Chuỗi Suy Luận Về Cây Đỏ-Đen</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Ứng dụng Chain-of-Thought Prompting để phân tích giải thuật tự cân bằng của Red-Black Tree</a:t>
            </a:r>
            <a:endParaRPr lang="en-US" sz="1150" dirty="0"/>
          </a:p>
        </p:txBody>
      </p:sp>
      <p:sp>
        <p:nvSpPr>
          <p:cNvPr id="6" name="Shape 4"/>
          <p:cNvSpPr/>
          <p:nvPr/>
        </p:nvSpPr>
        <p:spPr>
          <a:xfrm>
            <a:off x="731520" y="1828800"/>
            <a:ext cx="6583680" cy="1097280"/>
          </a:xfrm>
          <a:prstGeom prst="roundRect">
            <a:avLst>
              <a:gd name="adj" fmla="val 8333"/>
            </a:avLst>
          </a:prstGeom>
          <a:solidFill>
            <a:srgbClr val="161F33"/>
          </a:solidFill>
          <a:ln w="12700">
            <a:solidFill>
              <a:srgbClr val="2A374F"/>
            </a:solidFill>
            <a:prstDash val="solid"/>
          </a:ln>
        </p:spPr>
      </p:sp>
      <p:sp>
        <p:nvSpPr>
          <p:cNvPr id="7" name="Text 5"/>
          <p:cNvSpPr/>
          <p:nvPr/>
        </p:nvSpPr>
        <p:spPr>
          <a:xfrm>
            <a:off x="914400" y="190195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Hiện tượng suy biến của Cây nhị phân tìm kiếm (BST)
</a:t>
            </a:r>
            <a:pPr indent="0" marL="0">
              <a:buNone/>
            </a:pPr>
            <a:r>
              <a:rPr lang="en-US" sz="1000" dirty="0">
                <a:solidFill>
                  <a:srgbClr val="FFFFFF"/>
                </a:solidFill>
                <a:latin typeface="Calibri" pitchFamily="34" charset="0"/>
                <a:ea typeface="Calibri" pitchFamily="34" charset="-122"/>
                <a:cs typeface="Calibri" pitchFamily="34" charset="-120"/>
              </a:rPr>
              <a:t>Khi dữ liệu đầu vào có thứ tự tăng dần, cây BST thông thường suy biến thành danh sách liên kết, chi phí tra cứu tăng vọt từ O(log N) lên O(N).</a:t>
            </a:r>
            <a:endParaRPr lang="en-US" sz="1100" dirty="0"/>
          </a:p>
        </p:txBody>
      </p:sp>
      <p:sp>
        <p:nvSpPr>
          <p:cNvPr id="8" name="Shape 6"/>
          <p:cNvSpPr/>
          <p:nvPr/>
        </p:nvSpPr>
        <p:spPr>
          <a:xfrm>
            <a:off x="731520" y="3017520"/>
            <a:ext cx="6583680" cy="1097280"/>
          </a:xfrm>
          <a:prstGeom prst="roundRect">
            <a:avLst>
              <a:gd name="adj" fmla="val 8333"/>
            </a:avLst>
          </a:prstGeom>
          <a:solidFill>
            <a:srgbClr val="161F33"/>
          </a:solidFill>
          <a:ln w="12700">
            <a:solidFill>
              <a:srgbClr val="2A374F"/>
            </a:solidFill>
            <a:prstDash val="solid"/>
          </a:ln>
        </p:spPr>
      </p:sp>
      <p:sp>
        <p:nvSpPr>
          <p:cNvPr id="9" name="Text 7"/>
          <p:cNvSpPr/>
          <p:nvPr/>
        </p:nvSpPr>
        <p:spPr>
          <a:xfrm>
            <a:off x="914400" y="309067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Thiết kế chuỗi suy luận phân tích thao tác cân bằng
</a:t>
            </a:r>
            <a:pPr indent="0" marL="0">
              <a:buNone/>
            </a:pPr>
            <a:r>
              <a:rPr lang="en-US" sz="1000" dirty="0">
                <a:solidFill>
                  <a:srgbClr val="FFFFFF"/>
                </a:solidFill>
                <a:latin typeface="Calibri" pitchFamily="34" charset="0"/>
                <a:ea typeface="Calibri" pitchFamily="34" charset="-122"/>
                <a:cs typeface="Calibri" pitchFamily="34" charset="-120"/>
              </a:rPr>
              <a:t>Prompt CoT: "Phân tích từng bước thao tác Xoay Trái (Left Rotation) và Đổi Màu (Color Flip) khi chèn một nút mới vi phạm tính chất Cây Đỏ-Đen. Yêu cầu vẽ sơ đồ ASCII từng trạng thái chuyển đổi con trỏ."</a:t>
            </a:r>
            <a:endParaRPr lang="en-US" sz="1100" dirty="0"/>
          </a:p>
        </p:txBody>
      </p:sp>
      <p:sp>
        <p:nvSpPr>
          <p:cNvPr id="10" name="Shape 8"/>
          <p:cNvSpPr/>
          <p:nvPr/>
        </p:nvSpPr>
        <p:spPr>
          <a:xfrm>
            <a:off x="731520" y="4206240"/>
            <a:ext cx="6583680" cy="1097280"/>
          </a:xfrm>
          <a:prstGeom prst="roundRect">
            <a:avLst>
              <a:gd name="adj" fmla="val 8333"/>
            </a:avLst>
          </a:prstGeom>
          <a:solidFill>
            <a:srgbClr val="161F33"/>
          </a:solidFill>
          <a:ln w="12700">
            <a:solidFill>
              <a:srgbClr val="2A374F"/>
            </a:solidFill>
            <a:prstDash val="solid"/>
          </a:ln>
        </p:spPr>
      </p:sp>
      <p:sp>
        <p:nvSpPr>
          <p:cNvPr id="11" name="Text 9"/>
          <p:cNvSpPr/>
          <p:nvPr/>
        </p:nvSpPr>
        <p:spPr>
          <a:xfrm>
            <a:off x="914400" y="4279392"/>
            <a:ext cx="6217920" cy="950976"/>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Kiểm tra tính bất biến (Invariant Properties)
</a:t>
            </a:r>
            <a:pPr indent="0" marL="0">
              <a:buNone/>
            </a:pPr>
            <a:r>
              <a:rPr lang="en-US" sz="1000" dirty="0">
                <a:solidFill>
                  <a:srgbClr val="FFFFFF"/>
                </a:solidFill>
                <a:latin typeface="Calibri" pitchFamily="34" charset="0"/>
                <a:ea typeface="Calibri" pitchFamily="34" charset="-122"/>
                <a:cs typeface="Calibri" pitchFamily="34" charset="-120"/>
              </a:rPr>
              <a:t>Thẩm định xem giải thích của AI có duy trì đúng 5 thuộc tính bắt buộc của Cây Đỏ-Đen (đặc biệt là thuộc tính Black-Height không đổi trên mọi đường đi từ gốc tới lá) hay không.</a:t>
            </a:r>
            <a:endParaRPr lang="en-US" sz="1100" dirty="0"/>
          </a:p>
        </p:txBody>
      </p:sp>
      <p:sp>
        <p:nvSpPr>
          <p:cNvPr id="12" name="Shape 10"/>
          <p:cNvSpPr/>
          <p:nvPr/>
        </p:nvSpPr>
        <p:spPr>
          <a:xfrm>
            <a:off x="731520" y="5440680"/>
            <a:ext cx="6583680" cy="594360"/>
          </a:xfrm>
          <a:prstGeom prst="roundRect">
            <a:avLst>
              <a:gd name="adj" fmla="val 12308"/>
            </a:avLst>
          </a:prstGeom>
          <a:solidFill>
            <a:srgbClr val="111F38"/>
          </a:solidFill>
          <a:ln w="12700">
            <a:solidFill>
              <a:srgbClr val="38BDF8"/>
            </a:solidFill>
            <a:prstDash val="solid"/>
          </a:ln>
        </p:spPr>
      </p:sp>
      <p:sp>
        <p:nvSpPr>
          <p:cNvPr id="13" name="Text 11"/>
          <p:cNvSpPr/>
          <p:nvPr/>
        </p:nvSpPr>
        <p:spPr>
          <a:xfrm>
            <a:off x="868680" y="5440680"/>
            <a:ext cx="6309360" cy="594360"/>
          </a:xfrm>
          <a:prstGeom prst="rect">
            <a:avLst/>
          </a:prstGeom>
          <a:noFill/>
          <a:ln/>
        </p:spPr>
        <p:txBody>
          <a:bodyPr wrap="square" rtlCol="0" anchor="ctr"/>
          <a:lstStyle/>
          <a:p>
            <a:pPr indent="0" marL="0">
              <a:buNone/>
            </a:pPr>
            <a:r>
              <a:rPr lang="en-US" sz="950" i="1" dirty="0">
                <a:solidFill>
                  <a:srgbClr val="38BDF8"/>
                </a:solidFill>
                <a:latin typeface="Calibri" pitchFamily="34" charset="0"/>
                <a:ea typeface="Calibri" pitchFamily="34" charset="-122"/>
                <a:cs typeface="Calibri" pitchFamily="34" charset="-120"/>
              </a:rPr>
              <a:t>💡 Điểm cốt lõi: Mục tiêu chuyên đề 3: Sử dụng AI như công cụ trực quan hóa các giải thuật tự cân bằng phức tạp, phục vụ việc làm chủ cấu trúc dữ liệu nền tảng trong thư viện chuẩn STL.</a:t>
            </a:r>
            <a:endParaRPr lang="en-US" sz="950" dirty="0"/>
          </a:p>
        </p:txBody>
      </p:sp>
      <p:pic>
        <p:nvPicPr>
          <p:cNvPr id="14" name="Image 0" descr="D:\Linh tinh\web_thay_thuan\assets\images\slide-08-llm-models.jpg">    </p:cNvPr>
          <p:cNvPicPr>
            <a:picLocks noChangeAspect="1"/>
          </p:cNvPicPr>
          <p:nvPr/>
        </p:nvPicPr>
        <p:blipFill>
          <a:blip r:embed="rId1"/>
          <a:srcRect l="0" r="0" t="0" b="0"/>
          <a:stretch/>
        </p:blipFill>
        <p:spPr>
          <a:xfrm>
            <a:off x="7589520" y="1737360"/>
            <a:ext cx="3840480" cy="4389120"/>
          </a:xfrm>
          <a:prstGeom prst="rect">
            <a:avLst/>
          </a:prstGeom>
        </p:spPr>
      </p:pic>
      <p:sp>
        <p:nvSpPr>
          <p:cNvPr id="15" name="Text 12"/>
          <p:cNvSpPr/>
          <p:nvPr/>
        </p:nvSpPr>
        <p:spPr>
          <a:xfrm>
            <a:off x="7589520" y="5897880"/>
            <a:ext cx="3840480" cy="320040"/>
          </a:xfrm>
          <a:prstGeom prst="rect">
            <a:avLst/>
          </a:prstGeom>
          <a:noFill/>
          <a:ln/>
        </p:spPr>
        <p:txBody>
          <a:bodyPr wrap="square"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Phân tích cấu trúc dữ liệu tự cân bằng Cây Đỏ-Đen (Red-Black Tree)</a:t>
            </a:r>
            <a:endParaRPr lang="en-US" sz="800" dirty="0"/>
          </a:p>
        </p:txBody>
      </p:sp>
      <p:sp>
        <p:nvSpPr>
          <p:cNvPr id="16" name="Shape 13"/>
          <p:cNvSpPr/>
          <p:nvPr/>
        </p:nvSpPr>
        <p:spPr>
          <a:xfrm>
            <a:off x="731520" y="6400800"/>
            <a:ext cx="10698480" cy="0"/>
          </a:xfrm>
          <a:prstGeom prst="line">
            <a:avLst/>
          </a:prstGeom>
          <a:noFill/>
          <a:ln w="12700">
            <a:solidFill>
              <a:srgbClr val="2A374F"/>
            </a:solidFill>
            <a:prstDash val="solid"/>
          </a:ln>
        </p:spPr>
      </p:sp>
      <p:sp>
        <p:nvSpPr>
          <p:cNvPr id="17" name="Text 14"/>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8" name="Text 15"/>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9" name="Text 16"/>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42 / 50</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43 • Chương 4: Thực Hành &amp; Hành Trang</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Báo Cáo Thực Hành: Thảo Luận Kết Quả &amp; Đánh Giá Học Thuật</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Phiên báo cáo khoa học ngắn gọn: Đánh giá hiệu quả công cụ và các phát hiện sai lệch</a:t>
            </a:r>
            <a:endParaRPr lang="en-US" sz="1150" dirty="0"/>
          </a:p>
        </p:txBody>
      </p:sp>
      <p:sp>
        <p:nvSpPr>
          <p:cNvPr id="6" name="Shape 4"/>
          <p:cNvSpPr/>
          <p:nvPr/>
        </p:nvSpPr>
        <p:spPr>
          <a:xfrm>
            <a:off x="731520" y="1828800"/>
            <a:ext cx="6583680" cy="4206240"/>
          </a:xfrm>
          <a:prstGeom prst="roundRect">
            <a:avLst>
              <a:gd name="adj" fmla="val 2609"/>
            </a:avLst>
          </a:prstGeom>
          <a:solidFill>
            <a:srgbClr val="161F33"/>
          </a:solidFill>
          <a:ln w="12700">
            <a:solidFill>
              <a:srgbClr val="2A374F"/>
            </a:solidFill>
            <a:prstDash val="solid"/>
          </a:ln>
        </p:spPr>
      </p:sp>
      <p:sp>
        <p:nvSpPr>
          <p:cNvPr id="7" name="Text 5"/>
          <p:cNvSpPr/>
          <p:nvPr/>
        </p:nvSpPr>
        <p:spPr>
          <a:xfrm>
            <a:off x="914400" y="2011680"/>
            <a:ext cx="6217920" cy="365760"/>
          </a:xfrm>
          <a:prstGeom prst="rect">
            <a:avLst/>
          </a:prstGeom>
          <a:noFill/>
          <a:ln/>
        </p:spPr>
        <p:txBody>
          <a:bodyPr wrap="square" rtlCol="0" anchor="ctr"/>
          <a:lstStyle/>
          <a:p>
            <a:pPr indent="0" marL="0">
              <a:buNone/>
            </a:pPr>
            <a:r>
              <a:rPr lang="en-US" sz="1300" b="1" dirty="0">
                <a:solidFill>
                  <a:srgbClr val="F59E0B"/>
                </a:solidFill>
                <a:latin typeface="Arial" pitchFamily="34" charset="0"/>
                <a:ea typeface="Arial" pitchFamily="34" charset="-122"/>
                <a:cs typeface="Arial" pitchFamily="34" charset="-120"/>
              </a:rPr>
              <a:t>⚡ THỰC HÀNH TẠI CHỖ: Báo Cáo Thực Hành: Thảo Luận Kết Quả &amp; Đánh Giá Học Thuật</a:t>
            </a:r>
            <a:endParaRPr lang="en-US" sz="1300" dirty="0"/>
          </a:p>
        </p:txBody>
      </p:sp>
      <p:sp>
        <p:nvSpPr>
          <p:cNvPr id="8" name="Text 6"/>
          <p:cNvSpPr/>
          <p:nvPr/>
        </p:nvSpPr>
        <p:spPr>
          <a:xfrm>
            <a:off x="914400" y="2468880"/>
            <a:ext cx="6217920" cy="338328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Tiến hành bài tập thực hành theo hướng dẫn.</a:t>
            </a:r>
            <a:endParaRPr lang="en-US" sz="1050" dirty="0"/>
          </a:p>
        </p:txBody>
      </p:sp>
      <p:pic>
        <p:nvPicPr>
          <p:cNvPr id="9" name="Image 0" descr="D:\Linh tinh\web_thay_thuan\assets\images\slide-46-live-showcase.jpg">    </p:cNvPr>
          <p:cNvPicPr>
            <a:picLocks noChangeAspect="1"/>
          </p:cNvPicPr>
          <p:nvPr/>
        </p:nvPicPr>
        <p:blipFill>
          <a:blip r:embed="rId1"/>
          <a:srcRect l="0" r="0" t="0" b="0"/>
          <a:stretch/>
        </p:blipFill>
        <p:spPr>
          <a:xfrm>
            <a:off x="7589520" y="1828800"/>
            <a:ext cx="3840480" cy="4206240"/>
          </a:xfrm>
          <a:prstGeom prst="rect">
            <a:avLst/>
          </a:prstGeom>
        </p:spPr>
      </p:pic>
      <p:sp>
        <p:nvSpPr>
          <p:cNvPr id="10" name="Shape 7"/>
          <p:cNvSpPr/>
          <p:nvPr/>
        </p:nvSpPr>
        <p:spPr>
          <a:xfrm>
            <a:off x="731520" y="6400800"/>
            <a:ext cx="10698480" cy="0"/>
          </a:xfrm>
          <a:prstGeom prst="line">
            <a:avLst/>
          </a:prstGeom>
          <a:noFill/>
          <a:ln w="12700">
            <a:solidFill>
              <a:srgbClr val="2A374F"/>
            </a:solidFill>
            <a:prstDash val="solid"/>
          </a:ln>
        </p:spPr>
      </p:sp>
      <p:sp>
        <p:nvSpPr>
          <p:cNvPr id="11" name="Text 8"/>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2" name="Text 9"/>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3" name="Text 10"/>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43 / 50</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44 • Chương 4: Thực Hành &amp; Hành Trang</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Đối Chiếu Năng Lực: Người Học Thụ Động vs Kỹ Sư Làm Chủ Công Nghệ</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Sự khác biệt căn bản về phương pháp luận và tác động dài hạn đến vị thế nghề nghiệp</a:t>
            </a:r>
            <a:endParaRPr lang="en-US" sz="1150" dirty="0"/>
          </a:p>
        </p:txBody>
      </p:sp>
      <p:sp>
        <p:nvSpPr>
          <p:cNvPr id="6" name="Shape 4"/>
          <p:cNvSpPr/>
          <p:nvPr/>
        </p:nvSpPr>
        <p:spPr>
          <a:xfrm>
            <a:off x="731520" y="1828800"/>
            <a:ext cx="5212080" cy="4206240"/>
          </a:xfrm>
          <a:prstGeom prst="roundRect">
            <a:avLst>
              <a:gd name="adj" fmla="val 2609"/>
            </a:avLst>
          </a:prstGeom>
          <a:solidFill>
            <a:srgbClr val="1C1622"/>
          </a:solidFill>
          <a:ln w="12700">
            <a:solidFill>
              <a:srgbClr val="4B2635"/>
            </a:solidFill>
            <a:prstDash val="solid"/>
          </a:ln>
        </p:spPr>
      </p:sp>
      <p:sp>
        <p:nvSpPr>
          <p:cNvPr id="7" name="Text 5"/>
          <p:cNvSpPr/>
          <p:nvPr/>
        </p:nvSpPr>
        <p:spPr>
          <a:xfrm>
            <a:off x="914400" y="2011680"/>
            <a:ext cx="4846320" cy="457200"/>
          </a:xfrm>
          <a:prstGeom prst="rect">
            <a:avLst/>
          </a:prstGeom>
          <a:noFill/>
          <a:ln/>
        </p:spPr>
        <p:txBody>
          <a:bodyPr wrap="square" rtlCol="0" anchor="ctr"/>
          <a:lstStyle/>
          <a:p>
            <a:pPr indent="0" marL="0">
              <a:buNone/>
            </a:pPr>
            <a:r>
              <a:rPr lang="en-US" sz="1400" b="1" dirty="0">
                <a:solidFill>
                  <a:srgbClr val="F43F5E"/>
                </a:solidFill>
                <a:latin typeface="Arial" pitchFamily="34" charset="0"/>
                <a:ea typeface="Arial" pitchFamily="34" charset="-122"/>
                <a:cs typeface="Arial" pitchFamily="34" charset="-120"/>
              </a:rPr>
              <a:t>Truyền Thống</a:t>
            </a:r>
            <a:endParaRPr lang="en-US" sz="1400" dirty="0"/>
          </a:p>
        </p:txBody>
      </p:sp>
      <p:sp>
        <p:nvSpPr>
          <p:cNvPr id="8" name="Text 6"/>
          <p:cNvSpPr/>
          <p:nvPr/>
        </p:nvSpPr>
        <p:spPr>
          <a:xfrm>
            <a:off x="914400" y="2560320"/>
            <a:ext cx="4846320" cy="3200400"/>
          </a:xfrm>
          <a:prstGeom prst="rect">
            <a:avLst/>
          </a:prstGeom>
          <a:noFill/>
          <a:ln/>
        </p:spPr>
        <p:txBody>
          <a:bodyPr wrap="square" rtlCol="0" anchor="ctr"/>
          <a:lstStyle/>
          <a:p>
            <a:pPr indent="0" marL="0">
              <a:buNone/>
            </a:pPr>
            <a:endParaRPr lang="en-US" sz="1050" dirty="0"/>
          </a:p>
        </p:txBody>
      </p:sp>
      <p:sp>
        <p:nvSpPr>
          <p:cNvPr id="9" name="Shape 7"/>
          <p:cNvSpPr/>
          <p:nvPr/>
        </p:nvSpPr>
        <p:spPr>
          <a:xfrm>
            <a:off x="6217920" y="1828800"/>
            <a:ext cx="5212080" cy="4206240"/>
          </a:xfrm>
          <a:prstGeom prst="roundRect">
            <a:avLst>
              <a:gd name="adj" fmla="val 2609"/>
            </a:avLst>
          </a:prstGeom>
          <a:solidFill>
            <a:srgbClr val="122624"/>
          </a:solidFill>
          <a:ln w="12700">
            <a:solidFill>
              <a:srgbClr val="1C4C42"/>
            </a:solidFill>
            <a:prstDash val="solid"/>
          </a:ln>
        </p:spPr>
      </p:sp>
      <p:sp>
        <p:nvSpPr>
          <p:cNvPr id="10" name="Text 8"/>
          <p:cNvSpPr/>
          <p:nvPr/>
        </p:nvSpPr>
        <p:spPr>
          <a:xfrm>
            <a:off x="6400800" y="2011680"/>
            <a:ext cx="4846320" cy="457200"/>
          </a:xfrm>
          <a:prstGeom prst="rect">
            <a:avLst/>
          </a:prstGeom>
          <a:noFill/>
          <a:ln/>
        </p:spPr>
        <p:txBody>
          <a:bodyPr wrap="square" rtlCol="0" anchor="ctr"/>
          <a:lstStyle/>
          <a:p>
            <a:pPr indent="0" marL="0">
              <a:buNone/>
            </a:pPr>
            <a:r>
              <a:rPr lang="en-US" sz="1400" b="1" dirty="0">
                <a:solidFill>
                  <a:srgbClr val="10B981"/>
                </a:solidFill>
                <a:latin typeface="Arial" pitchFamily="34" charset="0"/>
                <a:ea typeface="Arial" pitchFamily="34" charset="-122"/>
                <a:cs typeface="Arial" pitchFamily="34" charset="-120"/>
              </a:rPr>
              <a:t>Ứng Dụng AI</a:t>
            </a:r>
            <a:endParaRPr lang="en-US" sz="1400" dirty="0"/>
          </a:p>
        </p:txBody>
      </p:sp>
      <p:sp>
        <p:nvSpPr>
          <p:cNvPr id="11" name="Text 9"/>
          <p:cNvSpPr/>
          <p:nvPr/>
        </p:nvSpPr>
        <p:spPr>
          <a:xfrm>
            <a:off x="6400800" y="2560320"/>
            <a:ext cx="4846320" cy="3200400"/>
          </a:xfrm>
          <a:prstGeom prst="rect">
            <a:avLst/>
          </a:prstGeom>
          <a:noFill/>
          <a:ln/>
        </p:spPr>
        <p:txBody>
          <a:bodyPr wrap="square" rtlCol="0" anchor="ctr"/>
          <a:lstStyle/>
          <a:p>
            <a:pPr indent="0" marL="0">
              <a:buNone/>
            </a:pPr>
            <a:endParaRPr lang="en-US" sz="1050" dirty="0"/>
          </a:p>
        </p:txBody>
      </p:sp>
      <p:sp>
        <p:nvSpPr>
          <p:cNvPr id="12" name="Shape 10"/>
          <p:cNvSpPr/>
          <p:nvPr/>
        </p:nvSpPr>
        <p:spPr>
          <a:xfrm>
            <a:off x="731520" y="6400800"/>
            <a:ext cx="10698480" cy="0"/>
          </a:xfrm>
          <a:prstGeom prst="line">
            <a:avLst/>
          </a:prstGeom>
          <a:noFill/>
          <a:ln w="12700">
            <a:solidFill>
              <a:srgbClr val="2A374F"/>
            </a:solidFill>
            <a:prstDash val="solid"/>
          </a:ln>
        </p:spPr>
      </p:sp>
      <p:sp>
        <p:nvSpPr>
          <p:cNvPr id="13" name="Text 11"/>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4" name="Text 12"/>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5" name="Text 13"/>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44 / 50</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45 • Chương 4: Thực Hành &amp; Hành Trang</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Hệ Sinh Thái Công Cụ Chuẩn Mực Cho Sinh Viên Ngành CNTT - KMA</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The Curated Academic AI Tech Stack — Lựa chọn công cụ chính xác theo từng mục tiêu chuyên môn</a:t>
            </a:r>
            <a:endParaRPr lang="en-US" sz="1150" dirty="0"/>
          </a:p>
        </p:txBody>
      </p:sp>
      <p:sp>
        <p:nvSpPr>
          <p:cNvPr id="6" name="Shape 4"/>
          <p:cNvSpPr/>
          <p:nvPr/>
        </p:nvSpPr>
        <p:spPr>
          <a:xfrm>
            <a:off x="731520" y="1828800"/>
            <a:ext cx="6583680" cy="694944"/>
          </a:xfrm>
          <a:prstGeom prst="roundRect">
            <a:avLst>
              <a:gd name="adj" fmla="val 13158"/>
            </a:avLst>
          </a:prstGeom>
          <a:solidFill>
            <a:srgbClr val="161F33"/>
          </a:solidFill>
          <a:ln w="12700">
            <a:solidFill>
              <a:srgbClr val="2A374F"/>
            </a:solidFill>
            <a:prstDash val="solid"/>
          </a:ln>
        </p:spPr>
      </p:sp>
      <p:sp>
        <p:nvSpPr>
          <p:cNvPr id="7" name="Text 5"/>
          <p:cNvSpPr/>
          <p:nvPr/>
        </p:nvSpPr>
        <p:spPr>
          <a:xfrm>
            <a:off x="914400" y="1901952"/>
            <a:ext cx="6217920" cy="54864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Lập trình C++ &amp; Giải thuật: Claude 3.5 Sonnet / DeepSeek-R1
</a:t>
            </a:r>
            <a:pPr indent="0" marL="0">
              <a:buNone/>
            </a:pPr>
            <a:r>
              <a:rPr lang="en-US" sz="1000" dirty="0">
                <a:solidFill>
                  <a:srgbClr val="FFFFFF"/>
                </a:solidFill>
                <a:latin typeface="Calibri" pitchFamily="34" charset="0"/>
                <a:ea typeface="Calibri" pitchFamily="34" charset="-122"/>
                <a:cs typeface="Calibri" pitchFamily="34" charset="-120"/>
              </a:rPr>
              <a:t>Phục vụ phân tích cấu trúc bộ nhớ, giải thích con trỏ, tối ưu hóa Big-O và hỗ trợ gỡ lỗi logic phức tạp.</a:t>
            </a:r>
            <a:endParaRPr lang="en-US" sz="1100" dirty="0"/>
          </a:p>
        </p:txBody>
      </p:sp>
      <p:sp>
        <p:nvSpPr>
          <p:cNvPr id="8" name="Shape 6"/>
          <p:cNvSpPr/>
          <p:nvPr/>
        </p:nvSpPr>
        <p:spPr>
          <a:xfrm>
            <a:off x="731520" y="2615184"/>
            <a:ext cx="6583680" cy="694944"/>
          </a:xfrm>
          <a:prstGeom prst="roundRect">
            <a:avLst>
              <a:gd name="adj" fmla="val 13158"/>
            </a:avLst>
          </a:prstGeom>
          <a:solidFill>
            <a:srgbClr val="161F33"/>
          </a:solidFill>
          <a:ln w="12700">
            <a:solidFill>
              <a:srgbClr val="2A374F"/>
            </a:solidFill>
            <a:prstDash val="solid"/>
          </a:ln>
        </p:spPr>
      </p:sp>
      <p:sp>
        <p:nvSpPr>
          <p:cNvPr id="9" name="Text 7"/>
          <p:cNvSpPr/>
          <p:nvPr/>
        </p:nvSpPr>
        <p:spPr>
          <a:xfrm>
            <a:off x="914400" y="2688336"/>
            <a:ext cx="6217920" cy="54864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Khảo cứu tài liệu học thuật: Semantic Scholar + Consensus.app
</a:t>
            </a:r>
            <a:pPr indent="0" marL="0">
              <a:buNone/>
            </a:pPr>
            <a:r>
              <a:rPr lang="en-US" sz="1000" dirty="0">
                <a:solidFill>
                  <a:srgbClr val="FFFFFF"/>
                </a:solidFill>
                <a:latin typeface="Calibri" pitchFamily="34" charset="0"/>
                <a:ea typeface="Calibri" pitchFamily="34" charset="-122"/>
                <a:cs typeface="Calibri" pitchFamily="34" charset="-120"/>
              </a:rPr>
              <a:t>Truy vấn các bài báo khoa học xuất bản chính quy, có mã DOI thực tế và chỉ số trích dẫn thẩm định.</a:t>
            </a:r>
            <a:endParaRPr lang="en-US" sz="1100" dirty="0"/>
          </a:p>
        </p:txBody>
      </p:sp>
      <p:sp>
        <p:nvSpPr>
          <p:cNvPr id="10" name="Shape 8"/>
          <p:cNvSpPr/>
          <p:nvPr/>
        </p:nvSpPr>
        <p:spPr>
          <a:xfrm>
            <a:off x="731520" y="3401568"/>
            <a:ext cx="6583680" cy="694944"/>
          </a:xfrm>
          <a:prstGeom prst="roundRect">
            <a:avLst>
              <a:gd name="adj" fmla="val 13158"/>
            </a:avLst>
          </a:prstGeom>
          <a:solidFill>
            <a:srgbClr val="161F33"/>
          </a:solidFill>
          <a:ln w="12700">
            <a:solidFill>
              <a:srgbClr val="2A374F"/>
            </a:solidFill>
            <a:prstDash val="solid"/>
          </a:ln>
        </p:spPr>
      </p:sp>
      <p:sp>
        <p:nvSpPr>
          <p:cNvPr id="11" name="Text 9"/>
          <p:cNvSpPr/>
          <p:nvPr/>
        </p:nvSpPr>
        <p:spPr>
          <a:xfrm>
            <a:off x="914400" y="3474720"/>
            <a:ext cx="6217920" cy="54864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Bóc tách tài liệu PDF nghiên cứu: Google NotebookLM
</a:t>
            </a:r>
            <a:pPr indent="0" marL="0">
              <a:buNone/>
            </a:pPr>
            <a:r>
              <a:rPr lang="en-US" sz="1000" dirty="0">
                <a:solidFill>
                  <a:srgbClr val="FFFFFF"/>
                </a:solidFill>
                <a:latin typeface="Calibri" pitchFamily="34" charset="0"/>
                <a:ea typeface="Calibri" pitchFamily="34" charset="-122"/>
                <a:cs typeface="Calibri" pitchFamily="34" charset="-120"/>
              </a:rPr>
              <a:t>Vận hành theo cơ chế Source-Grounded, hỗ trợ trích xuất nhanh cấu trúc phương pháp luận có dẫn nguồn cụ thể.</a:t>
            </a:r>
            <a:endParaRPr lang="en-US" sz="1100" dirty="0"/>
          </a:p>
        </p:txBody>
      </p:sp>
      <p:sp>
        <p:nvSpPr>
          <p:cNvPr id="12" name="Shape 10"/>
          <p:cNvSpPr/>
          <p:nvPr/>
        </p:nvSpPr>
        <p:spPr>
          <a:xfrm>
            <a:off x="731520" y="4187952"/>
            <a:ext cx="6583680" cy="694944"/>
          </a:xfrm>
          <a:prstGeom prst="roundRect">
            <a:avLst>
              <a:gd name="adj" fmla="val 13158"/>
            </a:avLst>
          </a:prstGeom>
          <a:solidFill>
            <a:srgbClr val="161F33"/>
          </a:solidFill>
          <a:ln w="12700">
            <a:solidFill>
              <a:srgbClr val="2A374F"/>
            </a:solidFill>
            <a:prstDash val="solid"/>
          </a:ln>
        </p:spPr>
      </p:sp>
      <p:sp>
        <p:nvSpPr>
          <p:cNvPr id="13" name="Text 11"/>
          <p:cNvSpPr/>
          <p:nvPr/>
        </p:nvSpPr>
        <p:spPr>
          <a:xfrm>
            <a:off x="914400" y="4261104"/>
            <a:ext cx="6217920" cy="54864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Soạn thảo văn bản khoa học: Overleaf (LaTeX) + Zotero
</a:t>
            </a:r>
            <a:pPr indent="0" marL="0">
              <a:buNone/>
            </a:pPr>
            <a:r>
              <a:rPr lang="en-US" sz="1000" dirty="0">
                <a:solidFill>
                  <a:srgbClr val="FFFFFF"/>
                </a:solidFill>
                <a:latin typeface="Calibri" pitchFamily="34" charset="0"/>
                <a:ea typeface="Calibri" pitchFamily="34" charset="-122"/>
                <a:cs typeface="Calibri" pitchFamily="34" charset="-120"/>
              </a:rPr>
              <a:t>Định dạng phương trình toán học, quản lý tệp trích dẫn BibTeX theo chuẩn IEEE/ACM quốc tế.</a:t>
            </a:r>
            <a:endParaRPr lang="en-US" sz="1100" dirty="0"/>
          </a:p>
        </p:txBody>
      </p:sp>
      <p:sp>
        <p:nvSpPr>
          <p:cNvPr id="14" name="Shape 12"/>
          <p:cNvSpPr/>
          <p:nvPr/>
        </p:nvSpPr>
        <p:spPr>
          <a:xfrm>
            <a:off x="731520" y="4974336"/>
            <a:ext cx="6583680" cy="694944"/>
          </a:xfrm>
          <a:prstGeom prst="roundRect">
            <a:avLst>
              <a:gd name="adj" fmla="val 13158"/>
            </a:avLst>
          </a:prstGeom>
          <a:solidFill>
            <a:srgbClr val="161F33"/>
          </a:solidFill>
          <a:ln w="12700">
            <a:solidFill>
              <a:srgbClr val="2A374F"/>
            </a:solidFill>
            <a:prstDash val="solid"/>
          </a:ln>
        </p:spPr>
      </p:sp>
      <p:sp>
        <p:nvSpPr>
          <p:cNvPr id="15" name="Text 13"/>
          <p:cNvSpPr/>
          <p:nvPr/>
        </p:nvSpPr>
        <p:spPr>
          <a:xfrm>
            <a:off x="914400" y="5047488"/>
            <a:ext cx="6217920" cy="54864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Củng cố tri thức dài hạn: Anki (Spaced Repetition)
</a:t>
            </a:r>
            <a:pPr indent="0" marL="0">
              <a:buNone/>
            </a:pPr>
            <a:r>
              <a:rPr lang="en-US" sz="1000" dirty="0">
                <a:solidFill>
                  <a:srgbClr val="FFFFFF"/>
                </a:solidFill>
                <a:latin typeface="Calibri" pitchFamily="34" charset="0"/>
                <a:ea typeface="Calibri" pitchFamily="34" charset="-122"/>
                <a:cs typeface="Calibri" pitchFamily="34" charset="-120"/>
              </a:rPr>
              <a:t>Tự động hóa ôn tập ngắt quãng các định nghĩa, định lý và nguyên lý kỹ thuật cốt lõi.</a:t>
            </a:r>
            <a:endParaRPr lang="en-US" sz="1100" dirty="0"/>
          </a:p>
        </p:txBody>
      </p:sp>
      <p:sp>
        <p:nvSpPr>
          <p:cNvPr id="16" name="Shape 14"/>
          <p:cNvSpPr/>
          <p:nvPr/>
        </p:nvSpPr>
        <p:spPr>
          <a:xfrm>
            <a:off x="731520" y="5806440"/>
            <a:ext cx="6583680" cy="594360"/>
          </a:xfrm>
          <a:prstGeom prst="roundRect">
            <a:avLst>
              <a:gd name="adj" fmla="val 12308"/>
            </a:avLst>
          </a:prstGeom>
          <a:solidFill>
            <a:srgbClr val="111F38"/>
          </a:solidFill>
          <a:ln w="12700">
            <a:solidFill>
              <a:srgbClr val="38BDF8"/>
            </a:solidFill>
            <a:prstDash val="solid"/>
          </a:ln>
        </p:spPr>
      </p:sp>
      <p:sp>
        <p:nvSpPr>
          <p:cNvPr id="17" name="Text 15"/>
          <p:cNvSpPr/>
          <p:nvPr/>
        </p:nvSpPr>
        <p:spPr>
          <a:xfrm>
            <a:off x="868680" y="5806440"/>
            <a:ext cx="6309360" cy="594360"/>
          </a:xfrm>
          <a:prstGeom prst="rect">
            <a:avLst/>
          </a:prstGeom>
          <a:noFill/>
          <a:ln/>
        </p:spPr>
        <p:txBody>
          <a:bodyPr wrap="square" rtlCol="0" anchor="ctr"/>
          <a:lstStyle/>
          <a:p>
            <a:pPr indent="0" marL="0">
              <a:buNone/>
            </a:pPr>
            <a:r>
              <a:rPr lang="en-US" sz="950" i="1" dirty="0">
                <a:solidFill>
                  <a:srgbClr val="38BDF8"/>
                </a:solidFill>
                <a:latin typeface="Calibri" pitchFamily="34" charset="0"/>
                <a:ea typeface="Calibri" pitchFamily="34" charset="-122"/>
                <a:cs typeface="Calibri" pitchFamily="34" charset="-120"/>
              </a:rPr>
              <a:t>💡 Điểm cốt lõi: Hiệu quả ứng dụng công nghệ phụ thuộc vào việc lựa chọn đúng công cụ chuyên dụng cho từng tác vụ cụ thể, thay vì sử dụng một mô hình tạo sinh tổng quát cho mọi bài toán.</a:t>
            </a:r>
            <a:endParaRPr lang="en-US" sz="950" dirty="0"/>
          </a:p>
        </p:txBody>
      </p:sp>
      <p:pic>
        <p:nvPicPr>
          <p:cNvPr id="18" name="Image 0" descr="D:\Linh tinh\web_thay_thuan\assets\images\slide-45-step5-product.jpg">    </p:cNvPr>
          <p:cNvPicPr>
            <a:picLocks noChangeAspect="1"/>
          </p:cNvPicPr>
          <p:nvPr/>
        </p:nvPicPr>
        <p:blipFill>
          <a:blip r:embed="rId1"/>
          <a:srcRect l="0" r="0" t="0" b="0"/>
          <a:stretch/>
        </p:blipFill>
        <p:spPr>
          <a:xfrm>
            <a:off x="7589520" y="1737360"/>
            <a:ext cx="3840480" cy="4389120"/>
          </a:xfrm>
          <a:prstGeom prst="rect">
            <a:avLst/>
          </a:prstGeom>
        </p:spPr>
      </p:pic>
      <p:sp>
        <p:nvSpPr>
          <p:cNvPr id="19" name="Text 16"/>
          <p:cNvSpPr/>
          <p:nvPr/>
        </p:nvSpPr>
        <p:spPr>
          <a:xfrm>
            <a:off x="7589520" y="5897880"/>
            <a:ext cx="3840480" cy="320040"/>
          </a:xfrm>
          <a:prstGeom prst="rect">
            <a:avLst/>
          </a:prstGeom>
          <a:noFill/>
          <a:ln/>
        </p:spPr>
        <p:txBody>
          <a:bodyPr wrap="square" rtlCol="0" anchor="ctr"/>
          <a:lstStyle/>
          <a:p>
            <a:pPr algn="ctr" indent="0" marL="0">
              <a:buNone/>
            </a:pPr>
            <a:r>
              <a:rPr lang="en-US" sz="800" i="1" dirty="0">
                <a:solidFill>
                  <a:srgbClr val="94A3B8"/>
                </a:solidFill>
                <a:latin typeface="Calibri" pitchFamily="34" charset="0"/>
                <a:ea typeface="Calibri" pitchFamily="34" charset="-122"/>
                <a:cs typeface="Calibri" pitchFamily="34" charset="-120"/>
              </a:rPr>
              <a:t>Hệ sinh thái công cụ AI học thuật chuẩn mực cho sinh viên KMA</a:t>
            </a:r>
            <a:endParaRPr lang="en-US" sz="800" dirty="0"/>
          </a:p>
        </p:txBody>
      </p:sp>
      <p:sp>
        <p:nvSpPr>
          <p:cNvPr id="20" name="Shape 17"/>
          <p:cNvSpPr/>
          <p:nvPr/>
        </p:nvSpPr>
        <p:spPr>
          <a:xfrm>
            <a:off x="731520" y="6400800"/>
            <a:ext cx="10698480" cy="0"/>
          </a:xfrm>
          <a:prstGeom prst="line">
            <a:avLst/>
          </a:prstGeom>
          <a:noFill/>
          <a:ln w="12700">
            <a:solidFill>
              <a:srgbClr val="2A374F"/>
            </a:solidFill>
            <a:prstDash val="solid"/>
          </a:ln>
        </p:spPr>
      </p:sp>
      <p:sp>
        <p:nvSpPr>
          <p:cNvPr id="21" name="Text 18"/>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22" name="Text 19"/>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23" name="Text 20"/>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45 / 50</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46 • Chương 4: Thực Hành &amp; Hành Trang</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Chiến Lược Đào Tạo 4 Năm: Từ Nền Tảng Đến Làm Chủ Công Nghệ Lõi</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Lộ trình phát triển năng lực học thuật và kỹ thuật qua từng giai đoạn đào tạo tại KMA</a:t>
            </a:r>
            <a:endParaRPr lang="en-US" sz="1150" dirty="0"/>
          </a:p>
        </p:txBody>
      </p:sp>
      <p:sp>
        <p:nvSpPr>
          <p:cNvPr id="6" name="Shape 4"/>
          <p:cNvSpPr/>
          <p:nvPr/>
        </p:nvSpPr>
        <p:spPr>
          <a:xfrm>
            <a:off x="731520" y="6400800"/>
            <a:ext cx="10698480" cy="0"/>
          </a:xfrm>
          <a:prstGeom prst="line">
            <a:avLst/>
          </a:prstGeom>
          <a:noFill/>
          <a:ln w="12700">
            <a:solidFill>
              <a:srgbClr val="2A374F"/>
            </a:solidFill>
            <a:prstDash val="solid"/>
          </a:ln>
        </p:spPr>
      </p:sp>
      <p:sp>
        <p:nvSpPr>
          <p:cNvPr id="7" name="Text 5"/>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8" name="Text 6"/>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9" name="Text 7"/>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46 / 50</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47 • Chương 4: Thực Hành &amp; Hành Trang</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8 Quy Tắc Chuẩn Mực Khi Ứng Dụng AI Trong Học Tập &amp; Nghiên Cứu</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Khung nguyên tắc phương pháp luận bảo đảm tính chính xác, an toàn và liêm chính học thuật</a:t>
            </a:r>
            <a:endParaRPr lang="en-US" sz="1150" dirty="0"/>
          </a:p>
        </p:txBody>
      </p:sp>
      <p:sp>
        <p:nvSpPr>
          <p:cNvPr id="6" name="Shape 4"/>
          <p:cNvSpPr/>
          <p:nvPr/>
        </p:nvSpPr>
        <p:spPr>
          <a:xfrm>
            <a:off x="731520" y="1828800"/>
            <a:ext cx="6583680" cy="4206240"/>
          </a:xfrm>
          <a:prstGeom prst="roundRect">
            <a:avLst>
              <a:gd name="adj" fmla="val 2609"/>
            </a:avLst>
          </a:prstGeom>
          <a:solidFill>
            <a:srgbClr val="161F33"/>
          </a:solidFill>
          <a:ln w="12700">
            <a:solidFill>
              <a:srgbClr val="2A374F"/>
            </a:solidFill>
            <a:prstDash val="solid"/>
          </a:ln>
        </p:spPr>
      </p:sp>
      <p:sp>
        <p:nvSpPr>
          <p:cNvPr id="7" name="Text 5"/>
          <p:cNvSpPr/>
          <p:nvPr/>
        </p:nvSpPr>
        <p:spPr>
          <a:xfrm>
            <a:off x="914400" y="2011680"/>
            <a:ext cx="6217920" cy="365760"/>
          </a:xfrm>
          <a:prstGeom prst="rect">
            <a:avLst/>
          </a:prstGeom>
          <a:noFill/>
          <a:ln/>
        </p:spPr>
        <p:txBody>
          <a:bodyPr wrap="square" rtlCol="0" anchor="ctr"/>
          <a:lstStyle/>
          <a:p>
            <a:pPr indent="0" marL="0">
              <a:buNone/>
            </a:pPr>
            <a:r>
              <a:rPr lang="en-US" sz="1200" b="1" dirty="0">
                <a:solidFill>
                  <a:srgbClr val="10B981"/>
                </a:solidFill>
                <a:latin typeface="Arial" pitchFamily="34" charset="0"/>
                <a:ea typeface="Arial" pitchFamily="34" charset="-122"/>
                <a:cs typeface="Arial" pitchFamily="34" charset="-120"/>
              </a:rPr>
              <a:t>📋 DANH MỤC TIÊU CHUẨN LIÊM CHÍNH HỌC THUẬT</a:t>
            </a:r>
            <a:endParaRPr lang="en-US" sz="1200" dirty="0"/>
          </a:p>
        </p:txBody>
      </p:sp>
      <p:sp>
        <p:nvSpPr>
          <p:cNvPr id="8" name="Text 6"/>
          <p:cNvSpPr/>
          <p:nvPr/>
        </p:nvSpPr>
        <p:spPr>
          <a:xfrm>
            <a:off x="914400" y="2468880"/>
            <a:ext cx="6217920" cy="338328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 Không chấp nhận bất kỳ mã nguồn, công thức toán hay trích dẫn nào nếu chưa qua bước kiểm chứng thực nghiệm độc lập.</a:t>
            </a:r>
            <a:endParaRPr lang="en-US" sz="1000" dirty="0"/>
          </a:p>
          <a:p>
            <a:pPr indent="0" marL="0">
              <a:buNone/>
            </a:pP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 Con người chịu trách nhiệm toàn diện về thiết kế hệ thống và an toàn thông tin; công cụ AI chỉ đảm nhiệm vai trò hỗ trợ kỹ thuật.</a:t>
            </a:r>
            <a:endParaRPr lang="en-US" sz="1000" dirty="0"/>
          </a:p>
          <a:p>
            <a:pPr indent="0" marL="0">
              <a:buNone/>
            </a:pP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 Luôn thiết lập đầy đủ bối cảnh, ràng buộc kỹ thuật khắt khe và định dạng đầu ra chuẩn mực trong mọi truy vấn.</a:t>
            </a:r>
            <a:endParaRPr lang="en-US" sz="1000" dirty="0"/>
          </a:p>
          <a:p>
            <a:pPr indent="0" marL="0">
              <a:buNone/>
            </a:pP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 Yêu cầu hệ thống đóng vai trò người phản biện logic để phát hiện lỗ hổng tư duy thay vì nhận lời giải có sẵn.</a:t>
            </a:r>
            <a:endParaRPr lang="en-US" sz="1000" dirty="0"/>
          </a:p>
          <a:p>
            <a:pPr indent="0" marL="0">
              <a:buNone/>
            </a:pP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 Chỉ đưa vào danh mục tài liệu tham khảo các công trình khoa học có thể xác thực trực tiếp trên các cơ sở dữ liệu chính quy.</a:t>
            </a:r>
            <a:endParaRPr lang="en-US" sz="1000" dirty="0"/>
          </a:p>
          <a:p>
            <a:pPr indent="0" marL="0">
              <a:buNone/>
            </a:pP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 Tuyệt đối không đưa mã nguồn mật mã chưa công bố, dữ liệu nhạy cảm hoặc thông tin định danh lên các dịch vụ đám mây công cộng.</a:t>
            </a:r>
            <a:endParaRPr lang="en-US" sz="1000" dirty="0"/>
          </a:p>
          <a:p>
            <a:pPr indent="0" marL="0">
              <a:buNone/>
            </a:pP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 Đánh giá năng lực dựa trên khả năng giải quyết bài toán độc lập trong môi trường phòng máy kiểm thử, không dựa trên kết quả hỗ trợ từ máy móc.</a:t>
            </a:r>
            <a:endParaRPr lang="en-US" sz="1000" dirty="0"/>
          </a:p>
          <a:p>
            <a:pPr indent="0" marL="0">
              <a:buNone/>
            </a:pP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 Duy trì thói quen thực hành kỹ thuật độc lập và củng cố tri thức ngắt quãng mỗi ngày.</a:t>
            </a:r>
            <a:endParaRPr lang="en-US" sz="1000" dirty="0"/>
          </a:p>
        </p:txBody>
      </p:sp>
      <p:pic>
        <p:nvPicPr>
          <p:cNvPr id="9" name="Image 0" descr="D:\Linh tinh\web_thay_thuan\assets\images\slide-47-top10-takeaways.jpg">    </p:cNvPr>
          <p:cNvPicPr>
            <a:picLocks noChangeAspect="1"/>
          </p:cNvPicPr>
          <p:nvPr/>
        </p:nvPicPr>
        <p:blipFill>
          <a:blip r:embed="rId1"/>
          <a:srcRect l="0" r="0" t="0" b="0"/>
          <a:stretch/>
        </p:blipFill>
        <p:spPr>
          <a:xfrm>
            <a:off x="7589520" y="1828800"/>
            <a:ext cx="3840480" cy="4206240"/>
          </a:xfrm>
          <a:prstGeom prst="rect">
            <a:avLst/>
          </a:prstGeom>
        </p:spPr>
      </p:pic>
      <p:sp>
        <p:nvSpPr>
          <p:cNvPr id="10" name="Shape 7"/>
          <p:cNvSpPr/>
          <p:nvPr/>
        </p:nvSpPr>
        <p:spPr>
          <a:xfrm>
            <a:off x="731520" y="6400800"/>
            <a:ext cx="10698480" cy="0"/>
          </a:xfrm>
          <a:prstGeom prst="line">
            <a:avLst/>
          </a:prstGeom>
          <a:noFill/>
          <a:ln w="12700">
            <a:solidFill>
              <a:srgbClr val="2A374F"/>
            </a:solidFill>
            <a:prstDash val="solid"/>
          </a:ln>
        </p:spPr>
      </p:sp>
      <p:sp>
        <p:nvSpPr>
          <p:cNvPr id="11" name="Text 8"/>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2" name="Text 9"/>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3" name="Text 10"/>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47 / 50</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48 • Chương 4: Thực Hành &amp; Hành Trang</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Đánh Giá Tổng Kết: Bản Chất &amp; Vai Trò Của Trí Tuệ Nhân Tạo</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Kiểm tra mức độ nắm bắt bản chất khoa học của AI sau toàn bộ chương trình chuyên đề</a:t>
            </a:r>
            <a:endParaRPr lang="en-US" sz="1150" dirty="0"/>
          </a:p>
        </p:txBody>
      </p:sp>
      <p:sp>
        <p:nvSpPr>
          <p:cNvPr id="6" name="Shape 4"/>
          <p:cNvSpPr/>
          <p:nvPr/>
        </p:nvSpPr>
        <p:spPr>
          <a:xfrm>
            <a:off x="731520" y="1828800"/>
            <a:ext cx="6583680" cy="1097280"/>
          </a:xfrm>
          <a:prstGeom prst="roundRect">
            <a:avLst>
              <a:gd name="adj" fmla="val 8333"/>
            </a:avLst>
          </a:prstGeom>
          <a:solidFill>
            <a:srgbClr val="18233C"/>
          </a:solidFill>
          <a:ln w="12700">
            <a:solidFill>
              <a:srgbClr val="38BDF8"/>
            </a:solidFill>
            <a:prstDash val="solid"/>
          </a:ln>
        </p:spPr>
      </p:sp>
      <p:sp>
        <p:nvSpPr>
          <p:cNvPr id="7" name="Text 5"/>
          <p:cNvSpPr/>
          <p:nvPr/>
        </p:nvSpPr>
        <p:spPr>
          <a:xfrm>
            <a:off x="914400" y="1874520"/>
            <a:ext cx="6217920" cy="100584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 Câu hỏi kiểm tra:</a:t>
            </a:r>
            <a:endParaRPr lang="en-US" sz="1150" dirty="0"/>
          </a:p>
          <a:p>
            <a:pPr indent="0" marL="0">
              <a:buNone/>
            </a:pPr>
            <a:r>
              <a:rPr lang="en-US" sz="1150" b="1" dirty="0">
                <a:solidFill>
                  <a:srgbClr val="FFFFFF"/>
                </a:solidFill>
                <a:latin typeface="Arial" pitchFamily="34" charset="0"/>
                <a:ea typeface="Arial" pitchFamily="34" charset="-122"/>
                <a:cs typeface="Arial" pitchFamily="34" charset="-120"/>
              </a:rPr>
              <a:t>Sau toàn bộ chương trình chuyên đề, đâu là nhận định khoa học chính xác nhất về bản chất và vai trò của Trí tuệ Nhân tạo?</a:t>
            </a:r>
            <a:endParaRPr lang="en-US" sz="1150" dirty="0"/>
          </a:p>
        </p:txBody>
      </p:sp>
      <p:sp>
        <p:nvSpPr>
          <p:cNvPr id="8" name="Shape 6"/>
          <p:cNvSpPr/>
          <p:nvPr/>
        </p:nvSpPr>
        <p:spPr>
          <a:xfrm>
            <a:off x="731520" y="3063240"/>
            <a:ext cx="6583680" cy="548640"/>
          </a:xfrm>
          <a:prstGeom prst="roundRect">
            <a:avLst>
              <a:gd name="adj" fmla="val 13333"/>
            </a:avLst>
          </a:prstGeom>
          <a:solidFill>
            <a:srgbClr val="161F33"/>
          </a:solidFill>
          <a:ln w="12700">
            <a:solidFill>
              <a:srgbClr val="2A374F"/>
            </a:solidFill>
            <a:prstDash val="solid"/>
          </a:ln>
        </p:spPr>
      </p:sp>
      <p:sp>
        <p:nvSpPr>
          <p:cNvPr id="9" name="Text 7"/>
          <p:cNvSpPr/>
          <p:nvPr/>
        </p:nvSpPr>
        <p:spPr>
          <a:xfrm>
            <a:off x="914400" y="3063240"/>
            <a:ext cx="6217920" cy="54864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 [object Object] </a:t>
            </a:r>
            <a:endParaRPr lang="en-US" sz="1000" dirty="0"/>
          </a:p>
        </p:txBody>
      </p:sp>
      <p:sp>
        <p:nvSpPr>
          <p:cNvPr id="10" name="Shape 8"/>
          <p:cNvSpPr/>
          <p:nvPr/>
        </p:nvSpPr>
        <p:spPr>
          <a:xfrm>
            <a:off x="731520" y="3703320"/>
            <a:ext cx="6583680" cy="548640"/>
          </a:xfrm>
          <a:prstGeom prst="roundRect">
            <a:avLst>
              <a:gd name="adj" fmla="val 13333"/>
            </a:avLst>
          </a:prstGeom>
          <a:solidFill>
            <a:srgbClr val="161F33"/>
          </a:solidFill>
          <a:ln w="12700">
            <a:solidFill>
              <a:srgbClr val="2A374F"/>
            </a:solidFill>
            <a:prstDash val="solid"/>
          </a:ln>
        </p:spPr>
      </p:sp>
      <p:sp>
        <p:nvSpPr>
          <p:cNvPr id="11" name="Text 9"/>
          <p:cNvSpPr/>
          <p:nvPr/>
        </p:nvSpPr>
        <p:spPr>
          <a:xfrm>
            <a:off x="914400" y="3703320"/>
            <a:ext cx="6217920" cy="54864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 [object Object] </a:t>
            </a:r>
            <a:endParaRPr lang="en-US" sz="1000" dirty="0"/>
          </a:p>
        </p:txBody>
      </p:sp>
      <p:sp>
        <p:nvSpPr>
          <p:cNvPr id="12" name="Shape 10"/>
          <p:cNvSpPr/>
          <p:nvPr/>
        </p:nvSpPr>
        <p:spPr>
          <a:xfrm>
            <a:off x="731520" y="4343400"/>
            <a:ext cx="6583680" cy="548640"/>
          </a:xfrm>
          <a:prstGeom prst="roundRect">
            <a:avLst>
              <a:gd name="adj" fmla="val 13333"/>
            </a:avLst>
          </a:prstGeom>
          <a:solidFill>
            <a:srgbClr val="161F33"/>
          </a:solidFill>
          <a:ln w="12700">
            <a:solidFill>
              <a:srgbClr val="2A374F"/>
            </a:solidFill>
            <a:prstDash val="solid"/>
          </a:ln>
        </p:spPr>
      </p:sp>
      <p:sp>
        <p:nvSpPr>
          <p:cNvPr id="13" name="Text 11"/>
          <p:cNvSpPr/>
          <p:nvPr/>
        </p:nvSpPr>
        <p:spPr>
          <a:xfrm>
            <a:off x="914400" y="4343400"/>
            <a:ext cx="6217920" cy="54864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 [object Object] </a:t>
            </a:r>
            <a:endParaRPr lang="en-US" sz="1000" dirty="0"/>
          </a:p>
        </p:txBody>
      </p:sp>
      <p:pic>
        <p:nvPicPr>
          <p:cNvPr id="14" name="Image 0" descr="D:\Linh tinh\web_thay_thuan\assets\images\slide-05-interactive-poll.jpg">    </p:cNvPr>
          <p:cNvPicPr>
            <a:picLocks noChangeAspect="1"/>
          </p:cNvPicPr>
          <p:nvPr/>
        </p:nvPicPr>
        <p:blipFill>
          <a:blip r:embed="rId1"/>
          <a:srcRect l="0" r="0" t="0" b="0"/>
          <a:stretch/>
        </p:blipFill>
        <p:spPr>
          <a:xfrm>
            <a:off x="7589520" y="1828800"/>
            <a:ext cx="3840480" cy="4297680"/>
          </a:xfrm>
          <a:prstGeom prst="rect">
            <a:avLst/>
          </a:prstGeom>
        </p:spPr>
      </p:pic>
      <p:sp>
        <p:nvSpPr>
          <p:cNvPr id="15" name="Shape 12"/>
          <p:cNvSpPr/>
          <p:nvPr/>
        </p:nvSpPr>
        <p:spPr>
          <a:xfrm>
            <a:off x="731520" y="6400800"/>
            <a:ext cx="10698480" cy="0"/>
          </a:xfrm>
          <a:prstGeom prst="line">
            <a:avLst/>
          </a:prstGeom>
          <a:noFill/>
          <a:ln w="12700">
            <a:solidFill>
              <a:srgbClr val="2A374F"/>
            </a:solidFill>
            <a:prstDash val="solid"/>
          </a:ln>
        </p:spPr>
      </p:sp>
      <p:sp>
        <p:nvSpPr>
          <p:cNvPr id="16" name="Text 13"/>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7" name="Text 14"/>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8" name="Text 1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48 / 50</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49 • Chương 4: Thực Hành &amp; Hành Trang</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Kế Hoạch Hành Động Tuần 1: Chuẩn Hóa Môi Trường Học Tập Kỹ Thuật</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Lộ trình bảy ngày thiết lập hệ thống công cụ và phương pháp luận học tập chuẩn mực</a:t>
            </a:r>
            <a:endParaRPr lang="en-US" sz="1150" dirty="0"/>
          </a:p>
        </p:txBody>
      </p:sp>
      <p:sp>
        <p:nvSpPr>
          <p:cNvPr id="6" name="Shape 4"/>
          <p:cNvSpPr/>
          <p:nvPr/>
        </p:nvSpPr>
        <p:spPr>
          <a:xfrm>
            <a:off x="731520" y="1828800"/>
            <a:ext cx="6583680" cy="4206240"/>
          </a:xfrm>
          <a:prstGeom prst="roundRect">
            <a:avLst>
              <a:gd name="adj" fmla="val 2609"/>
            </a:avLst>
          </a:prstGeom>
          <a:solidFill>
            <a:srgbClr val="161F33"/>
          </a:solidFill>
          <a:ln w="12700">
            <a:solidFill>
              <a:srgbClr val="2A374F"/>
            </a:solidFill>
            <a:prstDash val="solid"/>
          </a:ln>
        </p:spPr>
      </p:sp>
      <p:sp>
        <p:nvSpPr>
          <p:cNvPr id="7" name="Text 5"/>
          <p:cNvSpPr/>
          <p:nvPr/>
        </p:nvSpPr>
        <p:spPr>
          <a:xfrm>
            <a:off x="914400" y="2011680"/>
            <a:ext cx="6217920" cy="365760"/>
          </a:xfrm>
          <a:prstGeom prst="rect">
            <a:avLst/>
          </a:prstGeom>
          <a:noFill/>
          <a:ln/>
        </p:spPr>
        <p:txBody>
          <a:bodyPr wrap="square" rtlCol="0" anchor="ctr"/>
          <a:lstStyle/>
          <a:p>
            <a:pPr indent="0" marL="0">
              <a:buNone/>
            </a:pPr>
            <a:r>
              <a:rPr lang="en-US" sz="1200" b="1" dirty="0">
                <a:solidFill>
                  <a:srgbClr val="10B981"/>
                </a:solidFill>
                <a:latin typeface="Arial" pitchFamily="34" charset="0"/>
                <a:ea typeface="Arial" pitchFamily="34" charset="-122"/>
                <a:cs typeface="Arial" pitchFamily="34" charset="-120"/>
              </a:rPr>
              <a:t>📋 DANH MỤC TIÊU CHUẨN LIÊM CHÍNH HỌC THUẬT</a:t>
            </a:r>
            <a:endParaRPr lang="en-US" sz="1200" dirty="0"/>
          </a:p>
        </p:txBody>
      </p:sp>
      <p:sp>
        <p:nvSpPr>
          <p:cNvPr id="8" name="Text 6"/>
          <p:cNvSpPr/>
          <p:nvPr/>
        </p:nvSpPr>
        <p:spPr>
          <a:xfrm>
            <a:off x="914400" y="2468880"/>
            <a:ext cx="6217920" cy="338328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 Truy cập các nền tảng AI phục vụ học tập, tắt tính năng chia sẻ dữ liệu phục vụ huấn luyện mô hình để bảo vệ dữ liệu cá nhân.</a:t>
            </a:r>
            <a:endParaRPr lang="en-US" sz="1000" dirty="0"/>
          </a:p>
          <a:p>
            <a:pPr indent="0" marL="0">
              <a:buNone/>
            </a:pP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 Lựa chọn hai khái niệm trừu tượng trong môn Toán cao cấp hoặc Lập trình C++, soạn thảo prompt kỹ thuật đầy đủ 5 thành phần.</a:t>
            </a:r>
            <a:endParaRPr lang="en-US" sz="1000" dirty="0"/>
          </a:p>
          <a:p>
            <a:pPr indent="0" marL="0">
              <a:buNone/>
            </a:pP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 Soạn thảo một đoạn mã C++ có lỗi biên dịch, sử dụng AI phân tích nguyên nhân và tự tay sửa lỗi độc lập trên môi trường IDE.</a:t>
            </a:r>
            <a:endParaRPr lang="en-US" sz="1000" dirty="0"/>
          </a:p>
          <a:p>
            <a:pPr indent="0" marL="0">
              <a:buNone/>
            </a:pP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 Thực hiện tìm kiếm hai bài báo khoa học chuẩn IEEE/ACM về chủ đề An toàn thông tin, xác thực mã DOI trên cổng `doi.org`.</a:t>
            </a:r>
            <a:endParaRPr lang="en-US" sz="1000" dirty="0"/>
          </a:p>
          <a:p>
            <a:pPr indent="0" marL="0">
              <a:buNone/>
            </a:pP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 Xây dựng bộ thẻ ghi nhớ đầu tiên gồm 15 định nghĩa kỹ thuật cốt lõi và kích hoạt chu trình lặp lại ngắt quãng SM-2.</a:t>
            </a:r>
            <a:endParaRPr lang="en-US" sz="1000" dirty="0"/>
          </a:p>
          <a:p>
            <a:pPr indent="0" marL="0">
              <a:buNone/>
            </a:pP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 Thực hiện phiên đối thoại 15 phút bằng tiếng Anh chuyên ngành với trợ lý ảo về cấu trúc dữ liệu và giải thuật.</a:t>
            </a:r>
            <a:endParaRPr lang="en-US" sz="1000" dirty="0"/>
          </a:p>
          <a:p>
            <a:pPr indent="0" marL="0">
              <a:buNone/>
            </a:pP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 Đánh giá mức độ hiểu sâu kiến thức trong tuần và hoàn thiện kế hoạch học tập cho giai đoạn tiếp theo.</a:t>
            </a:r>
            <a:endParaRPr lang="en-US" sz="1000" dirty="0"/>
          </a:p>
        </p:txBody>
      </p:sp>
      <p:pic>
        <p:nvPicPr>
          <p:cNvPr id="9" name="Image 0" descr="D:\Linh tinh\web_thay_thuan\assets\images\slide-49-7day-challenge.jpg">    </p:cNvPr>
          <p:cNvPicPr>
            <a:picLocks noChangeAspect="1"/>
          </p:cNvPicPr>
          <p:nvPr/>
        </p:nvPicPr>
        <p:blipFill>
          <a:blip r:embed="rId1"/>
          <a:srcRect l="0" r="0" t="0" b="0"/>
          <a:stretch/>
        </p:blipFill>
        <p:spPr>
          <a:xfrm>
            <a:off x="7589520" y="1828800"/>
            <a:ext cx="3840480" cy="4206240"/>
          </a:xfrm>
          <a:prstGeom prst="rect">
            <a:avLst/>
          </a:prstGeom>
        </p:spPr>
      </p:pic>
      <p:sp>
        <p:nvSpPr>
          <p:cNvPr id="10" name="Shape 7"/>
          <p:cNvSpPr/>
          <p:nvPr/>
        </p:nvSpPr>
        <p:spPr>
          <a:xfrm>
            <a:off x="731520" y="6400800"/>
            <a:ext cx="10698480" cy="0"/>
          </a:xfrm>
          <a:prstGeom prst="line">
            <a:avLst/>
          </a:prstGeom>
          <a:noFill/>
          <a:ln w="12700">
            <a:solidFill>
              <a:srgbClr val="2A374F"/>
            </a:solidFill>
            <a:prstDash val="solid"/>
          </a:ln>
        </p:spPr>
      </p:sp>
      <p:sp>
        <p:nvSpPr>
          <p:cNvPr id="11" name="Text 8"/>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2" name="Text 9"/>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3" name="Text 10"/>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49 / 50</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320040"/>
            <a:ext cx="5029200" cy="320040"/>
          </a:xfrm>
          <a:prstGeom prst="roundRect">
            <a:avLst>
              <a:gd name="adj" fmla="val 28571"/>
            </a:avLst>
          </a:prstGeom>
          <a:solidFill>
            <a:srgbClr val="111C33"/>
          </a:solidFill>
          <a:ln w="12700">
            <a:solidFill>
              <a:srgbClr val="2A374F"/>
            </a:solidFill>
            <a:prstDash val="solid"/>
          </a:ln>
        </p:spPr>
      </p:sp>
      <p:sp>
        <p:nvSpPr>
          <p:cNvPr id="3" name="Text 1"/>
          <p:cNvSpPr/>
          <p:nvPr/>
        </p:nvSpPr>
        <p:spPr>
          <a:xfrm>
            <a:off x="822960" y="320040"/>
            <a:ext cx="4846320" cy="32004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SLIDE 50 • Chương 4: Thực Hành &amp; Hành Trang</a:t>
            </a:r>
            <a:endParaRPr lang="en-US" sz="950" dirty="0"/>
          </a:p>
        </p:txBody>
      </p:sp>
      <p:sp>
        <p:nvSpPr>
          <p:cNvPr id="4" name="Text 2"/>
          <p:cNvSpPr/>
          <p:nvPr/>
        </p:nvSpPr>
        <p:spPr>
          <a:xfrm>
            <a:off x="731520" y="685800"/>
            <a:ext cx="10698480" cy="640080"/>
          </a:xfrm>
          <a:prstGeom prst="rect">
            <a:avLst/>
          </a:prstGeom>
          <a:noFill/>
          <a:ln/>
        </p:spPr>
        <p:txBody>
          <a:bodyPr wrap="square" rtlCol="0" anchor="t"/>
          <a:lstStyle/>
          <a:p>
            <a:pPr indent="0" marL="0">
              <a:buNone/>
            </a:pPr>
            <a:r>
              <a:rPr lang="en-US" sz="1900" b="1" dirty="0">
                <a:solidFill>
                  <a:srgbClr val="FFFFFF"/>
                </a:solidFill>
                <a:latin typeface="Arial" pitchFamily="34" charset="0"/>
                <a:ea typeface="Arial" pitchFamily="34" charset="-122"/>
                <a:cs typeface="Arial" pitchFamily="34" charset="-120"/>
              </a:rPr>
              <a:t>KẾT LUẬN &amp; ĐỊNH HƯỚNG PHÁT TRIỂN HỌC THUẬT</a:t>
            </a:r>
            <a:endParaRPr lang="en-US" sz="1900" dirty="0"/>
          </a:p>
        </p:txBody>
      </p:sp>
      <p:sp>
        <p:nvSpPr>
          <p:cNvPr id="5" name="Text 3"/>
          <p:cNvSpPr/>
          <p:nvPr/>
        </p:nvSpPr>
        <p:spPr>
          <a:xfrm>
            <a:off x="731520" y="1325880"/>
            <a:ext cx="10698480" cy="411480"/>
          </a:xfrm>
          <a:prstGeom prst="rect">
            <a:avLst/>
          </a:prstGeom>
          <a:noFill/>
          <a:ln/>
        </p:spPr>
        <p:txBody>
          <a:bodyPr wrap="square" rtlCol="0" anchor="t"/>
          <a:lstStyle/>
          <a:p>
            <a:pPr indent="0" marL="0">
              <a:buNone/>
            </a:pPr>
            <a:r>
              <a:rPr lang="en-US" sz="1150" dirty="0">
                <a:solidFill>
                  <a:srgbClr val="94A3B8"/>
                </a:solidFill>
                <a:latin typeface="Calibri" pitchFamily="34" charset="0"/>
                <a:ea typeface="Calibri" pitchFamily="34" charset="-122"/>
                <a:cs typeface="Calibri" pitchFamily="34" charset="-120"/>
              </a:rPr>
              <a:t>Thông điệp bế mạc chuyên đề học thuật dành cho sinh viên Khoa Công nghệ Thông tin - KMA</a:t>
            </a:r>
            <a:endParaRPr lang="en-US" sz="1150" dirty="0"/>
          </a:p>
        </p:txBody>
      </p:sp>
      <p:sp>
        <p:nvSpPr>
          <p:cNvPr id="6" name="Shape 4"/>
          <p:cNvSpPr/>
          <p:nvPr/>
        </p:nvSpPr>
        <p:spPr>
          <a:xfrm>
            <a:off x="731520" y="1920240"/>
            <a:ext cx="6583680" cy="2926080"/>
          </a:xfrm>
          <a:prstGeom prst="roundRect">
            <a:avLst>
              <a:gd name="adj" fmla="val 4688"/>
            </a:avLst>
          </a:prstGeom>
          <a:solidFill>
            <a:srgbClr val="15203B"/>
          </a:solidFill>
          <a:ln w="12700">
            <a:solidFill>
              <a:srgbClr val="38BDF8"/>
            </a:solidFill>
            <a:prstDash val="solid"/>
          </a:ln>
        </p:spPr>
      </p:sp>
      <p:sp>
        <p:nvSpPr>
          <p:cNvPr id="7" name="Text 5"/>
          <p:cNvSpPr/>
          <p:nvPr/>
        </p:nvSpPr>
        <p:spPr>
          <a:xfrm>
            <a:off x="1097280" y="2103120"/>
            <a:ext cx="5852160" cy="1645920"/>
          </a:xfrm>
          <a:prstGeom prst="rect">
            <a:avLst/>
          </a:prstGeom>
          <a:noFill/>
          <a:ln/>
        </p:spPr>
        <p:txBody>
          <a:bodyPr wrap="square" rtlCol="0" anchor="ctr"/>
          <a:lstStyle/>
          <a:p>
            <a:pPr indent="0" marL="0">
              <a:buNone/>
            </a:pPr>
            <a:r>
              <a:rPr lang="en-US" sz="1700" i="1" dirty="0">
                <a:solidFill>
                  <a:srgbClr val="FFFFFF"/>
                </a:solidFill>
                <a:latin typeface="Arial" pitchFamily="34" charset="0"/>
                <a:ea typeface="Arial" pitchFamily="34" charset="-122"/>
                <a:cs typeface="Arial" pitchFamily="34" charset="-120"/>
              </a:rPr>
              <a:t>“ Trí tuệ nhân tạo có thể cung cấp câu trả lời cho hàng tỷ câu hỏi kỹ thuật, nhưng tư duy phản biện, sự khổ luyện thực chất và đạo đức nghề nghiệp của người kỹ sư mới là nhân tố quyết định tương lai của công nghệ. ”</a:t>
            </a:r>
            <a:endParaRPr lang="en-US" sz="1700" dirty="0"/>
          </a:p>
        </p:txBody>
      </p:sp>
      <p:sp>
        <p:nvSpPr>
          <p:cNvPr id="8" name="Text 6"/>
          <p:cNvSpPr/>
          <p:nvPr/>
        </p:nvSpPr>
        <p:spPr>
          <a:xfrm>
            <a:off x="1097280" y="3840480"/>
            <a:ext cx="5852160" cy="457200"/>
          </a:xfrm>
          <a:prstGeom prst="rect">
            <a:avLst/>
          </a:prstGeom>
          <a:noFill/>
          <a:ln/>
        </p:spPr>
        <p:txBody>
          <a:bodyPr wrap="square" rtlCol="0" anchor="ctr"/>
          <a:lstStyle/>
          <a:p>
            <a:pPr algn="r" indent="0" marL="0">
              <a:buNone/>
            </a:pPr>
            <a:r>
              <a:rPr lang="en-US" sz="1200" b="1" dirty="0">
                <a:solidFill>
                  <a:srgbClr val="38BDF8"/>
                </a:solidFill>
                <a:latin typeface="Arial" pitchFamily="34" charset="0"/>
                <a:ea typeface="Arial" pitchFamily="34" charset="-122"/>
                <a:cs typeface="Arial" pitchFamily="34" charset="-120"/>
              </a:rPr>
              <a:t>— TS. Lê Đức Thuận • Khoa Công nghệ Thông tin - Học viện Kỹ thuật Mật mã</a:t>
            </a:r>
            <a:endParaRPr lang="en-US" sz="1200" dirty="0"/>
          </a:p>
        </p:txBody>
      </p:sp>
      <p:sp>
        <p:nvSpPr>
          <p:cNvPr id="9" name="Text 7"/>
          <p:cNvSpPr/>
          <p:nvPr/>
        </p:nvSpPr>
        <p:spPr>
          <a:xfrm>
            <a:off x="731520" y="5120640"/>
            <a:ext cx="6583680" cy="91440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Học viện Kỹ thuật Mật mã cam kết tạo dựng môi trường học thuật nghiêm túc, chuẩn mực và hiện đại. Chúc các bạn sinh viên đạt nhiều thành tích xuất sắc trong học tập và nghiên cứu khoa học!</a:t>
            </a:r>
            <a:endParaRPr lang="en-US" sz="1100" dirty="0"/>
          </a:p>
        </p:txBody>
      </p:sp>
      <p:pic>
        <p:nvPicPr>
          <p:cNvPr id="10" name="Image 0" descr="D:\Linh tinh\web_thay_thuan\assets\images\slide-50-conclusion.jpg">    </p:cNvPr>
          <p:cNvPicPr>
            <a:picLocks noChangeAspect="1"/>
          </p:cNvPicPr>
          <p:nvPr/>
        </p:nvPicPr>
        <p:blipFill>
          <a:blip r:embed="rId1"/>
          <a:srcRect l="0" r="0" t="0" b="0"/>
          <a:stretch/>
        </p:blipFill>
        <p:spPr>
          <a:xfrm>
            <a:off x="7589520" y="1828800"/>
            <a:ext cx="3840480" cy="4297680"/>
          </a:xfrm>
          <a:prstGeom prst="rect">
            <a:avLst/>
          </a:prstGeom>
        </p:spPr>
      </p:pic>
      <p:sp>
        <p:nvSpPr>
          <p:cNvPr id="11" name="Shape 8"/>
          <p:cNvSpPr/>
          <p:nvPr/>
        </p:nvSpPr>
        <p:spPr>
          <a:xfrm>
            <a:off x="731520" y="6400800"/>
            <a:ext cx="10698480" cy="0"/>
          </a:xfrm>
          <a:prstGeom prst="line">
            <a:avLst/>
          </a:prstGeom>
          <a:noFill/>
          <a:ln w="12700">
            <a:solidFill>
              <a:srgbClr val="2A374F"/>
            </a:solidFill>
            <a:prstDash val="solid"/>
          </a:ln>
        </p:spPr>
      </p:sp>
      <p:sp>
        <p:nvSpPr>
          <p:cNvPr id="12" name="Text 9"/>
          <p:cNvSpPr/>
          <p:nvPr/>
        </p:nvSpPr>
        <p:spPr>
          <a:xfrm>
            <a:off x="731520" y="6446520"/>
            <a:ext cx="502920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HỌC VIỆN KỸ THUẬT MẬT MÃ (KMA) • KHOA CÔNG NGHỆ THÔNG TIN</a:t>
            </a:r>
            <a:endParaRPr lang="en-US" sz="850" dirty="0"/>
          </a:p>
        </p:txBody>
      </p:sp>
      <p:sp>
        <p:nvSpPr>
          <p:cNvPr id="13" name="Text 10"/>
          <p:cNvSpPr/>
          <p:nvPr/>
        </p:nvSpPr>
        <p:spPr>
          <a:xfrm>
            <a:off x="4572000" y="6446520"/>
            <a:ext cx="5029200" cy="32004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TS. LÊ ĐỨC THUẬN — ỨNG DỤNG AI TRONG HỌC TẬP VÀ NGHIÊN CỨU</a:t>
            </a:r>
            <a:endParaRPr lang="en-US" sz="850" dirty="0"/>
          </a:p>
        </p:txBody>
      </p:sp>
      <p:sp>
        <p:nvSpPr>
          <p:cNvPr id="14" name="Text 11"/>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50 / 50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Khoa Công Nghệ Thông Tin - Học Viện Kỹ Thuật Mật Mã (KMA)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Ứng Dụng AI Trong Học Tập Và Nghiên Cứu Khoa Học</dc:title>
  <dc:subject>Bài giảng chuyên đề học thuật chính quy dành cho tân sinh viên</dc:subject>
  <dc:creator>TS. Lê Đức Thuận</dc:creator>
  <cp:lastModifiedBy>TS. Lê Đức Thuận</cp:lastModifiedBy>
  <cp:revision>1</cp:revision>
  <dcterms:created xsi:type="dcterms:W3CDTF">2026-09-15T02:02:35Z</dcterms:created>
  <dcterms:modified xsi:type="dcterms:W3CDTF">2026-09-15T02:02:35Z</dcterms:modified>
</cp:coreProperties>
</file>